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6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>
        <p:scale>
          <a:sx n="91" d="100"/>
          <a:sy n="91" d="100"/>
        </p:scale>
        <p:origin x="1920" y="8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9FF68E-AEC2-C49E-5C50-0C055675E5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9" r="-1" b="-1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019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2C102-2784-6E3B-2EB5-074A7AC5F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/>
              <a:t>DASHSys</a:t>
            </a:r>
            <a:r>
              <a:rPr lang="en-US" dirty="0"/>
              <a:t>: First Edition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243C6-B73C-6F6F-1C64-E1F5C512D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284" y="2514600"/>
            <a:ext cx="8110024" cy="18288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defRPr sz="2400"/>
            </a:pPr>
            <a:r>
              <a:rPr lang="en-US" dirty="0"/>
              <a:t>DAIS - Data and AI Systems (2</a:t>
            </a:r>
            <a:r>
              <a:rPr lang="en-US" baseline="30000" dirty="0"/>
              <a:t>nd</a:t>
            </a:r>
            <a:r>
              <a:rPr lang="en-US" dirty="0"/>
              <a:t> Edition)</a:t>
            </a:r>
          </a:p>
          <a:p>
            <a:pPr>
              <a:spcBef>
                <a:spcPts val="1200"/>
              </a:spcBef>
              <a:defRPr sz="2400"/>
            </a:pPr>
            <a:r>
              <a:rPr lang="en-US" dirty="0"/>
              <a:t>DAAS - Data Management for Agentic AI Systems</a:t>
            </a:r>
          </a:p>
          <a:p>
            <a:pPr>
              <a:spcBef>
                <a:spcPts val="1200"/>
              </a:spcBef>
              <a:defRPr sz="2400"/>
            </a:pPr>
            <a:r>
              <a:rPr lang="en-US" dirty="0"/>
              <a:t>DASH - Data Systems with Human-in-the-loop AI (7</a:t>
            </a:r>
            <a:r>
              <a:rPr lang="en-US" baseline="30000" dirty="0"/>
              <a:t>th</a:t>
            </a:r>
            <a:r>
              <a:rPr lang="en-US" dirty="0"/>
              <a:t> Edition)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F5AE19-0F72-7324-E08E-ADF17297A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099603"/>
            <a:ext cx="2658794" cy="2658794"/>
          </a:xfrm>
          <a:prstGeom prst="rect">
            <a:avLst/>
          </a:prstGeom>
        </p:spPr>
      </p:pic>
      <p:pic>
        <p:nvPicPr>
          <p:cNvPr id="5" name="Picture 4" descr="Adobe">
            <a:extLst>
              <a:ext uri="{FF2B5EF4-FFF2-40B4-BE49-F238E27FC236}">
                <a16:creationId xmlns:a16="http://schemas.microsoft.com/office/drawing/2014/main" id="{D9B57C3F-720B-2468-388E-135283CDD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291" y="4867421"/>
            <a:ext cx="2698457" cy="15178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579033-272F-672C-B0BD-E28094F5EE40}"/>
              </a:ext>
            </a:extLst>
          </p:cNvPr>
          <p:cNvSpPr txBox="1"/>
          <p:nvPr/>
        </p:nvSpPr>
        <p:spPr>
          <a:xfrm>
            <a:off x="2025748" y="5514535"/>
            <a:ext cx="1545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Sponsored by:</a:t>
            </a:r>
          </a:p>
        </p:txBody>
      </p:sp>
    </p:spTree>
    <p:extLst>
      <p:ext uri="{BB962C8B-B14F-4D97-AF65-F5344CB8AC3E}">
        <p14:creationId xmlns:p14="http://schemas.microsoft.com/office/powerpoint/2010/main" val="501504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50A02-F493-10DD-996A-BC28F7D71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Organizers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FCCC3C-B9E2-9C33-A449-6E0095912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638"/>
            <a:ext cx="9830364" cy="413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259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58338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32"/>
                </a:solidFill>
              </a:defRPr>
            </a:pPr>
            <a:r>
              <a:rPr lang="en-US" dirty="0" err="1"/>
              <a:t>DASHSys</a:t>
            </a:r>
            <a:r>
              <a:rPr lang="en-US" dirty="0"/>
              <a:t> </a:t>
            </a:r>
            <a:r>
              <a:rPr dirty="0"/>
              <a:t>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rPr dirty="0"/>
              <a:t>• </a:t>
            </a:r>
            <a:r>
              <a:rPr lang="en-US" dirty="0"/>
              <a:t>35 Total submission</a:t>
            </a:r>
            <a:endParaRPr dirty="0"/>
          </a:p>
          <a:p>
            <a:pPr>
              <a:spcBef>
                <a:spcPts val="1200"/>
              </a:spcBef>
              <a:defRPr sz="2400"/>
            </a:pPr>
            <a:r>
              <a:rPr dirty="0"/>
              <a:t>   • Regular Track: 23 papers</a:t>
            </a:r>
            <a:endParaRPr lang="en-US" dirty="0"/>
          </a:p>
          <a:p>
            <a:pPr>
              <a:spcBef>
                <a:spcPts val="1200"/>
              </a:spcBef>
              <a:defRPr sz="2400"/>
            </a:pPr>
            <a:r>
              <a:rPr lang="en-US" dirty="0"/>
              <a:t>         4 long papers</a:t>
            </a:r>
          </a:p>
          <a:p>
            <a:pPr>
              <a:spcBef>
                <a:spcPts val="1200"/>
              </a:spcBef>
              <a:defRPr sz="2400"/>
            </a:pPr>
            <a:r>
              <a:rPr lang="en-US" dirty="0"/>
              <a:t>         8 posters</a:t>
            </a:r>
            <a:endParaRPr dirty="0"/>
          </a:p>
          <a:p>
            <a:pPr>
              <a:spcBef>
                <a:spcPts val="1200"/>
              </a:spcBef>
              <a:defRPr sz="2400"/>
            </a:pPr>
            <a:r>
              <a:rPr dirty="0"/>
              <a:t>   • System Track: 12 </a:t>
            </a:r>
            <a:r>
              <a:rPr lang="en-US" dirty="0"/>
              <a:t>agents</a:t>
            </a:r>
          </a:p>
          <a:p>
            <a:pPr>
              <a:spcBef>
                <a:spcPts val="1200"/>
              </a:spcBef>
              <a:defRPr sz="2400"/>
            </a:pPr>
            <a:r>
              <a:rPr lang="en-US" dirty="0"/>
              <a:t>	</a:t>
            </a:r>
            <a:r>
              <a:rPr dirty="0"/>
              <a:t>1st Place: IBM Research Zurich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   </a:t>
            </a:r>
            <a:r>
              <a:rPr lang="en-US" dirty="0"/>
              <a:t>    </a:t>
            </a:r>
            <a:r>
              <a:rPr dirty="0"/>
              <a:t>2nd Place: Princeton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9ACA7A-85BE-F6B6-1C2C-A5A15E007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564" y="1181686"/>
            <a:ext cx="2769821" cy="50573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32"/>
                </a:solidFill>
              </a:defRPr>
            </a:pPr>
            <a:r>
              <a:t>Today's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rPr dirty="0"/>
              <a:t>09:00-09:10  Welcome &amp; Opening (now!)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09:10-10:30  Keynote Session 1 (Eric Zhu, Fatma Özcan)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10:30-11:00  ☕ Coffee Break + Posters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11:00-12:30  📄 Long Papers (4 × 8 min)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12:30-14:00  🍽️  Lunch Break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14:00-15:30  Keynote Session 2 (Omar Khattab, Eugene Wu)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15:30-16:00  ☕ Coffee Break + Posters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16:00-17:15  📄 Short Papers (8 × 4 min)</a:t>
            </a:r>
          </a:p>
          <a:p>
            <a:pPr>
              <a:spcBef>
                <a:spcPts val="1200"/>
              </a:spcBef>
              <a:defRPr sz="2400"/>
            </a:pPr>
            <a:r>
              <a:rPr dirty="0"/>
              <a:t>17:15-18:00  💬 Panel Discussion + Closing</a:t>
            </a:r>
          </a:p>
          <a:p>
            <a:pPr>
              <a:spcBef>
                <a:spcPts val="1200"/>
              </a:spcBef>
              <a:defRPr sz="2400"/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FC4EF3-BA6B-3C1B-FB83-701643919D04}"/>
              </a:ext>
            </a:extLst>
          </p:cNvPr>
          <p:cNvSpPr txBox="1"/>
          <p:nvPr/>
        </p:nvSpPr>
        <p:spPr>
          <a:xfrm>
            <a:off x="1318845" y="6311413"/>
            <a:ext cx="7487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rPr lang="en-US" sz="2400" dirty="0"/>
              <a:t>***All 12 papers + 2 systems demos at poster sessions!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32"/>
                </a:solidFill>
              </a:defRPr>
            </a:pPr>
            <a:r>
              <a:t>Four Core Research Themes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🔵 42% Data Management for Agentic Systems</a:t>
            </a:r>
          </a:p>
          <a:p>
            <a:pPr>
              <a:spcBef>
                <a:spcPts val="1200"/>
              </a:spcBef>
              <a:defRPr sz="2400"/>
            </a:pPr>
            <a:r>
              <a:t>   Building the infrastructure agents need</a:t>
            </a:r>
          </a:p>
          <a:p>
            <a:pPr>
              <a:spcBef>
                <a:spcPts val="1200"/>
              </a:spcBef>
              <a:defRPr sz="2400"/>
            </a:pPr>
            <a:r>
              <a:t>   (GitLake, Data Canvas, Structured State Management)</a:t>
            </a:r>
          </a:p>
          <a:p>
            <a:pPr>
              <a:spcBef>
                <a:spcPts val="1200"/>
              </a:spcBef>
              <a:defRPr sz="2400"/>
            </a:pPr>
            <a:endParaRPr/>
          </a:p>
          <a:p>
            <a:pPr>
              <a:spcBef>
                <a:spcPts val="1200"/>
              </a:spcBef>
              <a:defRPr sz="2400"/>
            </a:pPr>
            <a:r>
              <a:t>🟣 25% Agentic Systems for Data Management</a:t>
            </a:r>
          </a:p>
          <a:p>
            <a:pPr>
              <a:spcBef>
                <a:spcPts val="1200"/>
              </a:spcBef>
              <a:defRPr sz="2400"/>
            </a:pPr>
            <a:r>
              <a:t>   Agents that help manage and discover data</a:t>
            </a:r>
          </a:p>
          <a:p>
            <a:pPr>
              <a:spcBef>
                <a:spcPts val="1200"/>
              </a:spcBef>
              <a:defRPr sz="2400"/>
            </a:pPr>
            <a:r>
              <a:t>   (ASMR, GUIDE, Multi-agent Framework)</a:t>
            </a:r>
          </a:p>
          <a:p>
            <a:pPr>
              <a:spcBef>
                <a:spcPts val="1200"/>
              </a:spcBef>
              <a:defRPr sz="2400"/>
            </a:pPr>
            <a:endParaRPr/>
          </a:p>
          <a:p>
            <a:pPr>
              <a:spcBef>
                <a:spcPts val="1200"/>
              </a:spcBef>
              <a:defRPr sz="2400"/>
            </a:pPr>
            <a:r>
              <a:t>🟢 42% Human-Centered &amp; Human-in-the-Loop</a:t>
            </a:r>
          </a:p>
          <a:p>
            <a:pPr>
              <a:spcBef>
                <a:spcPts val="1200"/>
              </a:spcBef>
              <a:defRPr sz="2400"/>
            </a:pPr>
            <a:r>
              <a:t>   Keeping humans in control</a:t>
            </a:r>
          </a:p>
          <a:p>
            <a:pPr>
              <a:spcBef>
                <a:spcPts val="1200"/>
              </a:spcBef>
              <a:defRPr sz="2400"/>
            </a:pPr>
            <a:r>
              <a:t>   (Walk Before You Run, AgentTrails, Be Fair!)</a:t>
            </a:r>
          </a:p>
          <a:p>
            <a:pPr>
              <a:spcBef>
                <a:spcPts val="1200"/>
              </a:spcBef>
              <a:defRPr sz="2400"/>
            </a:pPr>
            <a:endParaRPr/>
          </a:p>
          <a:p>
            <a:pPr>
              <a:spcBef>
                <a:spcPts val="1200"/>
              </a:spcBef>
              <a:defRPr sz="2400"/>
            </a:pPr>
            <a:r>
              <a:t>🔴 8% Evaluation, Reliability &amp; Learning</a:t>
            </a:r>
          </a:p>
          <a:p>
            <a:pPr>
              <a:spcBef>
                <a:spcPts val="1200"/>
              </a:spcBef>
              <a:defRPr sz="2400"/>
            </a:pPr>
            <a:r>
              <a:t>   How to measure and trust these systems (SANA)</a:t>
            </a:r>
          </a:p>
          <a:p>
            <a:pPr>
              <a:spcBef>
                <a:spcPts val="1200"/>
              </a:spcBef>
              <a:defRPr sz="2400"/>
            </a:pPr>
            <a:r>
              <a:t>   ⚠️  Biggest gap = biggest opportunity!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32"/>
                </a:solidFill>
              </a:defRPr>
            </a:pPr>
            <a:r>
              <a:t>The Hidden Structure: How Themes Connect</a:t>
            </a:r>
          </a:p>
        </p:txBody>
      </p:sp>
      <p:pic>
        <p:nvPicPr>
          <p:cNvPr id="3" name="Picture 2" descr="theme_cooccurrenc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47871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B7280"/>
                </a:solidFill>
              </a:defRPr>
            </a:pPr>
            <a:r>
              <a:t>Theme-theme co-occurrence: Darker = more papers bridge both themes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Strongest Bridges:</a:t>
            </a:r>
          </a:p>
          <a:p>
            <a:pPr>
              <a:defRPr sz="2000"/>
            </a:pPr>
            <a:r>
              <a:t>• Data ↔ Infrastructure (8×)</a:t>
            </a:r>
          </a:p>
          <a:p>
            <a:pPr>
              <a:defRPr sz="2000"/>
            </a:pPr>
            <a:r>
              <a:t>• HITL ↔ Provenance (6×)</a:t>
            </a:r>
          </a:p>
          <a:p>
            <a:pPr>
              <a:defRPr sz="2000"/>
            </a:pPr>
            <a:r>
              <a:t>• Agentic ↔ Multi-Agent (6×)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Universal Connectors:</a:t>
            </a:r>
          </a:p>
          <a:p>
            <a:pPr>
              <a:defRPr sz="2000" b="1"/>
            </a:pPr>
            <a:r>
              <a:t>⭐ HITL: 11 connections</a:t>
            </a:r>
          </a:p>
          <a:p>
            <a:pPr>
              <a:defRPr sz="2000" b="1"/>
            </a:pPr>
            <a:r>
              <a:t>⭐ Provenance: 10 connections</a:t>
            </a:r>
          </a:p>
          <a:p>
            <a:pPr>
              <a:defRPr sz="2000"/>
            </a:pPr>
            <a:endParaRPr/>
          </a:p>
          <a:p>
            <a:pPr>
              <a:defRPr sz="2000" b="1"/>
            </a:pPr>
            <a:r>
              <a:t>⚠️  Critical Gap:</a:t>
            </a:r>
          </a:p>
          <a:p>
            <a:pPr>
              <a:defRPr sz="2000"/>
            </a:pPr>
            <a:r>
              <a:t>Data ↔ Agentic (0×)</a:t>
            </a:r>
          </a:p>
          <a:p>
            <a:pPr>
              <a:defRPr sz="2000"/>
            </a:pPr>
            <a:r>
              <a:t>The missing bridge!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32"/>
                </a:solidFill>
              </a:defRPr>
            </a:pPr>
            <a:r>
              <a:t>Seven Keynote Speakers: Industry Meets Academia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🏢 INDUSTRY</a:t>
            </a:r>
          </a:p>
          <a:p>
            <a:pPr>
              <a:spcBef>
                <a:spcPts val="1200"/>
              </a:spcBef>
              <a:defRPr sz="2400"/>
            </a:pPr>
            <a:r>
              <a:t>   • Eric Zhu (Alibaba) - AutoGen, QwenPaw</a:t>
            </a:r>
          </a:p>
          <a:p>
            <a:pPr>
              <a:spcBef>
                <a:spcPts val="1200"/>
              </a:spcBef>
              <a:defRPr sz="2400"/>
            </a:pPr>
            <a:r>
              <a:t>   • Fatma Özcan (Google) - 100x efficiency gains</a:t>
            </a:r>
          </a:p>
          <a:p>
            <a:pPr>
              <a:spcBef>
                <a:spcPts val="1200"/>
              </a:spcBef>
              <a:defRPr sz="2400"/>
            </a:pPr>
            <a:r>
              <a:t>   • Yunyao Li (Adobe) - Enterprise AI at scale</a:t>
            </a:r>
          </a:p>
          <a:p>
            <a:pPr>
              <a:spcBef>
                <a:spcPts val="1200"/>
              </a:spcBef>
              <a:defRPr sz="2400"/>
            </a:pPr>
            <a:endParaRPr/>
          </a:p>
          <a:p>
            <a:pPr>
              <a:spcBef>
                <a:spcPts val="1200"/>
              </a:spcBef>
              <a:defRPr sz="2400"/>
            </a:pPr>
            <a:r>
              <a:t>🎓 ACADEMIA</a:t>
            </a:r>
          </a:p>
          <a:p>
            <a:pPr>
              <a:spcBef>
                <a:spcPts val="1200"/>
              </a:spcBef>
              <a:defRPr sz="2400"/>
            </a:pPr>
            <a:r>
              <a:t>   • Eugene Wu (Columbia) - Agentic data environments</a:t>
            </a:r>
          </a:p>
          <a:p>
            <a:pPr>
              <a:spcBef>
                <a:spcPts val="1200"/>
              </a:spcBef>
              <a:defRPr sz="2400"/>
            </a:pPr>
            <a:r>
              <a:t>   • Juliana Freire (NYU) - Semantic data systems</a:t>
            </a:r>
          </a:p>
          <a:p>
            <a:pPr>
              <a:spcBef>
                <a:spcPts val="1200"/>
              </a:spcBef>
              <a:defRPr sz="2400"/>
            </a:pPr>
            <a:r>
              <a:t>   • Omar Khattab (MIT) - DSPy, qualitative learning</a:t>
            </a:r>
          </a:p>
          <a:p>
            <a:pPr>
              <a:spcBef>
                <a:spcPts val="1200"/>
              </a:spcBef>
              <a:defRPr sz="2400"/>
            </a:pPr>
            <a:r>
              <a:t>   • Shreya Shankar (Berkeley→CMU) - What users actually do</a:t>
            </a:r>
          </a:p>
          <a:p>
            <a:pPr>
              <a:spcBef>
                <a:spcPts val="1200"/>
              </a:spcBef>
              <a:defRPr sz="2400"/>
            </a:pPr>
            <a:endParaRPr/>
          </a:p>
          <a:p>
            <a:pPr>
              <a:spcBef>
                <a:spcPts val="1200"/>
              </a:spcBef>
              <a:defRPr sz="2400"/>
            </a:pPr>
            <a:r>
              <a:t>💡 Common Thread Across All Speakers:</a:t>
            </a:r>
          </a:p>
          <a:p>
            <a:pPr>
              <a:spcBef>
                <a:spcPts val="1200"/>
              </a:spcBef>
              <a:defRPr sz="2400"/>
            </a:pPr>
            <a:r>
              <a:t>   Data systems and agents must co-evolve</a:t>
            </a:r>
          </a:p>
          <a:p>
            <a:pPr>
              <a:spcBef>
                <a:spcPts val="1200"/>
              </a:spcBef>
              <a:defRPr sz="2400"/>
            </a:pPr>
            <a:r>
              <a:t>   Not data OR agents — data AND agents together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32"/>
                </a:solidFill>
              </a:defRPr>
            </a:pPr>
            <a:r>
              <a:t>Panel Discussion: The Hard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🎤 5:15-6:00 PM Closing Panel</a:t>
            </a:r>
          </a:p>
          <a:p>
            <a:pPr>
              <a:spcBef>
                <a:spcPts val="1200"/>
              </a:spcBef>
              <a:defRPr sz="2400"/>
            </a:pPr>
            <a:endParaRPr/>
          </a:p>
          <a:p>
            <a:pPr>
              <a:spcBef>
                <a:spcPts val="1200"/>
              </a:spcBef>
              <a:defRPr sz="2400"/>
            </a:pPr>
            <a:r>
              <a:t>Panelists: Eric Zhu, Fatma Özcan, Eugene Wu,</a:t>
            </a:r>
          </a:p>
          <a:p>
            <a:pPr>
              <a:spcBef>
                <a:spcPts val="1200"/>
              </a:spcBef>
              <a:defRPr sz="2400"/>
            </a:pPr>
            <a:r>
              <a:t>           Juliana Freire, Yunyao Li</a:t>
            </a:r>
          </a:p>
          <a:p>
            <a:pPr>
              <a:spcBef>
                <a:spcPts val="1200"/>
              </a:spcBef>
              <a:defRPr sz="2400"/>
            </a:pPr>
            <a:endParaRPr/>
          </a:p>
          <a:p>
            <a:pPr>
              <a:spcBef>
                <a:spcPts val="1200"/>
              </a:spcBef>
              <a:defRPr sz="2400"/>
            </a:pPr>
            <a:r>
              <a:t>Topics:</a:t>
            </a:r>
          </a:p>
          <a:p>
            <a:pPr>
              <a:spcBef>
                <a:spcPts val="1200"/>
              </a:spcBef>
              <a:defRPr sz="2400"/>
            </a:pPr>
            <a:r>
              <a:t>❓ What abstractions are fundamentally broken?</a:t>
            </a:r>
          </a:p>
          <a:p>
            <a:pPr>
              <a:spcBef>
                <a:spcPts val="1200"/>
              </a:spcBef>
              <a:defRPr sz="2400"/>
            </a:pPr>
            <a:r>
              <a:t>❓ How do we evaluate compound systems?</a:t>
            </a:r>
          </a:p>
          <a:p>
            <a:pPr>
              <a:spcBef>
                <a:spcPts val="1200"/>
              </a:spcBef>
              <a:defRPr sz="2400"/>
            </a:pPr>
            <a:r>
              <a:t>❓ What's the right level of human oversight?</a:t>
            </a:r>
          </a:p>
          <a:p>
            <a:pPr>
              <a:spcBef>
                <a:spcPts val="1200"/>
              </a:spcBef>
              <a:defRPr sz="2400"/>
            </a:pPr>
            <a:r>
              <a:t>❓ Where is production 5 years ahead of research?</a:t>
            </a:r>
          </a:p>
          <a:p>
            <a:pPr>
              <a:spcBef>
                <a:spcPts val="1200"/>
              </a:spcBef>
              <a:defRPr sz="2400"/>
            </a:pPr>
            <a:r>
              <a:t>❓ What should PhD students work on?</a:t>
            </a:r>
          </a:p>
          <a:p>
            <a:pPr>
              <a:spcBef>
                <a:spcPts val="1200"/>
              </a:spcBef>
              <a:defRPr sz="2400"/>
            </a:pPr>
            <a:endParaRPr/>
          </a:p>
          <a:p>
            <a:pPr>
              <a:spcBef>
                <a:spcPts val="1200"/>
              </a:spcBef>
              <a:defRPr sz="2400"/>
            </a:pPr>
            <a:r>
              <a:t>💬 PLUS: 20 minutes for YOUR questions!</a:t>
            </a:r>
          </a:p>
          <a:p>
            <a:pPr>
              <a:spcBef>
                <a:spcPts val="1200"/>
              </a:spcBef>
              <a:defRPr sz="2400"/>
            </a:pPr>
            <a:r>
              <a:t>   Hard questions welcome. No polite consensus.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2332"/>
                </a:solidFill>
              </a:defRPr>
            </a:pPr>
            <a:r>
              <a:t>What Makes DASHSys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/>
            </a:pPr>
            <a:r>
              <a:t>1️⃣  Integration, Not Separation</a:t>
            </a:r>
          </a:p>
          <a:p>
            <a:pPr>
              <a:spcBef>
                <a:spcPts val="1200"/>
              </a:spcBef>
              <a:defRPr sz="2400"/>
            </a:pPr>
            <a:r>
              <a:t>    Papers bridge data systems ↔ AI systems</a:t>
            </a:r>
          </a:p>
          <a:p>
            <a:pPr>
              <a:spcBef>
                <a:spcPts val="1200"/>
              </a:spcBef>
              <a:defRPr sz="2400"/>
            </a:pPr>
            <a:r>
              <a:t>    Not 'which side wins' but 'how they work together'</a:t>
            </a:r>
          </a:p>
          <a:p>
            <a:pPr>
              <a:spcBef>
                <a:spcPts val="1200"/>
              </a:spcBef>
              <a:defRPr sz="2400"/>
            </a:pPr>
            <a:endParaRPr/>
          </a:p>
          <a:p>
            <a:pPr>
              <a:spcBef>
                <a:spcPts val="1200"/>
              </a:spcBef>
              <a:defRPr sz="2400"/>
            </a:pPr>
            <a:r>
              <a:t>2️⃣  Human-in-the-Loop is Non-Negotiable</a:t>
            </a:r>
          </a:p>
          <a:p>
            <a:pPr>
              <a:spcBef>
                <a:spcPts val="1200"/>
              </a:spcBef>
              <a:defRPr sz="2400"/>
            </a:pPr>
            <a:r>
              <a:t>    58% of papers include HITL</a:t>
            </a:r>
          </a:p>
          <a:p>
            <a:pPr>
              <a:spcBef>
                <a:spcPts val="1200"/>
              </a:spcBef>
              <a:defRPr sz="2400"/>
            </a:pPr>
            <a:r>
              <a:t>    Not automation vs. oversight</a:t>
            </a:r>
          </a:p>
          <a:p>
            <a:pPr>
              <a:spcBef>
                <a:spcPts val="1200"/>
              </a:spcBef>
              <a:defRPr sz="2400"/>
            </a:pPr>
            <a:r>
              <a:t>    But automation WITH oversight</a:t>
            </a:r>
          </a:p>
          <a:p>
            <a:pPr>
              <a:spcBef>
                <a:spcPts val="1200"/>
              </a:spcBef>
              <a:defRPr sz="2400"/>
            </a:pPr>
            <a:endParaRPr/>
          </a:p>
          <a:p>
            <a:pPr>
              <a:spcBef>
                <a:spcPts val="1200"/>
              </a:spcBef>
              <a:defRPr sz="2400"/>
            </a:pPr>
            <a:r>
              <a:t>3️⃣  Production Reality Meets Research Vision</a:t>
            </a:r>
          </a:p>
          <a:p>
            <a:pPr>
              <a:spcBef>
                <a:spcPts val="1200"/>
              </a:spcBef>
              <a:defRPr sz="2400"/>
            </a:pPr>
            <a:r>
              <a:t>    Industry speakers + academic depth</a:t>
            </a:r>
          </a:p>
          <a:p>
            <a:pPr>
              <a:spcBef>
                <a:spcPts val="1200"/>
              </a:spcBef>
              <a:defRPr sz="2400"/>
            </a:pPr>
            <a:r>
              <a:t>    Systems track tests ideas on real data</a:t>
            </a:r>
          </a:p>
          <a:p>
            <a:pPr>
              <a:spcBef>
                <a:spcPts val="1200"/>
              </a:spcBef>
              <a:defRPr sz="2400"/>
            </a:pPr>
            <a:r>
              <a:t>    Gap analysis → research agenda</a:t>
            </a:r>
          </a:p>
          <a:p>
            <a:pPr>
              <a:spcBef>
                <a:spcPts val="1200"/>
              </a:spcBef>
              <a:defRPr sz="2400"/>
            </a:pPr>
            <a:endParaRPr/>
          </a:p>
          <a:p>
            <a:pPr>
              <a:spcBef>
                <a:spcPts val="1200"/>
              </a:spcBef>
              <a:defRPr sz="2400"/>
            </a:pPr>
            <a:r>
              <a:t>🎯 We're not just publishing papers.</a:t>
            </a:r>
          </a:p>
          <a:p>
            <a:pPr>
              <a:spcBef>
                <a:spcPts val="1200"/>
              </a:spcBef>
              <a:defRPr sz="2400"/>
            </a:pPr>
            <a:r>
              <a:t>   We're defining how data systems evolve for an agentic era.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Let's build the future of data-AI systems — together.</a:t>
            </a:r>
          </a:p>
          <a:p>
            <a:endParaRPr/>
          </a:p>
          <a:p>
            <a:r>
              <a:t>#DASHSys2026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85340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📸 Share: #DASHSys2026</a:t>
            </a:r>
          </a:p>
          <a:p>
            <a:r>
              <a:t>📋 Posters: Coffee breaks</a:t>
            </a:r>
          </a:p>
          <a:p>
            <a:r>
              <a:t>💬 Questions: Submit anytime</a:t>
            </a:r>
          </a:p>
          <a:p>
            <a:endParaRPr/>
          </a:p>
          <a:p>
            <a:r>
              <a:t>Next: Eric Zhu - 'Surfing the Jagged Frontier'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679</Words>
  <Application>Microsoft Macintosh PowerPoint</Application>
  <PresentationFormat>Widescreen</PresentationFormat>
  <Paragraphs>111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DASHSys: First Edition</vt:lpstr>
      <vt:lpstr>Organizers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Sajjadur Rahman</cp:lastModifiedBy>
  <cp:revision>2</cp:revision>
  <dcterms:created xsi:type="dcterms:W3CDTF">2013-01-27T09:14:16Z</dcterms:created>
  <dcterms:modified xsi:type="dcterms:W3CDTF">2026-09-04T02:59:57Z</dcterms:modified>
  <cp:category/>
</cp:coreProperties>
</file>