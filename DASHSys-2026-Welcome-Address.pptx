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DASHSys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Workshop on Data-AI Systems</a:t>
            </a:r>
          </a:p>
          <a:p>
            <a:r>
              <a:t>VLDB 2026 • Boston, 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2332"/>
                </a:solidFill>
              </a:defRPr>
            </a:pPr>
            <a:r>
              <a:t>The Convergence Story: How DASHSys Was Born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/>
            </a:pPr>
            <a:r>
              <a:t>🔵 DAIS - Data and AI Systems</a:t>
            </a:r>
          </a:p>
          <a:p>
            <a:pPr>
              <a:spcBef>
                <a:spcPts val="1200"/>
              </a:spcBef>
              <a:defRPr sz="2400"/>
            </a:pPr>
            <a:r>
              <a:t>🟣 DAAS - Data Management for Agentic AI Systems</a:t>
            </a:r>
          </a:p>
          <a:p>
            <a:pPr>
              <a:spcBef>
                <a:spcPts val="1200"/>
              </a:spcBef>
              <a:defRPr sz="2400"/>
            </a:pPr>
            <a:r>
              <a:t>🟢 DASH - Data Systems with Human-in-the-loop AI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➡️  Three workshops with overlapping interests</a:t>
            </a:r>
          </a:p>
          <a:p>
            <a:pPr>
              <a:spcBef>
                <a:spcPts val="1200"/>
              </a:spcBef>
              <a:defRPr sz="2400"/>
            </a:pPr>
            <a:r>
              <a:t>➡️  VLDB asked: Why not merge?</a:t>
            </a:r>
          </a:p>
          <a:p>
            <a:pPr>
              <a:spcBef>
                <a:spcPts val="1200"/>
              </a:spcBef>
              <a:defRPr sz="2400"/>
            </a:pPr>
            <a:r>
              <a:t>➡️  Result: DASHSys - One unified community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💡 The convergence itself is the message:</a:t>
            </a:r>
          </a:p>
          <a:p>
            <a:pPr>
              <a:spcBef>
                <a:spcPts val="1200"/>
              </a:spcBef>
              <a:defRPr sz="2400"/>
            </a:pPr>
            <a:r>
              <a:t>   This is where the field is heading.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2332"/>
                </a:solidFill>
              </a:defRPr>
            </a:pPr>
            <a:r>
              <a:t>By the Numbers: Strong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/>
            </a:pPr>
            <a:r>
              <a:t>📊 SUBMISSIONS</a:t>
            </a:r>
          </a:p>
          <a:p>
            <a:pPr>
              <a:spcBef>
                <a:spcPts val="1200"/>
              </a:spcBef>
              <a:defRPr sz="2400"/>
            </a:pPr>
            <a:r>
              <a:t>   • 35 total papers submitted</a:t>
            </a:r>
          </a:p>
          <a:p>
            <a:pPr>
              <a:spcBef>
                <a:spcPts val="1200"/>
              </a:spcBef>
              <a:defRPr sz="2400"/>
            </a:pPr>
            <a:r>
              <a:t>   • Regular Track: 23 papers</a:t>
            </a:r>
          </a:p>
          <a:p>
            <a:pPr>
              <a:spcBef>
                <a:spcPts val="1200"/>
              </a:spcBef>
              <a:defRPr sz="2400"/>
            </a:pPr>
            <a:r>
              <a:t>   • System Track: 12 papers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✅ ACCEPTED</a:t>
            </a:r>
          </a:p>
          <a:p>
            <a:pPr>
              <a:spcBef>
                <a:spcPts val="1200"/>
              </a:spcBef>
              <a:defRPr sz="2400"/>
            </a:pPr>
            <a:r>
              <a:t>   • 12 regular papers (40% acceptance rate)</a:t>
            </a:r>
          </a:p>
          <a:p>
            <a:pPr>
              <a:spcBef>
                <a:spcPts val="1200"/>
              </a:spcBef>
              <a:defRPr sz="2400"/>
            </a:pPr>
            <a:r>
              <a:t>     - 4 long papers (8 minutes each)</a:t>
            </a:r>
          </a:p>
          <a:p>
            <a:pPr>
              <a:spcBef>
                <a:spcPts val="1200"/>
              </a:spcBef>
              <a:defRPr sz="2400"/>
            </a:pPr>
            <a:r>
              <a:t>     - 8 short papers (4 minutes each)</a:t>
            </a:r>
          </a:p>
          <a:p>
            <a:pPr>
              <a:spcBef>
                <a:spcPts val="1200"/>
              </a:spcBef>
              <a:defRPr sz="2400"/>
            </a:pPr>
            <a:r>
              <a:t>   • 2 system track winners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🏆 COMPETITION WINNERS</a:t>
            </a:r>
          </a:p>
          <a:p>
            <a:pPr>
              <a:spcBef>
                <a:spcPts val="1200"/>
              </a:spcBef>
              <a:defRPr sz="2400"/>
            </a:pPr>
            <a:r>
              <a:t>   • 1st Place: IBM Research Zurich</a:t>
            </a:r>
          </a:p>
          <a:p>
            <a:pPr>
              <a:spcBef>
                <a:spcPts val="1200"/>
              </a:spcBef>
              <a:defRPr sz="2400"/>
            </a:pPr>
            <a:r>
              <a:t>   • 2nd Place: Princeton University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2332"/>
                </a:solidFill>
              </a:defRPr>
            </a:pPr>
            <a:r>
              <a:t>Today's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/>
            </a:pPr>
            <a:r>
              <a:t>09:00-09:10  Welcome &amp; Opening (now!)</a:t>
            </a:r>
          </a:p>
          <a:p>
            <a:pPr>
              <a:spcBef>
                <a:spcPts val="1200"/>
              </a:spcBef>
              <a:defRPr sz="2400"/>
            </a:pPr>
            <a:r>
              <a:t>09:10-10:30  Keynote Session 1 (Eric Zhu, Fatma Özcan)</a:t>
            </a:r>
          </a:p>
          <a:p>
            <a:pPr>
              <a:spcBef>
                <a:spcPts val="1200"/>
              </a:spcBef>
              <a:defRPr sz="2400"/>
            </a:pPr>
            <a:r>
              <a:t>10:30-11:00  ☕ Coffee Break + Posters</a:t>
            </a:r>
          </a:p>
          <a:p>
            <a:pPr>
              <a:spcBef>
                <a:spcPts val="1200"/>
              </a:spcBef>
              <a:defRPr sz="2400"/>
            </a:pPr>
            <a:r>
              <a:t>11:00-12:30  📄 Long Papers (4 × 8 min)</a:t>
            </a:r>
          </a:p>
          <a:p>
            <a:pPr>
              <a:spcBef>
                <a:spcPts val="1200"/>
              </a:spcBef>
              <a:defRPr sz="2400"/>
            </a:pPr>
            <a:r>
              <a:t>12:30-14:00  🍽️  Lunch Break</a:t>
            </a:r>
          </a:p>
          <a:p>
            <a:pPr>
              <a:spcBef>
                <a:spcPts val="1200"/>
              </a:spcBef>
              <a:defRPr sz="2400"/>
            </a:pPr>
            <a:r>
              <a:t>14:00-15:30  Keynote Session 2 (Omar Khattab, Eugene Wu)</a:t>
            </a:r>
          </a:p>
          <a:p>
            <a:pPr>
              <a:spcBef>
                <a:spcPts val="1200"/>
              </a:spcBef>
              <a:defRPr sz="2400"/>
            </a:pPr>
            <a:r>
              <a:t>15:30-16:00  ☕ Coffee Break + Posters</a:t>
            </a:r>
          </a:p>
          <a:p>
            <a:pPr>
              <a:spcBef>
                <a:spcPts val="1200"/>
              </a:spcBef>
              <a:defRPr sz="2400"/>
            </a:pPr>
            <a:r>
              <a:t>16:00-17:15  📄 Short Papers (8 × 4 min)</a:t>
            </a:r>
          </a:p>
          <a:p>
            <a:pPr>
              <a:spcBef>
                <a:spcPts val="1200"/>
              </a:spcBef>
              <a:defRPr sz="2400"/>
            </a:pPr>
            <a:r>
              <a:t>17:15-18:00  💬 Panel Discussion + Closing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🎯 All 12 papers + 2 systems demos at poster sessions!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2332"/>
                </a:solidFill>
              </a:defRPr>
            </a:pPr>
            <a:r>
              <a:t>Four Core Research Themes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/>
            </a:pPr>
            <a:r>
              <a:t>🔵 42% Data Management for Agentic Systems</a:t>
            </a:r>
          </a:p>
          <a:p>
            <a:pPr>
              <a:spcBef>
                <a:spcPts val="1200"/>
              </a:spcBef>
              <a:defRPr sz="2400"/>
            </a:pPr>
            <a:r>
              <a:t>   Building the infrastructure agents need</a:t>
            </a:r>
          </a:p>
          <a:p>
            <a:pPr>
              <a:spcBef>
                <a:spcPts val="1200"/>
              </a:spcBef>
              <a:defRPr sz="2400"/>
            </a:pPr>
            <a:r>
              <a:t>   (GitLake, Data Canvas, Structured State Management)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🟣 25% Agentic Systems for Data Management</a:t>
            </a:r>
          </a:p>
          <a:p>
            <a:pPr>
              <a:spcBef>
                <a:spcPts val="1200"/>
              </a:spcBef>
              <a:defRPr sz="2400"/>
            </a:pPr>
            <a:r>
              <a:t>   Agents that help manage and discover data</a:t>
            </a:r>
          </a:p>
          <a:p>
            <a:pPr>
              <a:spcBef>
                <a:spcPts val="1200"/>
              </a:spcBef>
              <a:defRPr sz="2400"/>
            </a:pPr>
            <a:r>
              <a:t>   (ASMR, GUIDE, Multi-agent Framework)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🟢 42% Human-Centered &amp; Human-in-the-Loop</a:t>
            </a:r>
          </a:p>
          <a:p>
            <a:pPr>
              <a:spcBef>
                <a:spcPts val="1200"/>
              </a:spcBef>
              <a:defRPr sz="2400"/>
            </a:pPr>
            <a:r>
              <a:t>   Keeping humans in control</a:t>
            </a:r>
          </a:p>
          <a:p>
            <a:pPr>
              <a:spcBef>
                <a:spcPts val="1200"/>
              </a:spcBef>
              <a:defRPr sz="2400"/>
            </a:pPr>
            <a:r>
              <a:t>   (Walk Before You Run, AgentTrails, Be Fair!)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🔴 8% Evaluation, Reliability &amp; Learning</a:t>
            </a:r>
          </a:p>
          <a:p>
            <a:pPr>
              <a:spcBef>
                <a:spcPts val="1200"/>
              </a:spcBef>
              <a:defRPr sz="2400"/>
            </a:pPr>
            <a:r>
              <a:t>   How to measure and trust these systems (SANA)</a:t>
            </a:r>
          </a:p>
          <a:p>
            <a:pPr>
              <a:spcBef>
                <a:spcPts val="1200"/>
              </a:spcBef>
              <a:defRPr sz="2400"/>
            </a:pPr>
            <a:r>
              <a:t>   ⚠️  Biggest gap = biggest opportunity!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2332"/>
                </a:solidFill>
              </a:defRPr>
            </a:pPr>
            <a:r>
              <a:t>The Hidden Structure: How Themes Connect</a:t>
            </a:r>
          </a:p>
        </p:txBody>
      </p:sp>
      <p:pic>
        <p:nvPicPr>
          <p:cNvPr id="3" name="Picture 2" descr="theme_cooccurrenc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547871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2179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B7280"/>
                </a:solidFill>
              </a:defRPr>
            </a:pPr>
            <a:r>
              <a:t>Theme-theme co-occurrence: Darker = more papers bridge both themes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Strongest Bridges:</a:t>
            </a:r>
          </a:p>
          <a:p>
            <a:pPr>
              <a:defRPr sz="2000"/>
            </a:pPr>
            <a:r>
              <a:t>• Data ↔ Infrastructure (8×)</a:t>
            </a:r>
          </a:p>
          <a:p>
            <a:pPr>
              <a:defRPr sz="2000"/>
            </a:pPr>
            <a:r>
              <a:t>• HITL ↔ Provenance (6×)</a:t>
            </a:r>
          </a:p>
          <a:p>
            <a:pPr>
              <a:defRPr sz="2000"/>
            </a:pPr>
            <a:r>
              <a:t>• Agentic ↔ Multi-Agent (6×)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Universal Connectors:</a:t>
            </a:r>
          </a:p>
          <a:p>
            <a:pPr>
              <a:defRPr sz="2000" b="1"/>
            </a:pPr>
            <a:r>
              <a:t>⭐ HITL: 11 connections</a:t>
            </a:r>
          </a:p>
          <a:p>
            <a:pPr>
              <a:defRPr sz="2000" b="1"/>
            </a:pPr>
            <a:r>
              <a:t>⭐ Provenance: 10 connections</a:t>
            </a:r>
          </a:p>
          <a:p>
            <a:pPr>
              <a:defRPr sz="2000"/>
            </a:pPr>
          </a:p>
          <a:p>
            <a:pPr>
              <a:defRPr sz="2000" b="1"/>
            </a:pPr>
            <a:r>
              <a:t>⚠️  Critical Gap:</a:t>
            </a:r>
          </a:p>
          <a:p>
            <a:pPr>
              <a:defRPr sz="2000"/>
            </a:pPr>
            <a:r>
              <a:t>Data ↔ Agentic (0×)</a:t>
            </a:r>
          </a:p>
          <a:p>
            <a:pPr>
              <a:defRPr sz="2000"/>
            </a:pPr>
            <a:r>
              <a:t>The missing bridge!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2332"/>
                </a:solidFill>
              </a:defRPr>
            </a:pPr>
            <a:r>
              <a:t>Seven Keynote Speakers: Industry Meets Academia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/>
            </a:pPr>
            <a:r>
              <a:t>🏢 INDUSTRY</a:t>
            </a:r>
          </a:p>
          <a:p>
            <a:pPr>
              <a:spcBef>
                <a:spcPts val="1200"/>
              </a:spcBef>
              <a:defRPr sz="2400"/>
            </a:pPr>
            <a:r>
              <a:t>   • Eric Zhu (Alibaba) - AutoGen, QwenPaw</a:t>
            </a:r>
          </a:p>
          <a:p>
            <a:pPr>
              <a:spcBef>
                <a:spcPts val="1200"/>
              </a:spcBef>
              <a:defRPr sz="2400"/>
            </a:pPr>
            <a:r>
              <a:t>   • Fatma Özcan (Google) - 100x efficiency gains</a:t>
            </a:r>
          </a:p>
          <a:p>
            <a:pPr>
              <a:spcBef>
                <a:spcPts val="1200"/>
              </a:spcBef>
              <a:defRPr sz="2400"/>
            </a:pPr>
            <a:r>
              <a:t>   • Yunyao Li (Adobe) - Enterprise AI at scale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🎓 ACADEMIA</a:t>
            </a:r>
          </a:p>
          <a:p>
            <a:pPr>
              <a:spcBef>
                <a:spcPts val="1200"/>
              </a:spcBef>
              <a:defRPr sz="2400"/>
            </a:pPr>
            <a:r>
              <a:t>   • Eugene Wu (Columbia) - Agentic data environments</a:t>
            </a:r>
          </a:p>
          <a:p>
            <a:pPr>
              <a:spcBef>
                <a:spcPts val="1200"/>
              </a:spcBef>
              <a:defRPr sz="2400"/>
            </a:pPr>
            <a:r>
              <a:t>   • Juliana Freire (NYU) - Semantic data systems</a:t>
            </a:r>
          </a:p>
          <a:p>
            <a:pPr>
              <a:spcBef>
                <a:spcPts val="1200"/>
              </a:spcBef>
              <a:defRPr sz="2400"/>
            </a:pPr>
            <a:r>
              <a:t>   • Omar Khattab (MIT) - DSPy, qualitative learning</a:t>
            </a:r>
          </a:p>
          <a:p>
            <a:pPr>
              <a:spcBef>
                <a:spcPts val="1200"/>
              </a:spcBef>
              <a:defRPr sz="2400"/>
            </a:pPr>
            <a:r>
              <a:t>   • Shreya Shankar (Berkeley→CMU) - What users actually do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💡 Common Thread Across All Speakers:</a:t>
            </a:r>
          </a:p>
          <a:p>
            <a:pPr>
              <a:spcBef>
                <a:spcPts val="1200"/>
              </a:spcBef>
              <a:defRPr sz="2400"/>
            </a:pPr>
            <a:r>
              <a:t>   Data systems and agents must co-evolve</a:t>
            </a:r>
          </a:p>
          <a:p>
            <a:pPr>
              <a:spcBef>
                <a:spcPts val="1200"/>
              </a:spcBef>
              <a:defRPr sz="2400"/>
            </a:pPr>
            <a:r>
              <a:t>   Not data OR agents — data AND agents together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2332"/>
                </a:solidFill>
              </a:defRPr>
            </a:pPr>
            <a:r>
              <a:t>Panel Discussion: The Hard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/>
            </a:pPr>
            <a:r>
              <a:t>🎤 5:15-6:00 PM Closing Panel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Panelists: Eric Zhu, Fatma Özcan, Eugene Wu,</a:t>
            </a:r>
          </a:p>
          <a:p>
            <a:pPr>
              <a:spcBef>
                <a:spcPts val="1200"/>
              </a:spcBef>
              <a:defRPr sz="2400"/>
            </a:pPr>
            <a:r>
              <a:t>           Juliana Freire, Yunyao Li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Topics:</a:t>
            </a:r>
          </a:p>
          <a:p>
            <a:pPr>
              <a:spcBef>
                <a:spcPts val="1200"/>
              </a:spcBef>
              <a:defRPr sz="2400"/>
            </a:pPr>
            <a:r>
              <a:t>❓ What abstractions are fundamentally broken?</a:t>
            </a:r>
          </a:p>
          <a:p>
            <a:pPr>
              <a:spcBef>
                <a:spcPts val="1200"/>
              </a:spcBef>
              <a:defRPr sz="2400"/>
            </a:pPr>
            <a:r>
              <a:t>❓ How do we evaluate compound systems?</a:t>
            </a:r>
          </a:p>
          <a:p>
            <a:pPr>
              <a:spcBef>
                <a:spcPts val="1200"/>
              </a:spcBef>
              <a:defRPr sz="2400"/>
            </a:pPr>
            <a:r>
              <a:t>❓ What's the right level of human oversight?</a:t>
            </a:r>
          </a:p>
          <a:p>
            <a:pPr>
              <a:spcBef>
                <a:spcPts val="1200"/>
              </a:spcBef>
              <a:defRPr sz="2400"/>
            </a:pPr>
            <a:r>
              <a:t>❓ Where is production 5 years ahead of research?</a:t>
            </a:r>
          </a:p>
          <a:p>
            <a:pPr>
              <a:spcBef>
                <a:spcPts val="1200"/>
              </a:spcBef>
              <a:defRPr sz="2400"/>
            </a:pPr>
            <a:r>
              <a:t>❓ What should PhD students work on?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💬 PLUS: 20 minutes for YOUR questions!</a:t>
            </a:r>
          </a:p>
          <a:p>
            <a:pPr>
              <a:spcBef>
                <a:spcPts val="1200"/>
              </a:spcBef>
              <a:defRPr sz="2400"/>
            </a:pPr>
            <a:r>
              <a:t>   Hard questions welcome. No polite consensus.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2332"/>
                </a:solidFill>
              </a:defRPr>
            </a:pPr>
            <a:r>
              <a:t>What Makes DASHSys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/>
            </a:pPr>
            <a:r>
              <a:t>1️⃣  Integration, Not Separation</a:t>
            </a:r>
          </a:p>
          <a:p>
            <a:pPr>
              <a:spcBef>
                <a:spcPts val="1200"/>
              </a:spcBef>
              <a:defRPr sz="2400"/>
            </a:pPr>
            <a:r>
              <a:t>    Papers bridge data systems ↔ AI systems</a:t>
            </a:r>
          </a:p>
          <a:p>
            <a:pPr>
              <a:spcBef>
                <a:spcPts val="1200"/>
              </a:spcBef>
              <a:defRPr sz="2400"/>
            </a:pPr>
            <a:r>
              <a:t>    Not 'which side wins' but 'how they work together'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2️⃣  Human-in-the-Loop is Non-Negotiable</a:t>
            </a:r>
          </a:p>
          <a:p>
            <a:pPr>
              <a:spcBef>
                <a:spcPts val="1200"/>
              </a:spcBef>
              <a:defRPr sz="2400"/>
            </a:pPr>
            <a:r>
              <a:t>    58% of papers include HITL</a:t>
            </a:r>
          </a:p>
          <a:p>
            <a:pPr>
              <a:spcBef>
                <a:spcPts val="1200"/>
              </a:spcBef>
              <a:defRPr sz="2400"/>
            </a:pPr>
            <a:r>
              <a:t>    Not automation vs. oversight</a:t>
            </a:r>
          </a:p>
          <a:p>
            <a:pPr>
              <a:spcBef>
                <a:spcPts val="1200"/>
              </a:spcBef>
              <a:defRPr sz="2400"/>
            </a:pPr>
            <a:r>
              <a:t>    But automation WITH oversight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3️⃣  Production Reality Meets Research Vision</a:t>
            </a:r>
          </a:p>
          <a:p>
            <a:pPr>
              <a:spcBef>
                <a:spcPts val="1200"/>
              </a:spcBef>
              <a:defRPr sz="2400"/>
            </a:pPr>
            <a:r>
              <a:t>    Industry speakers + academic depth</a:t>
            </a:r>
          </a:p>
          <a:p>
            <a:pPr>
              <a:spcBef>
                <a:spcPts val="1200"/>
              </a:spcBef>
              <a:defRPr sz="2400"/>
            </a:pPr>
            <a:r>
              <a:t>    Systems track tests ideas on real data</a:t>
            </a:r>
          </a:p>
          <a:p>
            <a:pPr>
              <a:spcBef>
                <a:spcPts val="1200"/>
              </a:spcBef>
              <a:defRPr sz="2400"/>
            </a:pPr>
            <a:r>
              <a:t>    Gap analysis → research agenda</a:t>
            </a:r>
          </a:p>
          <a:p>
            <a:pPr>
              <a:spcBef>
                <a:spcPts val="1200"/>
              </a:spcBef>
              <a:defRPr sz="2400"/>
            </a:pPr>
          </a:p>
          <a:p>
            <a:pPr>
              <a:spcBef>
                <a:spcPts val="1200"/>
              </a:spcBef>
              <a:defRPr sz="2400"/>
            </a:pPr>
            <a:r>
              <a:t>🎯 We're not just publishing papers.</a:t>
            </a:r>
          </a:p>
          <a:p>
            <a:pPr>
              <a:spcBef>
                <a:spcPts val="1200"/>
              </a:spcBef>
              <a:defRPr sz="2400"/>
            </a:pPr>
            <a:r>
              <a:t>   We're defining how data systems evolve for an agentic era.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Let's build the future of data-AI systems — together.</a:t>
            </a:r>
          </a:p>
          <a:p/>
          <a:p>
            <a:r>
              <a:t>#DASHSys2026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0"/>
            <a:ext cx="85340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📸 Share: #DASHSys2026</a:t>
            </a:r>
          </a:p>
          <a:p>
            <a:r>
              <a:t>📋 Posters: Coffee breaks</a:t>
            </a:r>
          </a:p>
          <a:p>
            <a:r>
              <a:t>💬 Questions: Submit anytime</a:t>
            </a:r>
          </a:p>
          <a:p/>
          <a:p>
            <a:r>
              <a:t>Next: Eric Zhu - 'Surfing the Jagged Frontier'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