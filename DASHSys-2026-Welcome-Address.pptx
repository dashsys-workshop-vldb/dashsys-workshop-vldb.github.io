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7" r:id="rId3"/>
    <p:sldId id="268" r:id="rId4"/>
    <p:sldId id="270" r:id="rId5"/>
    <p:sldId id="258" r:id="rId6"/>
    <p:sldId id="260" r:id="rId7"/>
    <p:sldId id="262" r:id="rId8"/>
    <p:sldId id="269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628"/>
  </p:normalViewPr>
  <p:slideViewPr>
    <p:cSldViewPr snapToGrid="0" snapToObjects="1">
      <p:cViewPr>
        <p:scale>
          <a:sx n="91" d="100"/>
          <a:sy n="91" d="100"/>
        </p:scale>
        <p:origin x="2432" y="1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9FF68E-AEC2-C49E-5C50-0C055675E5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9" r="-1" b="-1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19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2C102-2784-6E3B-2EB5-074A7AC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 err="1"/>
              <a:t>DASHSys</a:t>
            </a:r>
            <a:r>
              <a:rPr lang="en-US" b="1" dirty="0"/>
              <a:t>: First Edition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243C6-B73C-6F6F-1C64-E1F5C512D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284" y="2514600"/>
            <a:ext cx="8110024" cy="1828800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  <a:defRPr sz="2400"/>
            </a:pPr>
            <a:r>
              <a:rPr lang="en-US" dirty="0"/>
              <a:t>DAIS - Data and AI Systems (2</a:t>
            </a:r>
            <a:r>
              <a:rPr lang="en-US" baseline="30000" dirty="0"/>
              <a:t>nd</a:t>
            </a:r>
            <a:r>
              <a:rPr lang="en-US" dirty="0"/>
              <a:t> Edition)</a:t>
            </a:r>
          </a:p>
          <a:p>
            <a:pPr>
              <a:spcBef>
                <a:spcPts val="1200"/>
              </a:spcBef>
              <a:defRPr sz="2400"/>
            </a:pPr>
            <a:r>
              <a:rPr lang="en-US" dirty="0"/>
              <a:t>DAAS - Data Management for Agentic AI Systems</a:t>
            </a:r>
          </a:p>
          <a:p>
            <a:pPr>
              <a:spcBef>
                <a:spcPts val="1200"/>
              </a:spcBef>
              <a:defRPr sz="2400"/>
            </a:pPr>
            <a:r>
              <a:rPr lang="en-US" dirty="0"/>
              <a:t>DASH - Data Systems with Human-in-the-loop AI (7</a:t>
            </a:r>
            <a:r>
              <a:rPr lang="en-US" baseline="30000" dirty="0"/>
              <a:t>th</a:t>
            </a:r>
            <a:r>
              <a:rPr lang="en-US" dirty="0"/>
              <a:t> Edition)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F5AE19-0F72-7324-E08E-ADF17297A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099603"/>
            <a:ext cx="2658794" cy="2658794"/>
          </a:xfrm>
          <a:prstGeom prst="rect">
            <a:avLst/>
          </a:prstGeom>
        </p:spPr>
      </p:pic>
      <p:pic>
        <p:nvPicPr>
          <p:cNvPr id="5" name="Picture 4" descr="Adobe">
            <a:extLst>
              <a:ext uri="{FF2B5EF4-FFF2-40B4-BE49-F238E27FC236}">
                <a16:creationId xmlns:a16="http://schemas.microsoft.com/office/drawing/2014/main" id="{D9B57C3F-720B-2468-388E-135283CDD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291" y="4867421"/>
            <a:ext cx="2698457" cy="15178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579033-272F-672C-B0BD-E28094F5EE40}"/>
              </a:ext>
            </a:extLst>
          </p:cNvPr>
          <p:cNvSpPr txBox="1"/>
          <p:nvPr/>
        </p:nvSpPr>
        <p:spPr>
          <a:xfrm>
            <a:off x="2025748" y="5514535"/>
            <a:ext cx="1545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Sponsored by:</a:t>
            </a:r>
          </a:p>
        </p:txBody>
      </p:sp>
    </p:spTree>
    <p:extLst>
      <p:ext uri="{BB962C8B-B14F-4D97-AF65-F5344CB8AC3E}">
        <p14:creationId xmlns:p14="http://schemas.microsoft.com/office/powerpoint/2010/main" val="501504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50A02-F493-10DD-996A-BC28F7D71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/>
              <a:t>Organizers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FCCC3C-B9E2-9C33-A449-6E0095912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638"/>
            <a:ext cx="9830364" cy="41391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18C5BA4-B208-C0E5-A45E-25736C9BFBFD}"/>
              </a:ext>
            </a:extLst>
          </p:cNvPr>
          <p:cNvSpPr/>
          <p:nvPr/>
        </p:nvSpPr>
        <p:spPr>
          <a:xfrm>
            <a:off x="1322363" y="1266092"/>
            <a:ext cx="337625" cy="30949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259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1C50E7D-99F3-47FE-4374-68F44FC4E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405" y="0"/>
            <a:ext cx="53751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280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2612" y="485336"/>
            <a:ext cx="558338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rPr lang="en-US" dirty="0" err="1"/>
              <a:t>DASHSys</a:t>
            </a:r>
            <a:r>
              <a:rPr lang="en-US" dirty="0"/>
              <a:t> </a:t>
            </a:r>
            <a:r>
              <a:rPr dirty="0"/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7114" y="1890117"/>
            <a:ext cx="10362895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  <a:defRPr sz="2400"/>
            </a:pPr>
            <a:r>
              <a:rPr lang="en-US" dirty="0"/>
              <a:t>35 Total submission</a:t>
            </a:r>
            <a:endParaRPr dirty="0"/>
          </a:p>
          <a:p>
            <a:pPr marL="800100" lvl="1" indent="-342900">
              <a:spcBef>
                <a:spcPts val="1200"/>
              </a:spcBef>
              <a:buFont typeface="Arial" panose="020B0604020202020204" pitchFamily="34" charset="0"/>
              <a:buChar char="•"/>
              <a:defRPr sz="2400"/>
            </a:pPr>
            <a:r>
              <a:rPr b="1" dirty="0"/>
              <a:t>Regular Track</a:t>
            </a:r>
            <a:r>
              <a:rPr dirty="0"/>
              <a:t>: 23 papers</a:t>
            </a:r>
            <a:endParaRPr lang="en-US" dirty="0"/>
          </a:p>
          <a:p>
            <a:pPr marL="1257300" lvl="2" indent="-342900">
              <a:spcBef>
                <a:spcPts val="1200"/>
              </a:spcBef>
              <a:buFont typeface="Arial" panose="020B0604020202020204" pitchFamily="34" charset="0"/>
              <a:buChar char="•"/>
              <a:defRPr sz="2400"/>
            </a:pPr>
            <a:r>
              <a:rPr lang="en-US" dirty="0"/>
              <a:t>4 long papers, 8 posters</a:t>
            </a:r>
            <a:endParaRPr dirty="0"/>
          </a:p>
          <a:p>
            <a:pPr marL="800100" lvl="1" indent="-342900">
              <a:spcBef>
                <a:spcPts val="1200"/>
              </a:spcBef>
              <a:buFont typeface="Arial" panose="020B0604020202020204" pitchFamily="34" charset="0"/>
              <a:buChar char="•"/>
              <a:defRPr sz="2400"/>
            </a:pPr>
            <a:r>
              <a:rPr b="1" dirty="0"/>
              <a:t>System Track</a:t>
            </a:r>
            <a:r>
              <a:rPr dirty="0"/>
              <a:t>: 12 </a:t>
            </a:r>
            <a:r>
              <a:rPr lang="en-US" dirty="0"/>
              <a:t>agents</a:t>
            </a:r>
          </a:p>
          <a:p>
            <a:pPr marL="1257300" lvl="2" indent="-342900">
              <a:spcBef>
                <a:spcPts val="1200"/>
              </a:spcBef>
              <a:buFont typeface="Arial" panose="020B0604020202020204" pitchFamily="34" charset="0"/>
              <a:buChar char="•"/>
              <a:defRPr sz="2400"/>
            </a:pPr>
            <a:r>
              <a:rPr dirty="0"/>
              <a:t>1st Place: IBM Research Zurich</a:t>
            </a:r>
            <a:endParaRPr lang="en-US" dirty="0"/>
          </a:p>
          <a:p>
            <a:pPr marL="1257300" lvl="2" indent="-342900">
              <a:spcBef>
                <a:spcPts val="1200"/>
              </a:spcBef>
              <a:buFont typeface="Arial" panose="020B0604020202020204" pitchFamily="34" charset="0"/>
              <a:buChar char="•"/>
              <a:defRPr sz="2400"/>
            </a:pPr>
            <a:r>
              <a:rPr dirty="0"/>
              <a:t>2nd Place: Princeton University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9ACA7A-85BE-F6B6-1C2C-A5A15E007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7985" y="734286"/>
            <a:ext cx="3152024" cy="57551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402706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rPr dirty="0"/>
              <a:t>Four Core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4444" y="2525879"/>
            <a:ext cx="615717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/>
            </a:pPr>
            <a:r>
              <a:rPr dirty="0"/>
              <a:t>Data Management for Agentic Systems</a:t>
            </a:r>
          </a:p>
          <a:p>
            <a:pPr>
              <a:spcBef>
                <a:spcPts val="1200"/>
              </a:spcBef>
              <a:defRPr sz="2400"/>
            </a:pPr>
            <a:r>
              <a:rPr dirty="0"/>
              <a:t>Agentic Systems for Data Management</a:t>
            </a:r>
          </a:p>
          <a:p>
            <a:pPr>
              <a:spcBef>
                <a:spcPts val="1200"/>
              </a:spcBef>
              <a:defRPr sz="2400"/>
            </a:pPr>
            <a:r>
              <a:rPr dirty="0"/>
              <a:t>Human-in-the-Loop</a:t>
            </a:r>
            <a:r>
              <a:rPr lang="en-US" dirty="0"/>
              <a:t> Agentic Systems</a:t>
            </a:r>
            <a:endParaRPr dirty="0"/>
          </a:p>
          <a:p>
            <a:pPr>
              <a:spcBef>
                <a:spcPts val="1200"/>
              </a:spcBef>
              <a:defRPr sz="2400"/>
            </a:pPr>
            <a:r>
              <a:rPr dirty="0"/>
              <a:t>Evaluation, Reliability</a:t>
            </a:r>
            <a:r>
              <a:rPr lang="en-US" dirty="0"/>
              <a:t>,</a:t>
            </a:r>
            <a:r>
              <a:rPr dirty="0"/>
              <a:t> </a:t>
            </a:r>
            <a:r>
              <a:rPr lang="en-US" dirty="0"/>
              <a:t>and</a:t>
            </a:r>
            <a:r>
              <a:rPr dirty="0"/>
              <a:t> Learning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BE5791-9F66-0D24-4038-33BF5215B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348" y="393355"/>
            <a:ext cx="6157174" cy="567739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7C47DE-C489-D182-8193-E322143FE284}"/>
              </a:ext>
            </a:extLst>
          </p:cNvPr>
          <p:cNvSpPr/>
          <p:nvPr/>
        </p:nvSpPr>
        <p:spPr>
          <a:xfrm>
            <a:off x="6771618" y="274320"/>
            <a:ext cx="4595077" cy="70788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309091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332"/>
                </a:solidFill>
              </a:defRPr>
            </a:pPr>
            <a:r>
              <a:rPr dirty="0"/>
              <a:t>Keynote </a:t>
            </a:r>
            <a:r>
              <a:rPr lang="en-US" dirty="0"/>
              <a:t>Talks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89EAE2-F96D-AB95-5166-38F4AEFAE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63" y="3633110"/>
            <a:ext cx="9982205" cy="20361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985273-1E30-43AC-8973-1F8CF5182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37" y="1392830"/>
            <a:ext cx="9982205" cy="20361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950DF7-9A9A-6E4B-8EB9-A983010C3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19" y="141392"/>
            <a:ext cx="5924872" cy="32876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97C1B6-C508-73EA-FC50-76D785B25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4872" y="3347067"/>
            <a:ext cx="6145209" cy="3409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041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6642CF-8689-A573-A832-A73E60C19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50" y="541539"/>
            <a:ext cx="10275200" cy="57749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30472" y="3840480"/>
            <a:ext cx="8130752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rPr dirty="0"/>
              <a:t>Let’s </a:t>
            </a:r>
            <a:r>
              <a:rPr lang="en-US" dirty="0"/>
              <a:t>reimagine</a:t>
            </a:r>
            <a:r>
              <a:rPr dirty="0"/>
              <a:t> the future of data-AI systems together</a:t>
            </a:r>
            <a:r>
              <a:rPr lang="en-US" dirty="0"/>
              <a:t>!</a:t>
            </a:r>
            <a:endParaRPr dirty="0"/>
          </a:p>
          <a:p>
            <a:endParaRPr dirty="0"/>
          </a:p>
          <a:p>
            <a:r>
              <a:rPr dirty="0"/>
              <a:t>#DASHSys2026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EA848B-6A6B-9453-5956-2BBC8EBB1658}"/>
              </a:ext>
            </a:extLst>
          </p:cNvPr>
          <p:cNvSpPr txBox="1"/>
          <p:nvPr/>
        </p:nvSpPr>
        <p:spPr>
          <a:xfrm>
            <a:off x="3046675" y="4931766"/>
            <a:ext cx="609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https://</a:t>
            </a:r>
            <a:r>
              <a:rPr lang="en-US" dirty="0" err="1">
                <a:solidFill>
                  <a:schemeClr val="bg1"/>
                </a:solidFill>
              </a:rPr>
              <a:t>dashsys</a:t>
            </a:r>
            <a:r>
              <a:rPr lang="en-US" dirty="0">
                <a:solidFill>
                  <a:schemeClr val="bg1"/>
                </a:solidFill>
              </a:rPr>
              <a:t>-workshop-</a:t>
            </a:r>
            <a:r>
              <a:rPr lang="en-US" dirty="0" err="1">
                <a:solidFill>
                  <a:schemeClr val="bg1"/>
                </a:solidFill>
              </a:rPr>
              <a:t>vldb.github.io</a:t>
            </a:r>
            <a:r>
              <a:rPr lang="en-US" dirty="0">
                <a:solidFill>
                  <a:schemeClr val="bg1"/>
                </a:solidFill>
              </a:rPr>
              <a:t>/</a:t>
            </a:r>
            <a:r>
              <a:rPr lang="en-US" dirty="0" err="1">
                <a:solidFill>
                  <a:schemeClr val="bg1"/>
                </a:solidFill>
              </a:rPr>
              <a:t>index.html#program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122</Words>
  <Application>Microsoft Macintosh PowerPoint</Application>
  <PresentationFormat>Widescreen</PresentationFormat>
  <Paragraphs>24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DASHSys: First Edition</vt:lpstr>
      <vt:lpstr>Organizers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Sajjadur Rahman</cp:lastModifiedBy>
  <cp:revision>11</cp:revision>
  <dcterms:created xsi:type="dcterms:W3CDTF">2013-01-27T09:14:16Z</dcterms:created>
  <dcterms:modified xsi:type="dcterms:W3CDTF">2026-09-04T12:30:33Z</dcterms:modified>
  <cp:category/>
</cp:coreProperties>
</file>