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c9871929ed4bc6" /><Relationship Type="http://schemas.openxmlformats.org/officeDocument/2006/relationships/extended-properties" Target="/docProps/app.xml" Id="R7c159153a5da48cb" /><Relationship Type="http://schemas.openxmlformats.org/officeDocument/2006/relationships/officeDocument" Target="/ppt/presentation.xml" Id="Re9de2001c39a4e01" /></Relationships>
</file>

<file path=ppt/presentation.xml><?xml version="1.0" encoding="utf-8"?>
<p:presentation xmlns:p="http://schemas.openxmlformats.org/presentationml/2006/main">
  <p:sldMasterIdLst>
    <p:sldMasterId xmlns:r="http://schemas.openxmlformats.org/officeDocument/2006/relationships" id="2147483648" r:id="Rf34d102511874f40"/>
  </p:sldMasterIdLst>
  <p:notesMasterIdLst>
    <p:notesMasterId xmlns:r="http://schemas.openxmlformats.org/officeDocument/2006/relationships" r:id="Rd3e214dc5e4f47d6"/>
  </p:notesMasterIdLst>
  <p:sldIdLst>
    <p:sldId xmlns:r="http://schemas.openxmlformats.org/officeDocument/2006/relationships" id="256" r:id="R3675038329cd4502"/>
    <p:sldId xmlns:r="http://schemas.openxmlformats.org/officeDocument/2006/relationships" id="257" r:id="Rb4486a11cafc4cf5"/>
    <p:sldId xmlns:r="http://schemas.openxmlformats.org/officeDocument/2006/relationships" id="258" r:id="R2479b09450924e25"/>
    <p:sldId xmlns:r="http://schemas.openxmlformats.org/officeDocument/2006/relationships" id="259" r:id="Rdaea430cff6b4fcd"/>
    <p:sldId xmlns:r="http://schemas.openxmlformats.org/officeDocument/2006/relationships" id="260" r:id="Rd459f6a6c6f843de"/>
    <p:sldId xmlns:r="http://schemas.openxmlformats.org/officeDocument/2006/relationships" id="261" r:id="R919fde6ace4a4163"/>
    <p:sldId xmlns:r="http://schemas.openxmlformats.org/officeDocument/2006/relationships" id="262" r:id="R2af00b3d07084d7f"/>
    <p:sldId xmlns:r="http://schemas.openxmlformats.org/officeDocument/2006/relationships" id="263" r:id="R5ad3d94b440141bb"/>
    <p:sldId xmlns:r="http://schemas.openxmlformats.org/officeDocument/2006/relationships" id="264" r:id="Rec02a74f2bc24ba7"/>
    <p:sldId xmlns:r="http://schemas.openxmlformats.org/officeDocument/2006/relationships" id="265" r:id="Raebe764791264fc3"/>
    <p:sldId xmlns:r="http://schemas.openxmlformats.org/officeDocument/2006/relationships" id="266" r:id="Rb0b265f96efd4fda"/>
    <p:sldId xmlns:r="http://schemas.openxmlformats.org/officeDocument/2006/relationships" id="267" r:id="R964c6ec82f58442a"/>
    <p:sldId xmlns:r="http://schemas.openxmlformats.org/officeDocument/2006/relationships" id="268" r:id="R2da2ae1a26ab4299"/>
    <p:sldId xmlns:r="http://schemas.openxmlformats.org/officeDocument/2006/relationships" id="269" r:id="Rcf6fc46269234828"/>
    <p:sldId xmlns:r="http://schemas.openxmlformats.org/officeDocument/2006/relationships" id="270" r:id="Rd0513170bb60404e"/>
    <p:sldId xmlns:r="http://schemas.openxmlformats.org/officeDocument/2006/relationships" id="271" r:id="Rcee93bc2782e42a0"/>
    <p:sldId xmlns:r="http://schemas.openxmlformats.org/officeDocument/2006/relationships" id="272" r:id="R2a7d5a1c68e8416e"/>
    <p:sldId xmlns:r="http://schemas.openxmlformats.org/officeDocument/2006/relationships" id="273" r:id="R82f8eadd2fe24140"/>
    <p:sldId xmlns:r="http://schemas.openxmlformats.org/officeDocument/2006/relationships" id="274" r:id="R8877f89c29124333"/>
    <p:sldId xmlns:r="http://schemas.openxmlformats.org/officeDocument/2006/relationships" id="275" r:id="Rcd588313a1554dd0"/>
    <p:sldId xmlns:r="http://schemas.openxmlformats.org/officeDocument/2006/relationships" id="276" r:id="R1e7a5d69cb1e403d"/>
    <p:sldId xmlns:r="http://schemas.openxmlformats.org/officeDocument/2006/relationships" id="277" r:id="R791d745fb1e745be"/>
    <p:sldId xmlns:r="http://schemas.openxmlformats.org/officeDocument/2006/relationships" id="278" r:id="R4d4df1931c8146c1"/>
    <p:sldId xmlns:r="http://schemas.openxmlformats.org/officeDocument/2006/relationships" id="279" r:id="R20328ae4b37d4a92"/>
    <p:sldId xmlns:r="http://schemas.openxmlformats.org/officeDocument/2006/relationships" id="280" r:id="R94ee8b0cbd104a7c"/>
    <p:sldId xmlns:r="http://schemas.openxmlformats.org/officeDocument/2006/relationships" id="281" r:id="Rccc50fa09b34423a"/>
    <p:sldId xmlns:r="http://schemas.openxmlformats.org/officeDocument/2006/relationships" id="282" r:id="R0d190446fd4441cc"/>
    <p:sldId xmlns:r="http://schemas.openxmlformats.org/officeDocument/2006/relationships" id="283" r:id="Ra6e02001616a4dc0"/>
    <p:sldId xmlns:r="http://schemas.openxmlformats.org/officeDocument/2006/relationships" id="284" r:id="Rd305901c784f4206"/>
    <p:sldId xmlns:r="http://schemas.openxmlformats.org/officeDocument/2006/relationships" id="285" r:id="R36486b85b1ff4eb2"/>
    <p:sldId xmlns:r="http://schemas.openxmlformats.org/officeDocument/2006/relationships" id="286" r:id="R0c61094a18b4467b"/>
    <p:sldId xmlns:r="http://schemas.openxmlformats.org/officeDocument/2006/relationships" id="287" r:id="R438e769eb5c94407"/>
    <p:sldId xmlns:r="http://schemas.openxmlformats.org/officeDocument/2006/relationships" id="288" r:id="R8d3ea81c56834693"/>
    <p:sldId xmlns:r="http://schemas.openxmlformats.org/officeDocument/2006/relationships" id="289" r:id="Rbd4bd1c5c1684f78"/>
    <p:sldId xmlns:r="http://schemas.openxmlformats.org/officeDocument/2006/relationships" id="290" r:id="R9f4a280b8775414a"/>
    <p:sldId xmlns:r="http://schemas.openxmlformats.org/officeDocument/2006/relationships" id="291" r:id="R4b77e42e1be54a8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f34d102511874f40" /><Relationship Type="http://schemas.openxmlformats.org/officeDocument/2006/relationships/theme" Target="/ppt/theme/theme1.xml" Id="Rd65ee1404c5c4275" /><Relationship Type="http://schemas.openxmlformats.org/officeDocument/2006/relationships/notesMaster" Target="/ppt/notesMasters/notesMaster1.xml" Id="Rd3e214dc5e4f47d6" /><Relationship Type="http://schemas.openxmlformats.org/officeDocument/2006/relationships/presProps" Target="/ppt/presProps.xml" Id="R99c7ff6136af478d" /><Relationship Type="http://schemas.openxmlformats.org/officeDocument/2006/relationships/viewProps" Target="/ppt/viewProps.xml" Id="R58ea1feedcf44e2c" /><Relationship Type="http://schemas.openxmlformats.org/officeDocument/2006/relationships/tableStyles" Target="/ppt/tableStyles.xml" Id="R3dbadb0fed154f13" /><Relationship Type="http://schemas.openxmlformats.org/officeDocument/2006/relationships/slide" Target="/ppt/slides/slide1.xml" Id="R3675038329cd4502" /><Relationship Type="http://schemas.openxmlformats.org/officeDocument/2006/relationships/slide" Target="/ppt/slides/slide2.xml" Id="Rb4486a11cafc4cf5" /><Relationship Type="http://schemas.openxmlformats.org/officeDocument/2006/relationships/slide" Target="/ppt/slides/slide3.xml" Id="R2479b09450924e25" /><Relationship Type="http://schemas.openxmlformats.org/officeDocument/2006/relationships/slide" Target="/ppt/slides/slide4.xml" Id="Rdaea430cff6b4fcd" /><Relationship Type="http://schemas.openxmlformats.org/officeDocument/2006/relationships/slide" Target="/ppt/slides/slide5.xml" Id="Rd459f6a6c6f843de" /><Relationship Type="http://schemas.openxmlformats.org/officeDocument/2006/relationships/slide" Target="/ppt/slides/slide6.xml" Id="R919fde6ace4a4163" /><Relationship Type="http://schemas.openxmlformats.org/officeDocument/2006/relationships/slide" Target="/ppt/slides/slide7.xml" Id="R2af00b3d07084d7f" /><Relationship Type="http://schemas.openxmlformats.org/officeDocument/2006/relationships/slide" Target="/ppt/slides/slide8.xml" Id="R5ad3d94b440141bb" /><Relationship Type="http://schemas.openxmlformats.org/officeDocument/2006/relationships/slide" Target="/ppt/slides/slide9.xml" Id="Rec02a74f2bc24ba7" /><Relationship Type="http://schemas.openxmlformats.org/officeDocument/2006/relationships/slide" Target="/ppt/slides/slide10.xml" Id="Raebe764791264fc3" /><Relationship Type="http://schemas.openxmlformats.org/officeDocument/2006/relationships/slide" Target="/ppt/slides/slide11.xml" Id="Rb0b265f96efd4fda" /><Relationship Type="http://schemas.openxmlformats.org/officeDocument/2006/relationships/slide" Target="/ppt/slides/slide12.xml" Id="R964c6ec82f58442a" /><Relationship Type="http://schemas.openxmlformats.org/officeDocument/2006/relationships/slide" Target="/ppt/slides/slide13.xml" Id="R2da2ae1a26ab4299" /><Relationship Type="http://schemas.openxmlformats.org/officeDocument/2006/relationships/slide" Target="/ppt/slides/slide14.xml" Id="Rcf6fc46269234828" /><Relationship Type="http://schemas.openxmlformats.org/officeDocument/2006/relationships/slide" Target="/ppt/slides/slide15.xml" Id="Rd0513170bb60404e" /><Relationship Type="http://schemas.openxmlformats.org/officeDocument/2006/relationships/slide" Target="/ppt/slides/slide16.xml" Id="Rcee93bc2782e42a0" /><Relationship Type="http://schemas.openxmlformats.org/officeDocument/2006/relationships/slide" Target="/ppt/slides/slide17.xml" Id="R2a7d5a1c68e8416e" /><Relationship Type="http://schemas.openxmlformats.org/officeDocument/2006/relationships/slide" Target="/ppt/slides/slide18.xml" Id="R82f8eadd2fe24140" /><Relationship Type="http://schemas.openxmlformats.org/officeDocument/2006/relationships/slide" Target="/ppt/slides/slide19.xml" Id="R8877f89c29124333" /><Relationship Type="http://schemas.openxmlformats.org/officeDocument/2006/relationships/slide" Target="/ppt/slides/slide20.xml" Id="Rcd588313a1554dd0" /><Relationship Type="http://schemas.openxmlformats.org/officeDocument/2006/relationships/slide" Target="/ppt/slides/slide21.xml" Id="R1e7a5d69cb1e403d" /><Relationship Type="http://schemas.openxmlformats.org/officeDocument/2006/relationships/slide" Target="/ppt/slides/slide22.xml" Id="R791d745fb1e745be" /><Relationship Type="http://schemas.openxmlformats.org/officeDocument/2006/relationships/slide" Target="/ppt/slides/slide23.xml" Id="R4d4df1931c8146c1" /><Relationship Type="http://schemas.openxmlformats.org/officeDocument/2006/relationships/slide" Target="/ppt/slides/slide24.xml" Id="R20328ae4b37d4a92" /><Relationship Type="http://schemas.openxmlformats.org/officeDocument/2006/relationships/slide" Target="/ppt/slides/slide25.xml" Id="R94ee8b0cbd104a7c" /><Relationship Type="http://schemas.openxmlformats.org/officeDocument/2006/relationships/slide" Target="/ppt/slides/slide26.xml" Id="Rccc50fa09b34423a" /><Relationship Type="http://schemas.openxmlformats.org/officeDocument/2006/relationships/slide" Target="/ppt/slides/slide27.xml" Id="R0d190446fd4441cc" /><Relationship Type="http://schemas.openxmlformats.org/officeDocument/2006/relationships/slide" Target="/ppt/slides/slide28.xml" Id="Ra6e02001616a4dc0" /><Relationship Type="http://schemas.openxmlformats.org/officeDocument/2006/relationships/slide" Target="/ppt/slides/slide29.xml" Id="Rd305901c784f4206" /><Relationship Type="http://schemas.openxmlformats.org/officeDocument/2006/relationships/slide" Target="/ppt/slides/slide30.xml" Id="R36486b85b1ff4eb2" /><Relationship Type="http://schemas.openxmlformats.org/officeDocument/2006/relationships/slide" Target="/ppt/slides/slide31.xml" Id="R0c61094a18b4467b" /><Relationship Type="http://schemas.openxmlformats.org/officeDocument/2006/relationships/slide" Target="/ppt/slides/slide32.xml" Id="R438e769eb5c94407" /><Relationship Type="http://schemas.openxmlformats.org/officeDocument/2006/relationships/slide" Target="/ppt/slides/slide33.xml" Id="R8d3ea81c56834693" /><Relationship Type="http://schemas.openxmlformats.org/officeDocument/2006/relationships/slide" Target="/ppt/slides/slide34.xml" Id="Rbd4bd1c5c1684f78" /><Relationship Type="http://schemas.openxmlformats.org/officeDocument/2006/relationships/slide" Target="/ppt/slides/slide35.xml" Id="R9f4a280b8775414a" /><Relationship Type="http://schemas.openxmlformats.org/officeDocument/2006/relationships/slide" Target="/ppt/slides/slide36.xml" Id="R4b77e42e1be54a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48374b6168448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7483a64de54612" /><Relationship Type="http://schemas.openxmlformats.org/officeDocument/2006/relationships/notesMaster" Target="/ppt/notesMasters/notesMaster1.xml" Id="R097e256592e244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8fa984c8644428" /><Relationship Type="http://schemas.openxmlformats.org/officeDocument/2006/relationships/notesMaster" Target="/ppt/notesMasters/notesMaster1.xml" Id="R9358cb3e52a949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aadacd93d240f6" /><Relationship Type="http://schemas.openxmlformats.org/officeDocument/2006/relationships/notesMaster" Target="/ppt/notesMasters/notesMaster1.xml" Id="R155abd0e36ee42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881642d6e548bb" /><Relationship Type="http://schemas.openxmlformats.org/officeDocument/2006/relationships/notesMaster" Target="/ppt/notesMasters/notesMaster1.xml" Id="R9d6fa33b8e2243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3f4efaf45b4d94" /><Relationship Type="http://schemas.openxmlformats.org/officeDocument/2006/relationships/notesMaster" Target="/ppt/notesMasters/notesMaster1.xml" Id="R6d736c315dda4a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d996b02aff42e3" /><Relationship Type="http://schemas.openxmlformats.org/officeDocument/2006/relationships/notesMaster" Target="/ppt/notesMasters/notesMaster1.xml" Id="R5226f4fd43aa44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7dbcd2eeef47da" /><Relationship Type="http://schemas.openxmlformats.org/officeDocument/2006/relationships/notesMaster" Target="/ppt/notesMasters/notesMaster1.xml" Id="R8d1500ac5b5442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975ea7d0ab478b" /><Relationship Type="http://schemas.openxmlformats.org/officeDocument/2006/relationships/notesMaster" Target="/ppt/notesMasters/notesMaster1.xml" Id="Rb11c7e1b5af948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cbc9a0629d4cc1" /><Relationship Type="http://schemas.openxmlformats.org/officeDocument/2006/relationships/notesMaster" Target="/ppt/notesMasters/notesMaster1.xml" Id="R46ce4806e7f243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eb702ed9f3476d" /><Relationship Type="http://schemas.openxmlformats.org/officeDocument/2006/relationships/notesMaster" Target="/ppt/notesMasters/notesMaster1.xml" Id="R4a64251f1b3740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c2bbbc082f4d22" /><Relationship Type="http://schemas.openxmlformats.org/officeDocument/2006/relationships/notesMaster" Target="/ppt/notesMasters/notesMaster1.xml" Id="R3608dd7e76ad46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527ceed8db416c" /><Relationship Type="http://schemas.openxmlformats.org/officeDocument/2006/relationships/notesMaster" Target="/ppt/notesMasters/notesMaster1.xml" Id="Rb285e32078254c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e13cbd4f4a4389" /><Relationship Type="http://schemas.openxmlformats.org/officeDocument/2006/relationships/notesMaster" Target="/ppt/notesMasters/notesMaster1.xml" Id="R71b26fa01dd048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ef53f6187e4178" /><Relationship Type="http://schemas.openxmlformats.org/officeDocument/2006/relationships/notesMaster" Target="/ppt/notesMasters/notesMaster1.xml" Id="R84e45e17f1c941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15abbe74ce455d" /><Relationship Type="http://schemas.openxmlformats.org/officeDocument/2006/relationships/notesMaster" Target="/ppt/notesMasters/notesMaster1.xml" Id="Ra10e58b01cf6415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af6c5e94e3480d" /><Relationship Type="http://schemas.openxmlformats.org/officeDocument/2006/relationships/notesMaster" Target="/ppt/notesMasters/notesMaster1.xml" Id="R451a79d3904e40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5d4037fb3f43d9" /><Relationship Type="http://schemas.openxmlformats.org/officeDocument/2006/relationships/notesMaster" Target="/ppt/notesMasters/notesMaster1.xml" Id="R1a2cba5edf354b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56cc55ad074a2d" /><Relationship Type="http://schemas.openxmlformats.org/officeDocument/2006/relationships/notesMaster" Target="/ppt/notesMasters/notesMaster1.xml" Id="R7a79d8d3684d4b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7da5cde68140de" /><Relationship Type="http://schemas.openxmlformats.org/officeDocument/2006/relationships/notesMaster" Target="/ppt/notesMasters/notesMaster1.xml" Id="Rc54257693b6341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442230f0cf42e6" /><Relationship Type="http://schemas.openxmlformats.org/officeDocument/2006/relationships/notesMaster" Target="/ppt/notesMasters/notesMaster1.xml" Id="R58fbd9684b73449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906da3bcce4dd4" /><Relationship Type="http://schemas.openxmlformats.org/officeDocument/2006/relationships/notesMaster" Target="/ppt/notesMasters/notesMaster1.xml" Id="R7b4a3d92e07945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e7e87c66484ada" /><Relationship Type="http://schemas.openxmlformats.org/officeDocument/2006/relationships/notesMaster" Target="/ppt/notesMasters/notesMaster1.xml" Id="R97137e46e1d043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fd711c5a0894d46" /><Relationship Type="http://schemas.openxmlformats.org/officeDocument/2006/relationships/notesMaster" Target="/ppt/notesMasters/notesMaster1.xml" Id="R710bba2f30144a3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3ebff26c9644d6a" /><Relationship Type="http://schemas.openxmlformats.org/officeDocument/2006/relationships/notesMaster" Target="/ppt/notesMasters/notesMaster1.xml" Id="R558569dcd9744b7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e064a83ee1f4d43" /><Relationship Type="http://schemas.openxmlformats.org/officeDocument/2006/relationships/notesMaster" Target="/ppt/notesMasters/notesMaster1.xml" Id="Ra3f585efac2b40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f6d9a4c47164c13" /><Relationship Type="http://schemas.openxmlformats.org/officeDocument/2006/relationships/notesMaster" Target="/ppt/notesMasters/notesMaster1.xml" Id="R8371299be6bf44c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a6e19fb4c054482" /><Relationship Type="http://schemas.openxmlformats.org/officeDocument/2006/relationships/notesMaster" Target="/ppt/notesMasters/notesMaster1.xml" Id="R473428c9453545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5322621f2f642b6" /><Relationship Type="http://schemas.openxmlformats.org/officeDocument/2006/relationships/notesMaster" Target="/ppt/notesMasters/notesMaster1.xml" Id="R8efe712faa54457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7bcce3fa5804197" /><Relationship Type="http://schemas.openxmlformats.org/officeDocument/2006/relationships/notesMaster" Target="/ppt/notesMasters/notesMaster1.xml" Id="Rb3e3b5ac6b2f4c1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b5182f17be948df" /><Relationship Type="http://schemas.openxmlformats.org/officeDocument/2006/relationships/notesMaster" Target="/ppt/notesMasters/notesMaster1.xml" Id="Rd6f169a889a04b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ea2187fabb4732" /><Relationship Type="http://schemas.openxmlformats.org/officeDocument/2006/relationships/notesMaster" Target="/ppt/notesMasters/notesMaster1.xml" Id="R7af38e911e7b452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154be7bdbe24ab7" /><Relationship Type="http://schemas.openxmlformats.org/officeDocument/2006/relationships/notesMaster" Target="/ppt/notesMasters/notesMaster1.xml" Id="Rcb2144992f0d4bc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7bd8b14570a4fd5" /><Relationship Type="http://schemas.openxmlformats.org/officeDocument/2006/relationships/notesMaster" Target="/ppt/notesMasters/notesMaster1.xml" Id="R98792ce9b0ae413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0d4c4e8979049fd" /><Relationship Type="http://schemas.openxmlformats.org/officeDocument/2006/relationships/notesMaster" Target="/ppt/notesMasters/notesMaster1.xml" Id="R0400a284a2dd4c3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a25b19ef60f47d1" /><Relationship Type="http://schemas.openxmlformats.org/officeDocument/2006/relationships/notesMaster" Target="/ppt/notesMasters/notesMaster1.xml" Id="R61877b941e15431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65978ff6b614f76" /><Relationship Type="http://schemas.openxmlformats.org/officeDocument/2006/relationships/notesMaster" Target="/ppt/notesMasters/notesMaster1.xml" Id="R313f087195dc4a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project framing: this is a SQL-first/API-verification agent for the DASHSys Systems Track, and the deck explains the evolution from prototype to optimized submission system. To open local code links during slideshow, click the blue file buttons exactly; normal slide clicks advance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workshop asks the agent to answer questions using only two tools: SQL and API calls. So the system has to decide when to check the local database, when to call Adobe APIs, and how to explain the answer. The score depends on both correctness and efficiency, so the system needs to be accurate without wasting tool calls or 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version was a useful skeleton. It could load the database, prepare API calls, route the question, and save logs. But it was still rough: SQL was often too simple, API calls were too generic, and answers were not always shaped to the question. It was like a student who knows where the textbook is, but not yet which chapter to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improved step by step. First I built the basic pipeline. Then I added templates so SQL and API calls became more reliable. Then I used failure analysis to fix the weakest examples. After that I added efficiency controls, architecture-inspired optimizations, NLP-style query understanding, and finally answer verification. Each pass fixed one clear weakness.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technique map. It connects project modules to known systems, compiler, NLP, and verification ideas so the professor can see the research framing.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Schema-guided planning: SQL/API templates. Simple explanation: Templates are safe forms for SQL and API calls; they keep the system from inventing random joins, columns, or endpoints. Step-by-step workflow: Read the question type. Pick the matching SQL/API template. Fill in known table, column, endpoint, and parameter names. Validate the SQL/API call. Send a safe structured plan forward. Mechanism: SQL/API templates. Technique used: Schema-guided planning — safe SQL/API patterns.. Modules: sql_templates.py, api_templates.py, planner.py. Benefit: Gives the system safe SQL/API patterns instead of letting it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Error-driven optimization: failure_analysis. Simple explanation: Failure analysis is the debugging loop: find the lowest-scoring examples and fix those reusable patterns first. Step-by-step workflow: Run evaluation. Find low-scoring examples. Label the failure type. Fix the reusable rule or template. Add a test so the same failure does not come back. Mechanism: failure_analysis. Technique used: Benchmark-guided debugging — fix weakest examples first.. Modules: failure_analysis.py, generate_failure_analysis.py. Benefit: Shows which examples failed and what to fix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Structured generation: answer_templates. Simple explanation: Answer templates make responses less vague by matching the answer format to the question. Step-by-step workflow: Collect SQL/API evidence. Identify the answer type. Choose the matching answer format. Fill the answer with evidence. Return a concise response. Mechanism: answer_templates. Technique used: Structured generation — use the right answer format.. Modules: answer_templates.py. Benefit: Uses the right answer format for count, list, status, and detail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Conditional execution: evidence_policy. Simple explanation: evidence_policy decides whether the system should call the API or whether SQL evidence is already enough. Step-by-step workflow: Check the query type. Decide API_REQUIRED, API_OPTIONAL, or API_SKIP. Keep required API calls. Limit optional API calls. Remove API calls that are not needed. Mechanism: evidence_policy. Technique used: Conditional execution — decide if API is needed.. Modules: evidence_policy.py. Benefit: Decides whether an API call is needed or can be skipped..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Resource scheduling: call_budget. Simple explanation: call_budget is a spending limit for tool calls, so the agent cannot keep calling SQL/API tools unnecessarily. Step-by-step workflow: Look at the draft plan. Count SQL and API calls. Apply the tool-call limit. Remove optional extra calls. Send a bounded plan forward. Mechanism: call_budget. Technique used: Tool-call budget — limit SQL/API spending.. Modules: call_budget.py. Benefit: Limits how many SQL/API calls the system can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Operand forwarding: EvidenceBus. Simple explanation: EvidenceBus passes exact results, such as IDs and counts, directly to later steps. Step-by-step workflow: Read SQL/API results. Extract names, IDs, counts, dates, and statuses. Store them as structured facts. Pass them to API templates or answer slots. Avoid re-reading messy text. Mechanism: EvidenceBus. Technique used: Operand forwarding — pass exact results forward.. Modules: evidence_bus.py, executor.py. Benefit: Carries useful facts from SQL/API results to later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decode: QueryAnalysis. Simple explanation: QueryAnalysis is the first serious understanding step: it decides what kind of question this is. Step-by-step workflow: Read the cleaned query and extracted tokens. Decide the domain and route type. Pick likely SQL/API templates. Estimate confidence. Share this analysis with planning and reporting. Mechanism: QueryAnalysis. Technique used: Shared query understanding — decide once and reuse.. Modules: query_analysis.py. Benefit: Understands the question once and shares that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Lookup-path prediction: LookupPathPredictor. Simple explanation: LookupPathPredictor is a map for the database and API, especially for relationship questions. Step-by-step workflow: Identify the query family. Pick the matching lookup path. List needed tables, joins, APIs, and IDs. Guide metadata selection. Avoid unrelated tables and endpoints. Mechanism: LookupPathPredictor. Technique used: Lookup-path prediction — like using a map for tables/APIs.. Modules: lookup_paths.py. Benefit: Acts like a map for finding the right tables and APIs..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Compiler optimization: PlanOptimizer. Simple explanation: PlanOptimizer cleans the to-do list before execution. Step-by-step workflow: Receive the draft plan. Remove duplicate calls. Remove API calls marked as skippable. Drop unresolved placeholders. Enforce the call budget. Output the cleaned plan. Mechanism: PlanOptimizer. Technique used: Plan cleanup — remove duplicate or unsafe calls.. Modules: plan_optimizer.py. Benefit: Cleans the plan before running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Multi-level caching: cache.py. Simple explanation: cache.py saves schema and API information the system already learned. Step-by-step workflow: Check memory cache. Check disk cache. Reuse fresh schema/API artifacts. Rebuild only if stale. Save time during query processing. Mechanism: cache.py. Technique used: Multi-level cache — reuse saved schema/API notes.. Modules: cache.py. Benefit: Reuses saved schema/API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packing: context_cards. Simple explanation: context_cards give the system only the information needed for this question family. Step-by-step workflow: Identify the query family. Pick the matching context card. Include only relevant tables, columns, APIs, and rules. Build compact metadata. Reduce prompt size. Mechanism: context_cards. Technique used: Context packing — give only relevant context.. Modules: context_cards.py, metadata_selector.py. Benefit: Gives only the relevant context, not the whole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cleaning: query_normalizer. Simple explanation: query_normalizer cleans the question text while keeping the original query for outputs. Step-by-step workflow: Keep the original query. Make a cleaned copy. Normalize spaces, quotes, hyphens, plurals, and synonyms. Use the cleaned version for matching. Improve robustness to wording differences. Mechanism: query_normalizer. Technique used: Query cleaning — make wording easier to match.. Modules: query_normalizer.py. Benefit: Cleans the wording of the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Tokenization and entity extraction: query_tokens. Simple explanation: query_tokens highlights the important names, IDs, dates, metrics, and statuses in the question. Step-by-step workflow: Read the cleaned query. Extract entity names. Extract IDs, dates, metrics, fields, and status words. Send tokens to routing and templates. Fill plans more accurately. Mechanism: query_tokens. Technique used: Entity extraction — pull out names, IDs, dates, metrics.. Modules: query_tokens.py. Benefit: Pulls out names, IDs, dates, metrics, and statuses..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Attention-style selection: relevance_scorer. Simple explanation: relevance_scorer helps the system focus on the most useful tables, columns, joins, and APIs. Step-by-step workflow: Compare query tokens with schema/API candidates. Score each candidate. Keep the highest-ranked context. Drop low-relevance context. Reduce noise and tokens. Mechanism: relevance_scorer. Technique used: Relevance ranking — focus on useful tables/APIs.. Modules: relevance_scorer.py. Benefit: Ranks which tables/APIs are most likely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Ensemble selection: plan_ensemble. Simple explanation: plan_ensemble checks a few possible routes, then runs only the best one. Step-by-step workflow: Generate cheap candidate plans. Score them before execution. Prefer valid, relevant, low-cost plans. Pick one plan. Execute only that plan. Mechanism: plan_ensemble. Technique used: Plan reranking — compare plans and run one.. Modules: plan_ensemble.py. Benefit: Compares possible plans and runs only the best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 extraction: answer_slots. Simple explanation: answer_slots turn raw SQL/API results into clean facts before writing the answer. Step-by-step workflow: Read tool results. Extract clean facts: name, ID, count, status, time, metric. Record dry-run and discrepancy flags. Use these facts as the answer source. Avoid unsupported values. Mechanism: answer_slots. Technique used: Evidence slots — turn raw results into clean facts.. Modules: answer_slots.py. Benefit: Turns raw results into clean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Intent-aware response shaping: answer_intent. Simple explanation: answer_intent decides whether the answer should be a number, list, date, status, or details. Step-by-step workflow: Read the question. Classify the expected answer type. Choose the answer shape. Make count questions start with counts. Make date questions start with dates or unavailable statements. Mechanism: answer_intent. Technique used: Answer intent — choose count/list/date/status shape.. Modules: answer_intent.py. Benefit: Decides whether the answer should be a count, list, date, or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Claim decomposition: answer_claims. Simple explanation: answer_claims split an answer into small facts so each one can be checked. Step-by-step workflow: Read a candidate answer. Break it into factual claims. Mark number, name, date, status, and API-confirmation claims. Send these claims to the verifier. Make the answer auditable. Mechanism: answer_claims. Technique used: Claim splitting — break answer into checkable facts.. Modules: answer_claims.py. Benefit: Breaks the answer into facts that can be checked..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Groundedness checking: answer_verifier. Simple explanation: answer_verifier is the fact-checker for the final answer. Step-by-step workflow: Compare claims with evidence slots. Reject unsupported names, numbers, dates, and statuses. If API was dry-run, require a caveat. If SQL and API disagree, mention the conflict. Rewrite unsafe answers. Mechanism: answer_verifier. Technique used: Answer fact-checking — verify claims against evidence.. Modules: answer_verifier.py. Benefit: Checks that the answer is supported by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Deterministic reranking: answer_reranker. Simple explanation: answer_reranker chooses the best answer from safe options without calling more tools. Step-by-step workflow: Create a few candidate answers from the same evidence. Verify each one. Score support, intent match, style, and brevity. Pick the best verifier-passing answer. Return one final answer. Mechanism: answer_reranker. Technique used: Safe answer selection — choose the best supported answer.. Modules: answer_reranker.py. Benefit: Chooses the best safe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Error observability: answer_diagnostics. Simple explanation: answer_diagnostics are debugging notes that explain why an answer passed or failed. Step-by-step workflow: Record answer family and intent. Record whether verification passed. Record unsupported claim count. Save diagnostics in trajectory.json. Use this later for failure analysis. Mechanism: answer_diagnostics. Technique used: Answer diagnostics — log why answers pass or fail.. Modules: answer_diagnostics.py, trajectory.py. Benefit: Logs why an answer passed or failed..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 project workflow Part A. It shows object transformations from RawQuery to ValidatedPlan. Steps: User asks a question. System cleans the wording. System extracts names, IDs, dates, metrics, and statuses. System decides the query type. System selects relevant tables and APIs. System creates a SQL/API plan. System removes unnecessary or unsafe calls. System validates the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 project workflow Part B. It shows execution, evidence forwarding, answer verification, and artifacts. Steps: System runs SQL and dry-run/live API. System collects evidence. System verifies the answer. System writes metadata.json, filled_system_prompt.txt, and trajectory.json. Evaluation checks correctness and efficiency.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through the Birthday Message trace. Question asks when Birthday Message was published. System extracts Birthday Message as the journey name. System checks local database table dim_campaign. SQL finds lastdeployedtime is null. System plans API call: GET /ajo/journey?filter=name==Birthday Message. Because credentials are unavailable, API call is dry-run only. The planned method, endpoint, and params are compared with public gold API. Answer verifier prevents saying that live API confirmed anything. Final answer says Birthday Message has not been published, and live API verification was not executed.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memory hierarchy analogy. L1 cache stores recent query analysis and template choices. L2 disk cache stores schema, join graph, endpoint catalog, and patterns. L3 local database stores DuckDB/parquet evidence. L4 Adobe API is the external live source. Artifact store saves metadata, prompt, trajectory, reports, and submission files. This reduces repeated work while keeping the system reproducible.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best strategy is SQL_FIRST_API_VERIFY. It gives the best balance between correctness and efficiency. The system is not perfect, especially on answer correctness, but it is compact, tested, and package-ready.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strong because it does not freely guess. It uses templates, validation, budgets, evidence forwarding, and answer checking. Every step is logged, so failures can be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risk is live Adobe API testing. Right now, API calls are mostly evaluated by dry-run planning. We still need credentials to test real API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to get Adobe credentials, run live API evaluation, inspect failures, improve response parsers, and finalize the paper and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story is simple: we built a controlled SQL-first/API-verifying agent. It improves correctness and efficiency by using safe templates, validation, compact context, evidence forwarding, and answer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is complete and reproducible. The main blocker is live API validation. I need feedback on the paper framing, live-eval priority, and whether the system explanation is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451f7f710e4311"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333e7747abe4a07" /><Relationship Type="http://schemas.openxmlformats.org/officeDocument/2006/relationships/slideLayout" Target="/ppt/slideLayouts/slideLayout2.xml" Id="Rdc8f8d9760604e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8f8d9760604e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04ec2e58499c4f87" /><Relationship Type="http://schemas.openxmlformats.org/officeDocument/2006/relationships/notesSlide" Target="/ppt/notesSlides/notesSlide1.xml" Id="Rebe682742d8e4e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712d749ea4a4e17" /><Relationship Type="http://schemas.openxmlformats.org/officeDocument/2006/relationships/notesSlide" Target="/ppt/notesSlides/notesSlide2.xml" Id="R32a83478f15f4e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bb616be949441de" /><Relationship Type="http://schemas.openxmlformats.org/officeDocument/2006/relationships/notesSlide" Target="/ppt/notesSlides/notesSlide3.xml" Id="Rfb0e1bedc5264c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e13211c2e9a47c2" /><Relationship Type="http://schemas.openxmlformats.org/officeDocument/2006/relationships/notesSlide" Target="/ppt/notesSlides/notesSlide4.xml" Id="R8c2e482c0a3249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5c3d5ef0c9b4acb" /><Relationship Type="http://schemas.openxmlformats.org/officeDocument/2006/relationships/notesSlide" Target="/ppt/notesSlides/notesSlide5.xml" Id="Rf872a84708ef469b" /></Relationships>
</file>

<file path=ppt/slides/_rels/slide6.xml.rels><?xml version="1.0" encoding="utf-8"?><Relationships xmlns="http://schemas.openxmlformats.org/package/2006/relationships"><Relationship Type="http://schemas.openxmlformats.org/officeDocument/2006/relationships/slideLayout" Target="/ppt/slideLayouts/slideLayout2.xml" Id="R37a0246b48334d2e" /><Relationship Type="http://schemas.openxmlformats.org/officeDocument/2006/relationships/image" Target="/ppt/media/image.png" Id="R51b3e11f4c1445cf" /><Relationship Type="http://schemas.openxmlformats.org/officeDocument/2006/relationships/notesSlide" Target="/ppt/notesSlides/notesSlide6.xml" Id="R8f440fd319674640" /><Relationship Type="http://schemas.openxmlformats.org/officeDocument/2006/relationships/hyperlink" Target="file:///Users/tanqinyang/Desktop/dashsys-workshop-vldb/dashagent/sql_templates.py" Id="rIdModuleLink4" TargetMode="External" /><Relationship Type="http://schemas.openxmlformats.org/officeDocument/2006/relationships/hyperlink" Target="file:///Users/tanqinyang/Desktop/dashsys-workshop-vldb/dashagent/api_templates.py" Id="rIdModuleLink5" TargetMode="External" /><Relationship Type="http://schemas.openxmlformats.org/officeDocument/2006/relationships/hyperlink" Target="file:///Users/tanqinyang/Desktop/dashsys-workshop-vldb/dashagent/planner.py" Id="rIdModuleLink6" TargetMode="External" /></Relationships>
</file>

<file path=ppt/slides/_rels/slide7.xml.rels><?xml version="1.0" encoding="utf-8"?><Relationships xmlns="http://schemas.openxmlformats.org/package/2006/relationships"><Relationship Type="http://schemas.openxmlformats.org/officeDocument/2006/relationships/slideLayout" Target="/ppt/slideLayouts/slideLayout2.xml" Id="Rc2174c60d5794d39" /><Relationship Type="http://schemas.openxmlformats.org/officeDocument/2006/relationships/image" Target="/ppt/media/image2.png" Id="R9dfc895f9f0e4983" /><Relationship Type="http://schemas.openxmlformats.org/officeDocument/2006/relationships/notesSlide" Target="/ppt/notesSlides/notesSlide7.xml" Id="R6fce8888324645cd" /><Relationship Type="http://schemas.openxmlformats.org/officeDocument/2006/relationships/hyperlink" Target="file:///Users/tanqinyang/Desktop/dashsys-workshop-vldb/dashagent/failure_analysis.py" Id="rIdModuleLink4" TargetMode="External" /><Relationship Type="http://schemas.openxmlformats.org/officeDocument/2006/relationships/hyperlink" Target="file:///Users/tanqinyang/Desktop/dashsys-workshop-vldb/scripts/generate_failure_analysis.py" Id="rIdModuleLink5" TargetMode="External" /></Relationships>
</file>

<file path=ppt/slides/_rels/slide8.xml.rels><?xml version="1.0" encoding="utf-8"?><Relationships xmlns="http://schemas.openxmlformats.org/package/2006/relationships"><Relationship Type="http://schemas.openxmlformats.org/officeDocument/2006/relationships/slideLayout" Target="/ppt/slideLayouts/slideLayout2.xml" Id="R9ef14daeb06c4712" /><Relationship Type="http://schemas.openxmlformats.org/officeDocument/2006/relationships/image" Target="/ppt/media/image3.png" Id="Rd3363309924646b2" /><Relationship Type="http://schemas.openxmlformats.org/officeDocument/2006/relationships/notesSlide" Target="/ppt/notesSlides/notesSlide8.xml" Id="Red9ba5ed35f44c94" /><Relationship Type="http://schemas.openxmlformats.org/officeDocument/2006/relationships/hyperlink" Target="file:///Users/tanqinyang/Desktop/dashsys-workshop-vldb/dashagent/answer_templates.py" Id="rIdModuleLink4" TargetMode="External" /></Relationships>
</file>

<file path=ppt/slides/_rels/slide9.xml.rels><?xml version="1.0" encoding="utf-8"?><Relationships xmlns="http://schemas.openxmlformats.org/package/2006/relationships"><Relationship Type="http://schemas.openxmlformats.org/officeDocument/2006/relationships/slideLayout" Target="/ppt/slideLayouts/slideLayout2.xml" Id="R73fd7dc8fb0448bb" /><Relationship Type="http://schemas.openxmlformats.org/officeDocument/2006/relationships/image" Target="/ppt/media/image4.png" Id="R79467e32509e4c2e" /><Relationship Type="http://schemas.openxmlformats.org/officeDocument/2006/relationships/notesSlide" Target="/ppt/notesSlides/notesSlide9.xml" Id="R6369351d6f0c4a75" /><Relationship Type="http://schemas.openxmlformats.org/officeDocument/2006/relationships/hyperlink" Target="file:///Users/tanqinyang/Desktop/dashsys-workshop-vldb/dashagent/evidence_policy.py" Id="rIdModuleLink4" TargetMode="External" /></Relationships>
</file>

<file path=ppt/slides/_rels/slide10.xml.rels><?xml version="1.0" encoding="utf-8"?><Relationships xmlns="http://schemas.openxmlformats.org/package/2006/relationships"><Relationship Type="http://schemas.openxmlformats.org/officeDocument/2006/relationships/slideLayout" Target="/ppt/slideLayouts/slideLayout2.xml" Id="R69b007ec2dcb4fdc" /><Relationship Type="http://schemas.openxmlformats.org/officeDocument/2006/relationships/image" Target="/ppt/media/image5.png" Id="R2be55f49f86e436b" /><Relationship Type="http://schemas.openxmlformats.org/officeDocument/2006/relationships/notesSlide" Target="/ppt/notesSlides/notesSlide10.xml" Id="Ra7652130bdca40d6" /><Relationship Type="http://schemas.openxmlformats.org/officeDocument/2006/relationships/hyperlink" Target="file:///Users/tanqinyang/Desktop/dashsys-workshop-vldb/dashagent/call_budget.py" Id="rIdModuleLink4" TargetMode="External" /></Relationships>
</file>

<file path=ppt/slides/_rels/slide11.xml.rels><?xml version="1.0" encoding="utf-8"?><Relationships xmlns="http://schemas.openxmlformats.org/package/2006/relationships"><Relationship Type="http://schemas.openxmlformats.org/officeDocument/2006/relationships/slideLayout" Target="/ppt/slideLayouts/slideLayout2.xml" Id="Rb8740849bc0c4026" /><Relationship Type="http://schemas.openxmlformats.org/officeDocument/2006/relationships/image" Target="/ppt/media/image6.png" Id="R704c6cd43e2e4731" /><Relationship Type="http://schemas.openxmlformats.org/officeDocument/2006/relationships/notesSlide" Target="/ppt/notesSlides/notesSlide11.xml" Id="Rc6d8e60a80c54bdf" /><Relationship Type="http://schemas.openxmlformats.org/officeDocument/2006/relationships/hyperlink" Target="file:///Users/tanqinyang/Desktop/dashsys-workshop-vldb/dashagent/evidence_bus.py" Id="rIdModuleLink4" TargetMode="External" /><Relationship Type="http://schemas.openxmlformats.org/officeDocument/2006/relationships/hyperlink" Target="file:///Users/tanqinyang/Desktop/dashsys-workshop-vldb/dashagent/executor.py" Id="rIdModuleLink5" TargetMode="External" /></Relationships>
</file>

<file path=ppt/slides/_rels/slide12.xml.rels><?xml version="1.0" encoding="utf-8"?><Relationships xmlns="http://schemas.openxmlformats.org/package/2006/relationships"><Relationship Type="http://schemas.openxmlformats.org/officeDocument/2006/relationships/slideLayout" Target="/ppt/slideLayouts/slideLayout2.xml" Id="R08f6eca56cec4a99" /><Relationship Type="http://schemas.openxmlformats.org/officeDocument/2006/relationships/image" Target="/ppt/media/image7.png" Id="R8afef477e972449c" /><Relationship Type="http://schemas.openxmlformats.org/officeDocument/2006/relationships/notesSlide" Target="/ppt/notesSlides/notesSlide12.xml" Id="R34fda145d4b14dba" /><Relationship Type="http://schemas.openxmlformats.org/officeDocument/2006/relationships/hyperlink" Target="file:///Users/tanqinyang/Desktop/dashsys-workshop-vldb/dashagent/query_analysis.py" Id="rIdModuleLink4" TargetMode="External" /></Relationships>
</file>

<file path=ppt/slides/_rels/slide13.xml.rels><?xml version="1.0" encoding="utf-8"?><Relationships xmlns="http://schemas.openxmlformats.org/package/2006/relationships"><Relationship Type="http://schemas.openxmlformats.org/officeDocument/2006/relationships/slideLayout" Target="/ppt/slideLayouts/slideLayout2.xml" Id="R5d487bf562c14048" /><Relationship Type="http://schemas.openxmlformats.org/officeDocument/2006/relationships/image" Target="/ppt/media/image8.png" Id="R7a924f874c904344" /><Relationship Type="http://schemas.openxmlformats.org/officeDocument/2006/relationships/notesSlide" Target="/ppt/notesSlides/notesSlide13.xml" Id="R62f347abb85e4436" /><Relationship Type="http://schemas.openxmlformats.org/officeDocument/2006/relationships/hyperlink" Target="file:///Users/tanqinyang/Desktop/dashsys-workshop-vldb/dashagent/lookup_paths.py" Id="rIdModuleLink4" TargetMode="External" /></Relationships>
</file>

<file path=ppt/slides/_rels/slide14.xml.rels><?xml version="1.0" encoding="utf-8"?><Relationships xmlns="http://schemas.openxmlformats.org/package/2006/relationships"><Relationship Type="http://schemas.openxmlformats.org/officeDocument/2006/relationships/slideLayout" Target="/ppt/slideLayouts/slideLayout2.xml" Id="Rba6b2aea1e8d4eac" /><Relationship Type="http://schemas.openxmlformats.org/officeDocument/2006/relationships/image" Target="/ppt/media/image9.png" Id="Rafe6fd96b978469d" /><Relationship Type="http://schemas.openxmlformats.org/officeDocument/2006/relationships/notesSlide" Target="/ppt/notesSlides/notesSlide14.xml" Id="Ra1a3d9f37e6d4e52" /><Relationship Type="http://schemas.openxmlformats.org/officeDocument/2006/relationships/hyperlink" Target="file:///Users/tanqinyang/Desktop/dashsys-workshop-vldb/dashagent/plan_optimizer.py" Id="rIdModuleLink4" TargetMode="External" /></Relationships>
</file>

<file path=ppt/slides/_rels/slide15.xml.rels><?xml version="1.0" encoding="utf-8"?><Relationships xmlns="http://schemas.openxmlformats.org/package/2006/relationships"><Relationship Type="http://schemas.openxmlformats.org/officeDocument/2006/relationships/slideLayout" Target="/ppt/slideLayouts/slideLayout2.xml" Id="Rf1e559fedbb144b8" /><Relationship Type="http://schemas.openxmlformats.org/officeDocument/2006/relationships/image" Target="/ppt/media/image10.png" Id="Rd6ceeb9fff6d4c3e" /><Relationship Type="http://schemas.openxmlformats.org/officeDocument/2006/relationships/notesSlide" Target="/ppt/notesSlides/notesSlide15.xml" Id="Rb9856f319b1644eb" /><Relationship Type="http://schemas.openxmlformats.org/officeDocument/2006/relationships/hyperlink" Target="file:///Users/tanqinyang/Desktop/dashsys-workshop-vldb/dashagent/cache.py" Id="rIdModuleLink4" TargetMode="External" /></Relationships>
</file>

<file path=ppt/slides/_rels/slide16.xml.rels><?xml version="1.0" encoding="utf-8"?><Relationships xmlns="http://schemas.openxmlformats.org/package/2006/relationships"><Relationship Type="http://schemas.openxmlformats.org/officeDocument/2006/relationships/slideLayout" Target="/ppt/slideLayouts/slideLayout2.xml" Id="Rbedc14eabc1c41ab" /><Relationship Type="http://schemas.openxmlformats.org/officeDocument/2006/relationships/image" Target="/ppt/media/image11.png" Id="R2478548c87de4026" /><Relationship Type="http://schemas.openxmlformats.org/officeDocument/2006/relationships/notesSlide" Target="/ppt/notesSlides/notesSlide16.xml" Id="R4aae7c10bbf24656" /><Relationship Type="http://schemas.openxmlformats.org/officeDocument/2006/relationships/hyperlink" Target="file:///Users/tanqinyang/Desktop/dashsys-workshop-vldb/dashagent/context_cards.py" Id="rIdModuleLink4" TargetMode="External" /><Relationship Type="http://schemas.openxmlformats.org/officeDocument/2006/relationships/hyperlink" Target="file:///Users/tanqinyang/Desktop/dashsys-workshop-vldb/dashagent/metadata_selector.py" Id="rIdModuleLink5" TargetMode="External" /></Relationships>
</file>

<file path=ppt/slides/_rels/slide17.xml.rels><?xml version="1.0" encoding="utf-8"?><Relationships xmlns="http://schemas.openxmlformats.org/package/2006/relationships"><Relationship Type="http://schemas.openxmlformats.org/officeDocument/2006/relationships/slideLayout" Target="/ppt/slideLayouts/slideLayout2.xml" Id="R4e0fbefe8462487b" /><Relationship Type="http://schemas.openxmlformats.org/officeDocument/2006/relationships/image" Target="/ppt/media/image12.png" Id="R16c7c370ec074935" /><Relationship Type="http://schemas.openxmlformats.org/officeDocument/2006/relationships/notesSlide" Target="/ppt/notesSlides/notesSlide17.xml" Id="Rdb9b717a22ea4dc8" /><Relationship Type="http://schemas.openxmlformats.org/officeDocument/2006/relationships/hyperlink" Target="file:///Users/tanqinyang/Desktop/dashsys-workshop-vldb/dashagent/query_normalizer.py" Id="rIdModuleLink4" TargetMode="External" /></Relationships>
</file>

<file path=ppt/slides/_rels/slide18.xml.rels><?xml version="1.0" encoding="utf-8"?><Relationships xmlns="http://schemas.openxmlformats.org/package/2006/relationships"><Relationship Type="http://schemas.openxmlformats.org/officeDocument/2006/relationships/slideLayout" Target="/ppt/slideLayouts/slideLayout2.xml" Id="R44ae265341754423" /><Relationship Type="http://schemas.openxmlformats.org/officeDocument/2006/relationships/image" Target="/ppt/media/image13.png" Id="R6b2df64dd3404f22" /><Relationship Type="http://schemas.openxmlformats.org/officeDocument/2006/relationships/notesSlide" Target="/ppt/notesSlides/notesSlide18.xml" Id="Rc68897a53ff84f10" /><Relationship Type="http://schemas.openxmlformats.org/officeDocument/2006/relationships/hyperlink" Target="file:///Users/tanqinyang/Desktop/dashsys-workshop-vldb/dashagent/query_tokens.py" Id="rIdModuleLink4" TargetMode="External" /></Relationships>
</file>

<file path=ppt/slides/_rels/slide19.xml.rels><?xml version="1.0" encoding="utf-8"?><Relationships xmlns="http://schemas.openxmlformats.org/package/2006/relationships"><Relationship Type="http://schemas.openxmlformats.org/officeDocument/2006/relationships/slideLayout" Target="/ppt/slideLayouts/slideLayout2.xml" Id="Rb3ba32af892f4e97" /><Relationship Type="http://schemas.openxmlformats.org/officeDocument/2006/relationships/image" Target="/ppt/media/image14.png" Id="Rd8491cdb69c442ca" /><Relationship Type="http://schemas.openxmlformats.org/officeDocument/2006/relationships/notesSlide" Target="/ppt/notesSlides/notesSlide19.xml" Id="Rec160a1592f048a0" /><Relationship Type="http://schemas.openxmlformats.org/officeDocument/2006/relationships/hyperlink" Target="file:///Users/tanqinyang/Desktop/dashsys-workshop-vldb/dashagent/relevance_scorer.py" Id="rIdModuleLink4" TargetMode="External" /></Relationships>
</file>

<file path=ppt/slides/_rels/slide20.xml.rels><?xml version="1.0" encoding="utf-8"?><Relationships xmlns="http://schemas.openxmlformats.org/package/2006/relationships"><Relationship Type="http://schemas.openxmlformats.org/officeDocument/2006/relationships/slideLayout" Target="/ppt/slideLayouts/slideLayout2.xml" Id="R5d4631a776ac4952" /><Relationship Type="http://schemas.openxmlformats.org/officeDocument/2006/relationships/image" Target="/ppt/media/image15.png" Id="Rda0d8ae4bc8f4805" /><Relationship Type="http://schemas.openxmlformats.org/officeDocument/2006/relationships/notesSlide" Target="/ppt/notesSlides/notesSlide20.xml" Id="R1164eed540d44475" /><Relationship Type="http://schemas.openxmlformats.org/officeDocument/2006/relationships/hyperlink" Target="file:///Users/tanqinyang/Desktop/dashsys-workshop-vldb/dashagent/plan_ensemble.py" Id="rIdModuleLink4" TargetMode="External" /></Relationships>
</file>

<file path=ppt/slides/_rels/slide21.xml.rels><?xml version="1.0" encoding="utf-8"?><Relationships xmlns="http://schemas.openxmlformats.org/package/2006/relationships"><Relationship Type="http://schemas.openxmlformats.org/officeDocument/2006/relationships/slideLayout" Target="/ppt/slideLayouts/slideLayout2.xml" Id="Rd456a071c0ee4d53" /><Relationship Type="http://schemas.openxmlformats.org/officeDocument/2006/relationships/image" Target="/ppt/media/image16.png" Id="R89fb6fe28bdf4049" /><Relationship Type="http://schemas.openxmlformats.org/officeDocument/2006/relationships/notesSlide" Target="/ppt/notesSlides/notesSlide21.xml" Id="R2032c8ce5152441e" /><Relationship Type="http://schemas.openxmlformats.org/officeDocument/2006/relationships/hyperlink" Target="file:///Users/tanqinyang/Desktop/dashsys-workshop-vldb/dashagent/answer_slots.py" Id="rIdModuleLink4" TargetMode="External" /></Relationships>
</file>

<file path=ppt/slides/_rels/slide22.xml.rels><?xml version="1.0" encoding="utf-8"?><Relationships xmlns="http://schemas.openxmlformats.org/package/2006/relationships"><Relationship Type="http://schemas.openxmlformats.org/officeDocument/2006/relationships/slideLayout" Target="/ppt/slideLayouts/slideLayout2.xml" Id="R80eadbd6852d4cf2" /><Relationship Type="http://schemas.openxmlformats.org/officeDocument/2006/relationships/image" Target="/ppt/media/image17.png" Id="R01d134cdf8534a68" /><Relationship Type="http://schemas.openxmlformats.org/officeDocument/2006/relationships/notesSlide" Target="/ppt/notesSlides/notesSlide22.xml" Id="R6b0572277e634be4" /><Relationship Type="http://schemas.openxmlformats.org/officeDocument/2006/relationships/hyperlink" Target="file:///Users/tanqinyang/Desktop/dashsys-workshop-vldb/dashagent/answer_intent.py" Id="rIdModuleLink4" TargetMode="External" /></Relationships>
</file>

<file path=ppt/slides/_rels/slide23.xml.rels><?xml version="1.0" encoding="utf-8"?><Relationships xmlns="http://schemas.openxmlformats.org/package/2006/relationships"><Relationship Type="http://schemas.openxmlformats.org/officeDocument/2006/relationships/slideLayout" Target="/ppt/slideLayouts/slideLayout2.xml" Id="Rb0875e5acdd343a7" /><Relationship Type="http://schemas.openxmlformats.org/officeDocument/2006/relationships/image" Target="/ppt/media/image18.png" Id="R99afffc2aacf4e10" /><Relationship Type="http://schemas.openxmlformats.org/officeDocument/2006/relationships/notesSlide" Target="/ppt/notesSlides/notesSlide23.xml" Id="R42f82365d0144f0f" /><Relationship Type="http://schemas.openxmlformats.org/officeDocument/2006/relationships/hyperlink" Target="file:///Users/tanqinyang/Desktop/dashsys-workshop-vldb/dashagent/answer_claims.py" Id="rIdModuleLink4" TargetMode="External" /></Relationships>
</file>

<file path=ppt/slides/_rels/slide24.xml.rels><?xml version="1.0" encoding="utf-8"?><Relationships xmlns="http://schemas.openxmlformats.org/package/2006/relationships"><Relationship Type="http://schemas.openxmlformats.org/officeDocument/2006/relationships/slideLayout" Target="/ppt/slideLayouts/slideLayout2.xml" Id="Rd349e395ed40498a" /><Relationship Type="http://schemas.openxmlformats.org/officeDocument/2006/relationships/image" Target="/ppt/media/image19.png" Id="Rc7f3d7af85ac4a25" /><Relationship Type="http://schemas.openxmlformats.org/officeDocument/2006/relationships/notesSlide" Target="/ppt/notesSlides/notesSlide24.xml" Id="Rd48b10ba30e94b63" /><Relationship Type="http://schemas.openxmlformats.org/officeDocument/2006/relationships/hyperlink" Target="file:///Users/tanqinyang/Desktop/dashsys-workshop-vldb/dashagent/answer_verifier.py" Id="rIdModuleLink4" TargetMode="External" /></Relationships>
</file>

<file path=ppt/slides/_rels/slide25.xml.rels><?xml version="1.0" encoding="utf-8"?><Relationships xmlns="http://schemas.openxmlformats.org/package/2006/relationships"><Relationship Type="http://schemas.openxmlformats.org/officeDocument/2006/relationships/slideLayout" Target="/ppt/slideLayouts/slideLayout2.xml" Id="R4c9ba53fbb72489c" /><Relationship Type="http://schemas.openxmlformats.org/officeDocument/2006/relationships/image" Target="/ppt/media/image20.png" Id="R447d8711631c42f8" /><Relationship Type="http://schemas.openxmlformats.org/officeDocument/2006/relationships/notesSlide" Target="/ppt/notesSlides/notesSlide25.xml" Id="Ra8583886801d4c6c" /><Relationship Type="http://schemas.openxmlformats.org/officeDocument/2006/relationships/hyperlink" Target="file:///Users/tanqinyang/Desktop/dashsys-workshop-vldb/dashagent/answer_reranker.py" Id="rIdModuleLink4" TargetMode="External" /></Relationships>
</file>

<file path=ppt/slides/_rels/slide26.xml.rels><?xml version="1.0" encoding="utf-8"?><Relationships xmlns="http://schemas.openxmlformats.org/package/2006/relationships"><Relationship Type="http://schemas.openxmlformats.org/officeDocument/2006/relationships/slideLayout" Target="/ppt/slideLayouts/slideLayout2.xml" Id="R5b5b1a7e5b644606" /><Relationship Type="http://schemas.openxmlformats.org/officeDocument/2006/relationships/image" Target="/ppt/media/image21.png" Id="Rdf1b7c0ec0844906" /><Relationship Type="http://schemas.openxmlformats.org/officeDocument/2006/relationships/notesSlide" Target="/ppt/notesSlides/notesSlide26.xml" Id="R0ff0bbf5eef2426b" /><Relationship Type="http://schemas.openxmlformats.org/officeDocument/2006/relationships/hyperlink" Target="file:///Users/tanqinyang/Desktop/dashsys-workshop-vldb/dashagent/answer_diagnostics.py" Id="rIdModuleLink4" TargetMode="External" /><Relationship Type="http://schemas.openxmlformats.org/officeDocument/2006/relationships/hyperlink" Target="file:///Users/tanqinyang/Desktop/dashsys-workshop-vldb/dashagent/trajectory.py" Id="rIdModuleLink5" TargetMode="External"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076ce254b3fa4972" /><Relationship Type="http://schemas.openxmlformats.org/officeDocument/2006/relationships/image" Target="/ppt/media/image22.png" Id="R3c48978fd98c40a6" /><Relationship Type="http://schemas.openxmlformats.org/officeDocument/2006/relationships/notesSlide" Target="/ppt/notesSlides/notesSlide27.xml" Id="R3762f0a01d434d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9e25e6e86874181" /><Relationship Type="http://schemas.openxmlformats.org/officeDocument/2006/relationships/image" Target="/ppt/media/image23.png" Id="R5526914363524f5b" /><Relationship Type="http://schemas.openxmlformats.org/officeDocument/2006/relationships/notesSlide" Target="/ppt/notesSlides/notesSlide28.xml" Id="Ra6d34093ee6f4a8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cc4335e2a25d4e2e" /><Relationship Type="http://schemas.openxmlformats.org/officeDocument/2006/relationships/image" Target="/ppt/media/image24.png" Id="Ra787f9aa79f9410d" /><Relationship Type="http://schemas.openxmlformats.org/officeDocument/2006/relationships/notesSlide" Target="/ppt/notesSlides/notesSlide29.xml" Id="Ra97b7f757924481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636a1e1eaa664927" /><Relationship Type="http://schemas.openxmlformats.org/officeDocument/2006/relationships/image" Target="/ppt/media/image25.png" Id="R8bf2b902c8794b2c" /><Relationship Type="http://schemas.openxmlformats.org/officeDocument/2006/relationships/notesSlide" Target="/ppt/notesSlides/notesSlide30.xml" Id="R2fd312709321436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1db6cdf79784db8" /><Relationship Type="http://schemas.openxmlformats.org/officeDocument/2006/relationships/notesSlide" Target="/ppt/notesSlides/notesSlide31.xml" Id="R6156dcc9ef3342f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17d6044ea0e474e" /><Relationship Type="http://schemas.openxmlformats.org/officeDocument/2006/relationships/notesSlide" Target="/ppt/notesSlides/notesSlide32.xml" Id="R0cde4efdd3db4ed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49dab09c099e4854" /><Relationship Type="http://schemas.openxmlformats.org/officeDocument/2006/relationships/notesSlide" Target="/ppt/notesSlides/notesSlide33.xml" Id="Rd8f5f9cabaf74fb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366092e9c03a48db" /><Relationship Type="http://schemas.openxmlformats.org/officeDocument/2006/relationships/notesSlide" Target="/ppt/notesSlides/notesSlide34.xml" Id="R6a4d97b55177486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eee24733805e4e51" /><Relationship Type="http://schemas.openxmlformats.org/officeDocument/2006/relationships/notesSlide" Target="/ppt/notesSlides/notesSlide35.xml" Id="R535d1af96af448e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80d5caead6c47f1" /><Relationship Type="http://schemas.openxmlformats.org/officeDocument/2006/relationships/notesSlide" Target="/ppt/notesSlides/notesSlide36.xml" Id="R6e0898637bef4461" /></Relationships>
</file>

<file path=ppt/slides/slide1.xml><?xml version="1.0" encoding="utf-8"?>
<p:sld xmlns:p="http://schemas.openxmlformats.org/presentationml/2006/main">
  <p:cSld>
    <p:bg>
      <p:bgPr>
        <a:solidFill xmlns:a="http://schemas.openxmlformats.org/drawingml/2006/main">
          <a:srgbClr val="0E2A4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7A5367-DC16-41C0-B697-172696C9B1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058BC97-282E-4B01-8227-1817DA847B5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995C4FA-EE2C-4A2D-8550-303162097C2F}"/>
              </a:ext>
            </a:extLst>
          </p:cNvPr>
          <p:cNvSpPr>
            <a:spLocks xmlns:a="http://schemas.openxmlformats.org/drawingml/2006/main" noGrp="1"/>
          </p:cNvSpPr>
          <p:nvPr/>
        </p:nvSpPr>
        <p:spPr>
          <a:xfrm xmlns:a="http://schemas.openxmlformats.org/drawingml/2006/main">
            <a:off x="723900" y="1066800"/>
            <a:ext cx="9334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DASHSys Systems Track Agent</a:t>
            </a:r>
          </a:p>
        </p:txBody>
      </p:sp>
      <p:sp>
        <p:nvSpPr>
          <p:cNvPr id="4" name="">
            <a:extLst xmlns:a="http://schemas.openxmlformats.org/drawingml/2006/main">
              <a:ext uri="{FF2B5EF4-FFF2-40B4-BE49-F238E27FC236}">
                <a16:creationId xmlns:a16="http://schemas.microsoft.com/office/drawing/2014/main" id="{016DBACE-94AF-4083-9C95-549A814D5982}"/>
              </a:ext>
            </a:extLst>
          </p:cNvPr>
          <p:cNvSpPr>
            <a:spLocks xmlns:a="http://schemas.openxmlformats.org/drawingml/2006/main" noGrp="1"/>
          </p:cNvSpPr>
          <p:nvPr/>
        </p:nvSpPr>
        <p:spPr>
          <a:xfrm xmlns:a="http://schemas.openxmlformats.org/drawingml/2006/main">
            <a:off x="723900" y="165735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CFE8F3"/>
                </a:solidFill>
                <a:latin typeface="Aptos"/>
                <a:ea typeface="Aptos"/>
                <a:cs typeface="Aptos"/>
              </a:defRPr>
            </a:pPr>
            <a:r>
              <a:rPr sz="1950" b="1">
                <a:solidFill>
                  <a:srgbClr val="CFE8F3"/>
                </a:solidFill>
                <a:latin typeface="Aptos"/>
                <a:ea typeface="Aptos"/>
                <a:cs typeface="Aptos"/>
              </a:rPr>
              <a:t>Progress and Optimization Report</a:t>
            </a:r>
          </a:p>
        </p:txBody>
      </p:sp>
      <p:sp>
        <p:nvSpPr>
          <p:cNvPr id="5" name="">
            <a:extLst xmlns:a="http://schemas.openxmlformats.org/drawingml/2006/main">
              <a:ext uri="{FF2B5EF4-FFF2-40B4-BE49-F238E27FC236}">
                <a16:creationId xmlns:a16="http://schemas.microsoft.com/office/drawing/2014/main" id="{4AD1CDE0-226E-4E77-8C8A-CCD9951C0FF7}"/>
              </a:ext>
            </a:extLst>
          </p:cNvPr>
          <p:cNvSpPr>
            <a:spLocks xmlns:a="http://schemas.openxmlformats.org/drawingml/2006/main" noGrp="1"/>
          </p:cNvSpPr>
          <p:nvPr/>
        </p:nvSpPr>
        <p:spPr>
          <a:xfrm xmlns:a="http://schemas.openxmlformats.org/drawingml/2006/main">
            <a:off x="723900" y="2324100"/>
            <a:ext cx="8191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E8F2F8"/>
                </a:solidFill>
                <a:latin typeface="Aptos"/>
                <a:ea typeface="Aptos"/>
                <a:cs typeface="Aptos"/>
              </a:defRPr>
            </a:pPr>
            <a:r>
              <a:rPr sz="1500" b="0">
                <a:solidFill>
                  <a:srgbClr val="E8F2F8"/>
                </a:solidFill>
                <a:latin typeface="Aptos"/>
                <a:ea typeface="Aptos"/>
                <a:cs typeface="Aptos"/>
              </a:rPr>
              <a:t>SQL-first/API-verification agent for data-centric question answering</a:t>
            </a:r>
          </a:p>
        </p:txBody>
      </p:sp>
      <p:sp>
        <p:nvSpPr>
          <p:cNvPr id="6" name="">
            <a:extLst xmlns:a="http://schemas.openxmlformats.org/drawingml/2006/main">
              <a:ext uri="{FF2B5EF4-FFF2-40B4-BE49-F238E27FC236}">
                <a16:creationId xmlns:a16="http://schemas.microsoft.com/office/drawing/2014/main" id="{B7BB9A78-833D-4578-A75D-B8B093520E07}"/>
              </a:ext>
            </a:extLst>
          </p:cNvPr>
          <p:cNvSpPr>
            <a:spLocks xmlns:a="http://schemas.openxmlformats.org/drawingml/2006/main" noGrp="1"/>
          </p:cNvSpPr>
          <p:nvPr/>
        </p:nvSpPr>
        <p:spPr>
          <a:xfrm xmlns:a="http://schemas.openxmlformats.org/drawingml/2006/main">
            <a:off x="723900" y="5162550"/>
            <a:ext cx="8858250" cy="438150"/>
          </a:xfrm>
          <a:prstGeom xmlns:a="http://schemas.openxmlformats.org/drawingml/2006/main" prst="roundRect">
            <a:avLst>
              <a:gd name="adj" fmla="val 17391"/>
            </a:avLst>
          </a:prstGeom>
          <a:solidFill xmlns:a="http://schemas.openxmlformats.org/drawingml/2006/main">
            <a:srgbClr val="0B3D61"/>
          </a:solidFill>
          <a:ln xmlns:a="http://schemas.openxmlformats.org/drawingml/2006/main" w="11430">
            <a:solidFill>
              <a:srgbClr val="0B8F8A"/>
            </a:solidFill>
            <a:prstDash val="solid"/>
          </a:ln>
        </p:spPr>
        <p:txBody>
          <a:bodyPr xmlns:a="http://schemas.openxmlformats.org/drawingml/2006/main" lIns="171450" tIns="66675" rIns="171450" bIns="66675" anchor="ctr"/>
          <a:lstStyle xmlns:a="http://schemas.openxmlformats.org/drawingml/2006/main"/>
          <a:p xmlns:a="http://schemas.openxmlformats.org/drawingml/2006/main">
            <a:pPr algn="l">
              <a:defRPr sz="1065" b="1">
                <a:solidFill>
                  <a:srgbClr val="E8F2F8"/>
                </a:solidFill>
                <a:latin typeface="Aptos"/>
                <a:ea typeface="Aptos"/>
                <a:cs typeface="Aptos"/>
              </a:defRPr>
            </a:pPr>
            <a:r>
              <a:rPr sz="1065" b="1">
                <a:solidFill>
                  <a:srgbClr val="E8F2F8"/>
                </a:solidFill>
                <a:latin typeface="Aptos"/>
                <a:ea typeface="Aptos"/>
                <a:cs typeface="Aptos"/>
              </a:rPr>
              <a:t>To open local code links during slideshow, click the blue file buttons exactly; normal slide clicks advance the deck.</a:t>
            </a:r>
          </a:p>
        </p:txBody>
      </p:sp>
      <p:sp>
        <p:nvSpPr>
          <p:cNvPr id="7" name="">
            <a:extLst xmlns:a="http://schemas.openxmlformats.org/drawingml/2006/main">
              <a:ext uri="{FF2B5EF4-FFF2-40B4-BE49-F238E27FC236}">
                <a16:creationId xmlns:a16="http://schemas.microsoft.com/office/drawing/2014/main" id="{8FA11B84-4FB2-4A4E-B403-68D5A5BB60B9}"/>
              </a:ext>
            </a:extLst>
          </p:cNvPr>
          <p:cNvSpPr>
            <a:spLocks xmlns:a="http://schemas.openxmlformats.org/drawingml/2006/main" noGrp="1"/>
          </p:cNvSpPr>
          <p:nvPr/>
        </p:nvSpPr>
        <p:spPr>
          <a:xfrm xmlns:a="http://schemas.openxmlformats.org/drawingml/2006/main">
            <a:off x="723900" y="59817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CFE8F3"/>
                </a:solidFill>
                <a:latin typeface="Aptos"/>
                <a:ea typeface="Aptos"/>
                <a:cs typeface="Aptos"/>
              </a:defRPr>
            </a:pPr>
            <a:r>
              <a:rPr sz="1350" b="1">
                <a:solidFill>
                  <a:srgbClr val="CFE8F3"/>
                </a:solidFill>
                <a:latin typeface="Aptos"/>
                <a:ea typeface="Aptos"/>
                <a:cs typeface="Aptos"/>
              </a:rPr>
              <a:t>Qinyang Tan · May 1, 2026</a:t>
            </a:r>
          </a:p>
        </p:txBody>
      </p:sp>
    </p:spTree>
    <p:extLst>
      <p:ext uri="{BB962C8B-B14F-4D97-AF65-F5344CB8AC3E}">
        <p14:creationId xmlns:p14="http://schemas.microsoft.com/office/powerpoint/2010/main" val="343921584"/>
      </p:ext>
    </p:extLst>
  </p:cSld>
</p:sld>
</file>

<file path=ppt/slides/slide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1A4C19-B9EF-460C-93D1-9AB5A9E8D60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587AC7-1ACD-44A2-8093-EA9F14EF60D3}"/>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32C0FF99-5856-4E97-9F44-C879604B9280}"/>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Project goal and evaluation criteria</a:t>
            </a:r>
          </a:p>
        </p:txBody>
      </p:sp>
      <p:sp>
        <p:nvSpPr>
          <p:cNvPr id="4" name="">
            <a:extLst xmlns:a="http://schemas.openxmlformats.org/drawingml/2006/main">
              <a:ext uri="{FF2B5EF4-FFF2-40B4-BE49-F238E27FC236}">
                <a16:creationId xmlns:a16="http://schemas.microsoft.com/office/drawing/2014/main" id="{0B33AC82-E9E1-4F52-943E-D9B034A18FDA}"/>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D60B981-DD57-4F95-AA38-25881BB64E7F}"/>
              </a:ext>
            </a:extLst>
          </p:cNvPr>
          <p:cNvSpPr>
            <a:spLocks xmlns:a="http://schemas.openxmlformats.org/drawingml/2006/main" noGrp="1"/>
          </p:cNvSpPr>
          <p:nvPr/>
        </p:nvSpPr>
        <p:spPr>
          <a:xfrm xmlns:a="http://schemas.openxmlformats.org/drawingml/2006/main">
            <a:off x="781050" y="1390650"/>
            <a:ext cx="10629900" cy="5143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BA0A4162-0963-4553-9D77-FDCF77A04617}"/>
              </a:ext>
            </a:extLst>
          </p:cNvPr>
          <p:cNvSpPr>
            <a:spLocks xmlns:a="http://schemas.openxmlformats.org/drawingml/2006/main" noGrp="1"/>
          </p:cNvSpPr>
          <p:nvPr/>
        </p:nvSpPr>
        <p:spPr>
          <a:xfrm xmlns:a="http://schemas.openxmlformats.org/drawingml/2006/main">
            <a:off x="781050" y="1390650"/>
            <a:ext cx="57150" cy="5143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8DDAE2E-AA88-441E-8AF3-0890BD006063}"/>
              </a:ext>
            </a:extLst>
          </p:cNvPr>
          <p:cNvSpPr>
            <a:spLocks xmlns:a="http://schemas.openxmlformats.org/drawingml/2006/main" noGrp="1"/>
          </p:cNvSpPr>
          <p:nvPr/>
        </p:nvSpPr>
        <p:spPr>
          <a:xfrm xmlns:a="http://schemas.openxmlformats.org/drawingml/2006/main">
            <a:off x="914400" y="146685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E1006480-9426-4685-B789-E1015819FED3}"/>
              </a:ext>
            </a:extLst>
          </p:cNvPr>
          <p:cNvSpPr>
            <a:spLocks xmlns:a="http://schemas.openxmlformats.org/drawingml/2006/main" noGrp="1"/>
          </p:cNvSpPr>
          <p:nvPr/>
        </p:nvSpPr>
        <p:spPr>
          <a:xfrm xmlns:a="http://schemas.openxmlformats.org/drawingml/2006/main">
            <a:off x="1943100" y="1447800"/>
            <a:ext cx="9315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72033"/>
                </a:solidFill>
                <a:latin typeface="Aptos"/>
                <a:ea typeface="Aptos"/>
                <a:cs typeface="Aptos"/>
              </a:defRPr>
            </a:pPr>
            <a:r>
              <a:rPr sz="960" b="0">
                <a:solidFill>
                  <a:srgbClr val="172033"/>
                </a:solidFill>
                <a:latin typeface="Aptos"/>
                <a:ea typeface="Aptos"/>
                <a:cs typeface="Aptos"/>
              </a:rPr>
              <a:t>The workshop asks the agent to answer questions using only SQL and API calls. The system must be accurate without wasting tool calls or tokens.</a:t>
            </a:r>
          </a:p>
        </p:txBody>
      </p:sp>
      <p:sp>
        <p:nvSpPr>
          <p:cNvPr id="9" name="">
            <a:extLst xmlns:a="http://schemas.openxmlformats.org/drawingml/2006/main">
              <a:ext uri="{FF2B5EF4-FFF2-40B4-BE49-F238E27FC236}">
                <a16:creationId xmlns:a16="http://schemas.microsoft.com/office/drawing/2014/main" id="{EF45F6CC-56FD-4286-909A-D69FB88DE998}"/>
              </a:ext>
            </a:extLst>
          </p:cNvPr>
          <p:cNvSpPr>
            <a:spLocks xmlns:a="http://schemas.openxmlformats.org/drawingml/2006/main" noGrp="1"/>
          </p:cNvSpPr>
          <p:nvPr/>
        </p:nvSpPr>
        <p:spPr>
          <a:xfrm xmlns:a="http://schemas.openxmlformats.org/drawingml/2006/main">
            <a:off x="1047750" y="2114550"/>
            <a:ext cx="10096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0">
                <a:solidFill>
                  <a:srgbClr val="172033"/>
                </a:solidFill>
                <a:latin typeface="Aptos"/>
                <a:ea typeface="Aptos"/>
                <a:cs typeface="Aptos"/>
              </a:defRPr>
            </a:pPr>
            <a:r>
              <a:rPr sz="1425" b="0">
                <a:solidFill>
                  <a:srgbClr val="172033"/>
                </a:solidFill>
                <a:latin typeface="Aptos"/>
                <a:ea typeface="Aptos"/>
                <a:cs typeface="Aptos"/>
              </a:rPr>
              <a:t>The system has to decide when to check the local database, when to call Adobe APIs, and how to explain the answer.</a:t>
            </a:r>
          </a:p>
        </p:txBody>
      </p:sp>
      <p:sp>
        <p:nvSpPr>
          <p:cNvPr id="10" name="">
            <a:extLst xmlns:a="http://schemas.openxmlformats.org/drawingml/2006/main">
              <a:ext uri="{FF2B5EF4-FFF2-40B4-BE49-F238E27FC236}">
                <a16:creationId xmlns:a16="http://schemas.microsoft.com/office/drawing/2014/main" id="{E65B7409-6A75-4C9B-89C9-86A6D03AA9ED}"/>
              </a:ext>
            </a:extLst>
          </p:cNvPr>
          <p:cNvSpPr>
            <a:spLocks xmlns:a="http://schemas.openxmlformats.org/drawingml/2006/main" noGrp="1"/>
          </p:cNvSpPr>
          <p:nvPr/>
        </p:nvSpPr>
        <p:spPr>
          <a:xfrm xmlns:a="http://schemas.openxmlformats.org/drawingml/2006/main">
            <a:off x="781050" y="2895600"/>
            <a:ext cx="32194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1" name="">
            <a:extLst xmlns:a="http://schemas.openxmlformats.org/drawingml/2006/main">
              <a:ext uri="{FF2B5EF4-FFF2-40B4-BE49-F238E27FC236}">
                <a16:creationId xmlns:a16="http://schemas.microsoft.com/office/drawing/2014/main" id="{3074BF64-9AC8-4D93-9245-3C93A2FAD514}"/>
              </a:ext>
            </a:extLst>
          </p:cNvPr>
          <p:cNvSpPr>
            <a:spLocks xmlns:a="http://schemas.openxmlformats.org/drawingml/2006/main" noGrp="1"/>
          </p:cNvSpPr>
          <p:nvPr/>
        </p:nvSpPr>
        <p:spPr>
          <a:xfrm xmlns:a="http://schemas.openxmlformats.org/drawingml/2006/main">
            <a:off x="781050" y="2895600"/>
            <a:ext cx="66675" cy="1238250"/>
          </a:xfrm>
          <a:prstGeom xmlns:a="http://schemas.openxmlformats.org/drawingml/2006/main" prst="rect">
            <a:avLst/>
          </a:prstGeom>
          <a:solidFill xmlns:a="http://schemas.openxmlformats.org/drawingml/2006/main">
            <a:srgbClr val="6D5BD0"/>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5D63D53-3367-4415-94A2-B51210A4269D}"/>
              </a:ext>
            </a:extLst>
          </p:cNvPr>
          <p:cNvSpPr>
            <a:spLocks xmlns:a="http://schemas.openxmlformats.org/drawingml/2006/main" noGrp="1"/>
          </p:cNvSpPr>
          <p:nvPr/>
        </p:nvSpPr>
        <p:spPr>
          <a:xfrm xmlns:a="http://schemas.openxmlformats.org/drawingml/2006/main">
            <a:off x="952500" y="302895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Allowed tools</a:t>
            </a:r>
          </a:p>
        </p:txBody>
      </p:sp>
      <p:sp>
        <p:nvSpPr>
          <p:cNvPr id="13" name="">
            <a:extLst xmlns:a="http://schemas.openxmlformats.org/drawingml/2006/main">
              <a:ext uri="{FF2B5EF4-FFF2-40B4-BE49-F238E27FC236}">
                <a16:creationId xmlns:a16="http://schemas.microsoft.com/office/drawing/2014/main" id="{1B7F8693-B719-47F7-8AD4-FF89988F742D}"/>
              </a:ext>
            </a:extLst>
          </p:cNvPr>
          <p:cNvSpPr>
            <a:spLocks xmlns:a="http://schemas.openxmlformats.org/drawingml/2006/main" noGrp="1"/>
          </p:cNvSpPr>
          <p:nvPr/>
        </p:nvSpPr>
        <p:spPr>
          <a:xfrm xmlns:a="http://schemas.openxmlformats.org/drawingml/2006/main">
            <a:off x="952500" y="3333750"/>
            <a:ext cx="28765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execute_sql(sql)</a:t>
            </a:r>
          </a:p>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call_api(method, url, params, headers)</a:t>
            </a:r>
          </a:p>
        </p:txBody>
      </p:sp>
      <p:sp>
        <p:nvSpPr>
          <p:cNvPr id="14" name="">
            <a:extLst xmlns:a="http://schemas.openxmlformats.org/drawingml/2006/main">
              <a:ext uri="{FF2B5EF4-FFF2-40B4-BE49-F238E27FC236}">
                <a16:creationId xmlns:a16="http://schemas.microsoft.com/office/drawing/2014/main" id="{DEB66A26-D73D-4E24-8DDE-298099EBD63F}"/>
              </a:ext>
            </a:extLst>
          </p:cNvPr>
          <p:cNvSpPr>
            <a:spLocks xmlns:a="http://schemas.openxmlformats.org/drawingml/2006/main" noGrp="1"/>
          </p:cNvSpPr>
          <p:nvPr/>
        </p:nvSpPr>
        <p:spPr>
          <a:xfrm xmlns:a="http://schemas.openxmlformats.org/drawingml/2006/main">
            <a:off x="4495800" y="2895600"/>
            <a:ext cx="32194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5" name="">
            <a:extLst xmlns:a="http://schemas.openxmlformats.org/drawingml/2006/main">
              <a:ext uri="{FF2B5EF4-FFF2-40B4-BE49-F238E27FC236}">
                <a16:creationId xmlns:a16="http://schemas.microsoft.com/office/drawing/2014/main" id="{F014AA30-1F7E-47C0-9840-E648B355530F}"/>
              </a:ext>
            </a:extLst>
          </p:cNvPr>
          <p:cNvSpPr>
            <a:spLocks xmlns:a="http://schemas.openxmlformats.org/drawingml/2006/main" noGrp="1"/>
          </p:cNvSpPr>
          <p:nvPr/>
        </p:nvSpPr>
        <p:spPr>
          <a:xfrm xmlns:a="http://schemas.openxmlformats.org/drawingml/2006/main">
            <a:off x="4495800" y="2895600"/>
            <a:ext cx="66675" cy="1238250"/>
          </a:xfrm>
          <a:prstGeom xmlns:a="http://schemas.openxmlformats.org/drawingml/2006/main" prst="rect">
            <a:avLst/>
          </a:prstGeom>
          <a:solidFill xmlns:a="http://schemas.openxmlformats.org/drawingml/2006/main">
            <a:srgbClr val="1A7F5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6FE7037-AB98-4690-8286-906C1DCD8C31}"/>
              </a:ext>
            </a:extLst>
          </p:cNvPr>
          <p:cNvSpPr>
            <a:spLocks xmlns:a="http://schemas.openxmlformats.org/drawingml/2006/main" noGrp="1"/>
          </p:cNvSpPr>
          <p:nvPr/>
        </p:nvSpPr>
        <p:spPr>
          <a:xfrm xmlns:a="http://schemas.openxmlformats.org/drawingml/2006/main">
            <a:off x="4667250" y="302895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Correctness score</a:t>
            </a:r>
          </a:p>
        </p:txBody>
      </p:sp>
      <p:sp>
        <p:nvSpPr>
          <p:cNvPr id="17" name="">
            <a:extLst xmlns:a="http://schemas.openxmlformats.org/drawingml/2006/main">
              <a:ext uri="{FF2B5EF4-FFF2-40B4-BE49-F238E27FC236}">
                <a16:creationId xmlns:a16="http://schemas.microsoft.com/office/drawing/2014/main" id="{1C368A91-7BB0-4791-A22D-8E94D2487D78}"/>
              </a:ext>
            </a:extLst>
          </p:cNvPr>
          <p:cNvSpPr>
            <a:spLocks xmlns:a="http://schemas.openxmlformats.org/drawingml/2006/main" noGrp="1"/>
          </p:cNvSpPr>
          <p:nvPr/>
        </p:nvSpPr>
        <p:spPr>
          <a:xfrm xmlns:a="http://schemas.openxmlformats.org/drawingml/2006/main">
            <a:off x="4667250" y="3333750"/>
            <a:ext cx="28765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SQL correctness</a:t>
            </a:r>
          </a:p>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API correctness</a:t>
            </a:r>
          </a:p>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Answer correctness</a:t>
            </a:r>
          </a:p>
        </p:txBody>
      </p:sp>
      <p:sp>
        <p:nvSpPr>
          <p:cNvPr id="18" name="">
            <a:extLst xmlns:a="http://schemas.openxmlformats.org/drawingml/2006/main">
              <a:ext uri="{FF2B5EF4-FFF2-40B4-BE49-F238E27FC236}">
                <a16:creationId xmlns:a16="http://schemas.microsoft.com/office/drawing/2014/main" id="{60A6B025-A0C0-4023-AD37-35D540222518}"/>
              </a:ext>
            </a:extLst>
          </p:cNvPr>
          <p:cNvSpPr>
            <a:spLocks xmlns:a="http://schemas.openxmlformats.org/drawingml/2006/main" noGrp="1"/>
          </p:cNvSpPr>
          <p:nvPr/>
        </p:nvSpPr>
        <p:spPr>
          <a:xfrm xmlns:a="http://schemas.openxmlformats.org/drawingml/2006/main">
            <a:off x="8210550" y="2895600"/>
            <a:ext cx="32194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9" name="">
            <a:extLst xmlns:a="http://schemas.openxmlformats.org/drawingml/2006/main">
              <a:ext uri="{FF2B5EF4-FFF2-40B4-BE49-F238E27FC236}">
                <a16:creationId xmlns:a16="http://schemas.microsoft.com/office/drawing/2014/main" id="{CB5E5174-B6A3-45CE-92AA-4606E29EE655}"/>
              </a:ext>
            </a:extLst>
          </p:cNvPr>
          <p:cNvSpPr>
            <a:spLocks xmlns:a="http://schemas.openxmlformats.org/drawingml/2006/main" noGrp="1"/>
          </p:cNvSpPr>
          <p:nvPr/>
        </p:nvSpPr>
        <p:spPr>
          <a:xfrm xmlns:a="http://schemas.openxmlformats.org/drawingml/2006/main">
            <a:off x="8210550" y="2895600"/>
            <a:ext cx="66675" cy="1238250"/>
          </a:xfrm>
          <a:prstGeom xmlns:a="http://schemas.openxmlformats.org/drawingml/2006/main" prst="rect">
            <a:avLst/>
          </a:prstGeom>
          <a:solidFill xmlns:a="http://schemas.openxmlformats.org/drawingml/2006/main">
            <a:srgbClr val="1769A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736CA75-21B7-424B-BB8E-4DE2C1E2D6FF}"/>
              </a:ext>
            </a:extLst>
          </p:cNvPr>
          <p:cNvSpPr>
            <a:spLocks xmlns:a="http://schemas.openxmlformats.org/drawingml/2006/main" noGrp="1"/>
          </p:cNvSpPr>
          <p:nvPr/>
        </p:nvSpPr>
        <p:spPr>
          <a:xfrm xmlns:a="http://schemas.openxmlformats.org/drawingml/2006/main">
            <a:off x="8382000" y="3028950"/>
            <a:ext cx="2876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Efficiency score</a:t>
            </a:r>
          </a:p>
        </p:txBody>
      </p:sp>
      <p:sp>
        <p:nvSpPr>
          <p:cNvPr id="21" name="">
            <a:extLst xmlns:a="http://schemas.openxmlformats.org/drawingml/2006/main">
              <a:ext uri="{FF2B5EF4-FFF2-40B4-BE49-F238E27FC236}">
                <a16:creationId xmlns:a16="http://schemas.microsoft.com/office/drawing/2014/main" id="{30B1988B-2670-4963-B07F-BE7CE5579C38}"/>
              </a:ext>
            </a:extLst>
          </p:cNvPr>
          <p:cNvSpPr>
            <a:spLocks xmlns:a="http://schemas.openxmlformats.org/drawingml/2006/main" noGrp="1"/>
          </p:cNvSpPr>
          <p:nvPr/>
        </p:nvSpPr>
        <p:spPr>
          <a:xfrm xmlns:a="http://schemas.openxmlformats.org/drawingml/2006/main">
            <a:off x="8382000" y="3333750"/>
            <a:ext cx="28765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Tool calls</a:t>
            </a:r>
          </a:p>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Tokens</a:t>
            </a:r>
          </a:p>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Runtime and preprocessing time</a:t>
            </a:r>
          </a:p>
        </p:txBody>
      </p:sp>
      <p:sp>
        <p:nvSpPr>
          <p:cNvPr id="22" name="">
            <a:extLst xmlns:a="http://schemas.openxmlformats.org/drawingml/2006/main">
              <a:ext uri="{FF2B5EF4-FFF2-40B4-BE49-F238E27FC236}">
                <a16:creationId xmlns:a16="http://schemas.microsoft.com/office/drawing/2014/main" id="{F6699D99-F7AB-4178-81AF-2DFCB9D0298A}"/>
              </a:ext>
            </a:extLst>
          </p:cNvPr>
          <p:cNvSpPr>
            <a:spLocks xmlns:a="http://schemas.openxmlformats.org/drawingml/2006/main" noGrp="1"/>
          </p:cNvSpPr>
          <p:nvPr/>
        </p:nvSpPr>
        <p:spPr>
          <a:xfrm xmlns:a="http://schemas.openxmlformats.org/drawingml/2006/main">
            <a:off x="1657350" y="4762500"/>
            <a:ext cx="88773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23" name="">
            <a:extLst xmlns:a="http://schemas.openxmlformats.org/drawingml/2006/main">
              <a:ext uri="{FF2B5EF4-FFF2-40B4-BE49-F238E27FC236}">
                <a16:creationId xmlns:a16="http://schemas.microsoft.com/office/drawing/2014/main" id="{A5C2A220-A520-47F9-B139-8B86D4455BBA}"/>
              </a:ext>
            </a:extLst>
          </p:cNvPr>
          <p:cNvSpPr>
            <a:spLocks xmlns:a="http://schemas.openxmlformats.org/drawingml/2006/main" noGrp="1"/>
          </p:cNvSpPr>
          <p:nvPr/>
        </p:nvSpPr>
        <p:spPr>
          <a:xfrm xmlns:a="http://schemas.openxmlformats.org/drawingml/2006/main">
            <a:off x="1657350" y="4762500"/>
            <a:ext cx="66675" cy="7048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3F2FCD4-7642-44C6-9FE3-8994928D263B}"/>
              </a:ext>
            </a:extLst>
          </p:cNvPr>
          <p:cNvSpPr>
            <a:spLocks xmlns:a="http://schemas.openxmlformats.org/drawingml/2006/main" noGrp="1"/>
          </p:cNvSpPr>
          <p:nvPr/>
        </p:nvSpPr>
        <p:spPr>
          <a:xfrm xmlns:a="http://schemas.openxmlformats.org/drawingml/2006/main">
            <a:off x="1828800" y="4895850"/>
            <a:ext cx="8534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Required output</a:t>
            </a:r>
          </a:p>
        </p:txBody>
      </p:sp>
      <p:sp>
        <p:nvSpPr>
          <p:cNvPr id="25" name="">
            <a:extLst xmlns:a="http://schemas.openxmlformats.org/drawingml/2006/main">
              <a:ext uri="{FF2B5EF4-FFF2-40B4-BE49-F238E27FC236}">
                <a16:creationId xmlns:a16="http://schemas.microsoft.com/office/drawing/2014/main" id="{36C0DE25-9346-4F5F-A5D1-30959BE88C8D}"/>
              </a:ext>
            </a:extLst>
          </p:cNvPr>
          <p:cNvSpPr>
            <a:spLocks xmlns:a="http://schemas.openxmlformats.org/drawingml/2006/main" noGrp="1"/>
          </p:cNvSpPr>
          <p:nvPr/>
        </p:nvSpPr>
        <p:spPr>
          <a:xfrm xmlns:a="http://schemas.openxmlformats.org/drawingml/2006/main">
            <a:off x="1828800" y="5200650"/>
            <a:ext cx="8534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B7A"/>
                </a:solidFill>
                <a:latin typeface="Aptos"/>
                <a:ea typeface="Aptos"/>
                <a:cs typeface="Aptos"/>
              </a:defRPr>
            </a:pPr>
            <a:r>
              <a:rPr sz="1200" b="0">
                <a:solidFill>
                  <a:srgbClr val="5F6B7A"/>
                </a:solidFill>
                <a:latin typeface="Aptos"/>
                <a:ea typeface="Aptos"/>
                <a:cs typeface="Aptos"/>
              </a:rPr>
              <a:t>For each query: metadata.json, filled_system_prompt.txt, and trajectory.json. Overall: source_code.zip-ready project.</a:t>
            </a:r>
          </a:p>
        </p:txBody>
      </p:sp>
      <p:sp>
        <p:nvSpPr>
          <p:cNvPr id="26" name="">
            <a:extLst xmlns:a="http://schemas.openxmlformats.org/drawingml/2006/main">
              <a:ext uri="{FF2B5EF4-FFF2-40B4-BE49-F238E27FC236}">
                <a16:creationId xmlns:a16="http://schemas.microsoft.com/office/drawing/2014/main" id="{9448BFED-9A55-4830-8537-B886074836B4}"/>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02</a:t>
            </a:r>
          </a:p>
        </p:txBody>
      </p:sp>
    </p:spTree>
    <p:extLst>
      <p:ext uri="{BB962C8B-B14F-4D97-AF65-F5344CB8AC3E}">
        <p14:creationId xmlns:p14="http://schemas.microsoft.com/office/powerpoint/2010/main" val="792295322"/>
      </p:ext>
    </p:extLst>
  </p:cSld>
</p:sld>
</file>

<file path=ppt/slides/slide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1955A2-52CB-4439-9199-F80C3AE6E61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10230F6-B098-464B-A5D5-DA0673B13995}"/>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B6761C45-C8E2-4B08-9ED8-0DC12D0BE50A}"/>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Initial prototype: useful skeleton, weak precision</a:t>
            </a:r>
          </a:p>
        </p:txBody>
      </p:sp>
      <p:sp>
        <p:nvSpPr>
          <p:cNvPr id="4" name="">
            <a:extLst xmlns:a="http://schemas.openxmlformats.org/drawingml/2006/main">
              <a:ext uri="{FF2B5EF4-FFF2-40B4-BE49-F238E27FC236}">
                <a16:creationId xmlns:a16="http://schemas.microsoft.com/office/drawing/2014/main" id="{60776C26-C099-47EC-A4E6-201FB1CF21A4}"/>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CCEA632-2147-4695-A4CB-6734CDE21669}"/>
              </a:ext>
            </a:extLst>
          </p:cNvPr>
          <p:cNvSpPr>
            <a:spLocks xmlns:a="http://schemas.openxmlformats.org/drawingml/2006/main" noGrp="1"/>
          </p:cNvSpPr>
          <p:nvPr/>
        </p:nvSpPr>
        <p:spPr>
          <a:xfrm xmlns:a="http://schemas.openxmlformats.org/drawingml/2006/main">
            <a:off x="781050" y="1352550"/>
            <a:ext cx="10629900" cy="5524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9B7B9C43-98EB-4FFD-BE6B-8DD56C174148}"/>
              </a:ext>
            </a:extLst>
          </p:cNvPr>
          <p:cNvSpPr>
            <a:spLocks xmlns:a="http://schemas.openxmlformats.org/drawingml/2006/main" noGrp="1"/>
          </p:cNvSpPr>
          <p:nvPr/>
        </p:nvSpPr>
        <p:spPr>
          <a:xfrm xmlns:a="http://schemas.openxmlformats.org/drawingml/2006/main">
            <a:off x="781050" y="1352550"/>
            <a:ext cx="57150" cy="5524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4F61F72-9B8A-4FC7-A201-9FE8DB2CB982}"/>
              </a:ext>
            </a:extLst>
          </p:cNvPr>
          <p:cNvSpPr>
            <a:spLocks xmlns:a="http://schemas.openxmlformats.org/drawingml/2006/main" noGrp="1"/>
          </p:cNvSpPr>
          <p:nvPr/>
        </p:nvSpPr>
        <p:spPr>
          <a:xfrm xmlns:a="http://schemas.openxmlformats.org/drawingml/2006/main">
            <a:off x="914400" y="142875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58660D32-EA3D-4D01-BE94-21B1D7AAB7A5}"/>
              </a:ext>
            </a:extLst>
          </p:cNvPr>
          <p:cNvSpPr>
            <a:spLocks xmlns:a="http://schemas.openxmlformats.org/drawingml/2006/main" noGrp="1"/>
          </p:cNvSpPr>
          <p:nvPr/>
        </p:nvSpPr>
        <p:spPr>
          <a:xfrm xmlns:a="http://schemas.openxmlformats.org/drawingml/2006/main">
            <a:off x="1943100" y="1409700"/>
            <a:ext cx="93154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172033"/>
                </a:solidFill>
                <a:latin typeface="Aptos"/>
                <a:ea typeface="Aptos"/>
                <a:cs typeface="Aptos"/>
              </a:defRPr>
            </a:pPr>
            <a:r>
              <a:rPr sz="930" b="0">
                <a:solidFill>
                  <a:srgbClr val="172033"/>
                </a:solidFill>
                <a:latin typeface="Aptos"/>
                <a:ea typeface="Aptos"/>
                <a:cs typeface="Aptos"/>
              </a:rPr>
              <a:t>The first version was useful, but still rough. It could load data, prepare API calls, route questions, and save logs, but SQL was too simple and answers were not always shaped to the question.</a:t>
            </a:r>
          </a:p>
        </p:txBody>
      </p:sp>
      <p:sp>
        <p:nvSpPr>
          <p:cNvPr id="9" name="">
            <a:extLst xmlns:a="http://schemas.openxmlformats.org/drawingml/2006/main">
              <a:ext uri="{FF2B5EF4-FFF2-40B4-BE49-F238E27FC236}">
                <a16:creationId xmlns:a16="http://schemas.microsoft.com/office/drawing/2014/main" id="{992D5F3D-11F8-4050-B705-55F966F6CE04}"/>
              </a:ext>
            </a:extLst>
          </p:cNvPr>
          <p:cNvSpPr>
            <a:spLocks xmlns:a="http://schemas.openxmlformats.org/drawingml/2006/main" noGrp="1"/>
          </p:cNvSpPr>
          <p:nvPr/>
        </p:nvSpPr>
        <p:spPr>
          <a:xfrm xmlns:a="http://schemas.openxmlformats.org/drawingml/2006/main">
            <a:off x="666750" y="2609850"/>
            <a:ext cx="23812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0" name="">
            <a:extLst xmlns:a="http://schemas.openxmlformats.org/drawingml/2006/main">
              <a:ext uri="{FF2B5EF4-FFF2-40B4-BE49-F238E27FC236}">
                <a16:creationId xmlns:a16="http://schemas.microsoft.com/office/drawing/2014/main" id="{D877A627-E2AB-4DC5-8C28-BE6B41BEB608}"/>
              </a:ext>
            </a:extLst>
          </p:cNvPr>
          <p:cNvSpPr>
            <a:spLocks xmlns:a="http://schemas.openxmlformats.org/drawingml/2006/main" noGrp="1"/>
          </p:cNvSpPr>
          <p:nvPr/>
        </p:nvSpPr>
        <p:spPr>
          <a:xfrm xmlns:a="http://schemas.openxmlformats.org/drawingml/2006/main">
            <a:off x="666750" y="2609850"/>
            <a:ext cx="66675" cy="1143000"/>
          </a:xfrm>
          <a:prstGeom xmlns:a="http://schemas.openxmlformats.org/drawingml/2006/main" prst="rect">
            <a:avLst/>
          </a:prstGeom>
          <a:solidFill xmlns:a="http://schemas.openxmlformats.org/drawingml/2006/main">
            <a:srgbClr val="1769A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D469808-560A-42D0-A047-1A9737C17012}"/>
              </a:ext>
            </a:extLst>
          </p:cNvPr>
          <p:cNvSpPr>
            <a:spLocks xmlns:a="http://schemas.openxmlformats.org/drawingml/2006/main" noGrp="1"/>
          </p:cNvSpPr>
          <p:nvPr/>
        </p:nvSpPr>
        <p:spPr>
          <a:xfrm xmlns:a="http://schemas.openxmlformats.org/drawingml/2006/main">
            <a:off x="838200" y="27432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Database layer</a:t>
            </a:r>
          </a:p>
        </p:txBody>
      </p:sp>
      <p:sp>
        <p:nvSpPr>
          <p:cNvPr id="12" name="">
            <a:extLst xmlns:a="http://schemas.openxmlformats.org/drawingml/2006/main">
              <a:ext uri="{FF2B5EF4-FFF2-40B4-BE49-F238E27FC236}">
                <a16:creationId xmlns:a16="http://schemas.microsoft.com/office/drawing/2014/main" id="{F3E7CA1E-38F8-49B2-B224-64D788B8C4D5}"/>
              </a:ext>
            </a:extLst>
          </p:cNvPr>
          <p:cNvSpPr>
            <a:spLocks xmlns:a="http://schemas.openxmlformats.org/drawingml/2006/main" noGrp="1"/>
          </p:cNvSpPr>
          <p:nvPr/>
        </p:nvSpPr>
        <p:spPr>
          <a:xfrm xmlns:a="http://schemas.openxmlformats.org/drawingml/2006/main">
            <a:off x="838200" y="3048000"/>
            <a:ext cx="20383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DuckDB loader</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Parquet views</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Read-only SQL guard</a:t>
            </a:r>
          </a:p>
        </p:txBody>
      </p:sp>
      <p:sp>
        <p:nvSpPr>
          <p:cNvPr id="13" name="">
            <a:extLst xmlns:a="http://schemas.openxmlformats.org/drawingml/2006/main">
              <a:ext uri="{FF2B5EF4-FFF2-40B4-BE49-F238E27FC236}">
                <a16:creationId xmlns:a16="http://schemas.microsoft.com/office/drawing/2014/main" id="{83ABF1F0-A002-4F5F-AC5F-B2A949FDFA13}"/>
              </a:ext>
            </a:extLst>
          </p:cNvPr>
          <p:cNvSpPr>
            <a:spLocks xmlns:a="http://schemas.openxmlformats.org/drawingml/2006/main" noGrp="1"/>
          </p:cNvSpPr>
          <p:nvPr/>
        </p:nvSpPr>
        <p:spPr>
          <a:xfrm xmlns:a="http://schemas.openxmlformats.org/drawingml/2006/main">
            <a:off x="3409950" y="2609850"/>
            <a:ext cx="23812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4" name="">
            <a:extLst xmlns:a="http://schemas.openxmlformats.org/drawingml/2006/main">
              <a:ext uri="{FF2B5EF4-FFF2-40B4-BE49-F238E27FC236}">
                <a16:creationId xmlns:a16="http://schemas.microsoft.com/office/drawing/2014/main" id="{3F8DDE5C-3DCD-4070-97F5-E250A732609C}"/>
              </a:ext>
            </a:extLst>
          </p:cNvPr>
          <p:cNvSpPr>
            <a:spLocks xmlns:a="http://schemas.openxmlformats.org/drawingml/2006/main" noGrp="1"/>
          </p:cNvSpPr>
          <p:nvPr/>
        </p:nvSpPr>
        <p:spPr>
          <a:xfrm xmlns:a="http://schemas.openxmlformats.org/drawingml/2006/main">
            <a:off x="3409950" y="2609850"/>
            <a:ext cx="66675" cy="11430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2026E05-58A3-445C-8533-8729C72A1EEB}"/>
              </a:ext>
            </a:extLst>
          </p:cNvPr>
          <p:cNvSpPr>
            <a:spLocks xmlns:a="http://schemas.openxmlformats.org/drawingml/2006/main" noGrp="1"/>
          </p:cNvSpPr>
          <p:nvPr/>
        </p:nvSpPr>
        <p:spPr>
          <a:xfrm xmlns:a="http://schemas.openxmlformats.org/drawingml/2006/main">
            <a:off x="3581400" y="27432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API client</a:t>
            </a:r>
          </a:p>
        </p:txBody>
      </p:sp>
      <p:sp>
        <p:nvSpPr>
          <p:cNvPr id="16" name="">
            <a:extLst xmlns:a="http://schemas.openxmlformats.org/drawingml/2006/main">
              <a:ext uri="{FF2B5EF4-FFF2-40B4-BE49-F238E27FC236}">
                <a16:creationId xmlns:a16="http://schemas.microsoft.com/office/drawing/2014/main" id="{10D7B095-85EB-4929-83E9-AFF24106B249}"/>
              </a:ext>
            </a:extLst>
          </p:cNvPr>
          <p:cNvSpPr>
            <a:spLocks xmlns:a="http://schemas.openxmlformats.org/drawingml/2006/main" noGrp="1"/>
          </p:cNvSpPr>
          <p:nvPr/>
        </p:nvSpPr>
        <p:spPr>
          <a:xfrm xmlns:a="http://schemas.openxmlformats.org/drawingml/2006/main">
            <a:off x="3581400" y="3048000"/>
            <a:ext cx="20383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Env credentials</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Dry-run mode</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Redacted logging</a:t>
            </a:r>
          </a:p>
        </p:txBody>
      </p:sp>
      <p:sp>
        <p:nvSpPr>
          <p:cNvPr id="17" name="">
            <a:extLst xmlns:a="http://schemas.openxmlformats.org/drawingml/2006/main">
              <a:ext uri="{FF2B5EF4-FFF2-40B4-BE49-F238E27FC236}">
                <a16:creationId xmlns:a16="http://schemas.microsoft.com/office/drawing/2014/main" id="{CF5BF970-6CE2-4CB3-8877-F4BF6351B0B4}"/>
              </a:ext>
            </a:extLst>
          </p:cNvPr>
          <p:cNvSpPr>
            <a:spLocks xmlns:a="http://schemas.openxmlformats.org/drawingml/2006/main" noGrp="1"/>
          </p:cNvSpPr>
          <p:nvPr/>
        </p:nvSpPr>
        <p:spPr>
          <a:xfrm xmlns:a="http://schemas.openxmlformats.org/drawingml/2006/main">
            <a:off x="6153150" y="2609850"/>
            <a:ext cx="23812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8" name="">
            <a:extLst xmlns:a="http://schemas.openxmlformats.org/drawingml/2006/main">
              <a:ext uri="{FF2B5EF4-FFF2-40B4-BE49-F238E27FC236}">
                <a16:creationId xmlns:a16="http://schemas.microsoft.com/office/drawing/2014/main" id="{375BB3B6-152B-4DAC-B940-4475145C7FBD}"/>
              </a:ext>
            </a:extLst>
          </p:cNvPr>
          <p:cNvSpPr>
            <a:spLocks xmlns:a="http://schemas.openxmlformats.org/drawingml/2006/main" noGrp="1"/>
          </p:cNvSpPr>
          <p:nvPr/>
        </p:nvSpPr>
        <p:spPr>
          <a:xfrm xmlns:a="http://schemas.openxmlformats.org/drawingml/2006/main">
            <a:off x="6153150" y="2609850"/>
            <a:ext cx="66675" cy="1143000"/>
          </a:xfrm>
          <a:prstGeom xmlns:a="http://schemas.openxmlformats.org/drawingml/2006/main" prst="rect">
            <a:avLst/>
          </a:prstGeom>
          <a:solidFill xmlns:a="http://schemas.openxmlformats.org/drawingml/2006/main">
            <a:srgbClr val="6D5BD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F2DC411-9D8E-4E58-B443-B5B63832DFAC}"/>
              </a:ext>
            </a:extLst>
          </p:cNvPr>
          <p:cNvSpPr>
            <a:spLocks xmlns:a="http://schemas.openxmlformats.org/drawingml/2006/main" noGrp="1"/>
          </p:cNvSpPr>
          <p:nvPr/>
        </p:nvSpPr>
        <p:spPr>
          <a:xfrm xmlns:a="http://schemas.openxmlformats.org/drawingml/2006/main">
            <a:off x="6324600" y="27432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Planner</a:t>
            </a:r>
          </a:p>
        </p:txBody>
      </p:sp>
      <p:sp>
        <p:nvSpPr>
          <p:cNvPr id="20" name="">
            <a:extLst xmlns:a="http://schemas.openxmlformats.org/drawingml/2006/main">
              <a:ext uri="{FF2B5EF4-FFF2-40B4-BE49-F238E27FC236}">
                <a16:creationId xmlns:a16="http://schemas.microsoft.com/office/drawing/2014/main" id="{60999B3B-BB7F-4C23-BB5C-93550F30F697}"/>
              </a:ext>
            </a:extLst>
          </p:cNvPr>
          <p:cNvSpPr>
            <a:spLocks xmlns:a="http://schemas.openxmlformats.org/drawingml/2006/main" noGrp="1"/>
          </p:cNvSpPr>
          <p:nvPr/>
        </p:nvSpPr>
        <p:spPr>
          <a:xfrm xmlns:a="http://schemas.openxmlformats.org/drawingml/2006/main">
            <a:off x="6324600" y="3048000"/>
            <a:ext cx="20383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Simple routing</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Mostly single-table SQL</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Generic API params</a:t>
            </a:r>
          </a:p>
        </p:txBody>
      </p:sp>
      <p:sp>
        <p:nvSpPr>
          <p:cNvPr id="21" name="">
            <a:extLst xmlns:a="http://schemas.openxmlformats.org/drawingml/2006/main">
              <a:ext uri="{FF2B5EF4-FFF2-40B4-BE49-F238E27FC236}">
                <a16:creationId xmlns:a16="http://schemas.microsoft.com/office/drawing/2014/main" id="{42553C1C-CDB3-4ED0-9B90-2A81AEA0A96C}"/>
              </a:ext>
            </a:extLst>
          </p:cNvPr>
          <p:cNvSpPr>
            <a:spLocks xmlns:a="http://schemas.openxmlformats.org/drawingml/2006/main" noGrp="1"/>
          </p:cNvSpPr>
          <p:nvPr/>
        </p:nvSpPr>
        <p:spPr>
          <a:xfrm xmlns:a="http://schemas.openxmlformats.org/drawingml/2006/main">
            <a:off x="8896350" y="2609850"/>
            <a:ext cx="23812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22" name="">
            <a:extLst xmlns:a="http://schemas.openxmlformats.org/drawingml/2006/main">
              <a:ext uri="{FF2B5EF4-FFF2-40B4-BE49-F238E27FC236}">
                <a16:creationId xmlns:a16="http://schemas.microsoft.com/office/drawing/2014/main" id="{AB7B0693-2E76-4903-84F2-73F2A2F2D0DD}"/>
              </a:ext>
            </a:extLst>
          </p:cNvPr>
          <p:cNvSpPr>
            <a:spLocks xmlns:a="http://schemas.openxmlformats.org/drawingml/2006/main" noGrp="1"/>
          </p:cNvSpPr>
          <p:nvPr/>
        </p:nvSpPr>
        <p:spPr>
          <a:xfrm xmlns:a="http://schemas.openxmlformats.org/drawingml/2006/main">
            <a:off x="8896350" y="2609850"/>
            <a:ext cx="66675" cy="114300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4FABE13-B028-4050-821B-B7C2B201B90D}"/>
              </a:ext>
            </a:extLst>
          </p:cNvPr>
          <p:cNvSpPr>
            <a:spLocks xmlns:a="http://schemas.openxmlformats.org/drawingml/2006/main" noGrp="1"/>
          </p:cNvSpPr>
          <p:nvPr/>
        </p:nvSpPr>
        <p:spPr>
          <a:xfrm xmlns:a="http://schemas.openxmlformats.org/drawingml/2006/main">
            <a:off x="9067800" y="274320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Trajectory</a:t>
            </a:r>
          </a:p>
        </p:txBody>
      </p:sp>
      <p:sp>
        <p:nvSpPr>
          <p:cNvPr id="24" name="">
            <a:extLst xmlns:a="http://schemas.openxmlformats.org/drawingml/2006/main">
              <a:ext uri="{FF2B5EF4-FFF2-40B4-BE49-F238E27FC236}">
                <a16:creationId xmlns:a16="http://schemas.microsoft.com/office/drawing/2014/main" id="{ECD3183E-DF4D-46E2-8F97-F9CF94CDFD26}"/>
              </a:ext>
            </a:extLst>
          </p:cNvPr>
          <p:cNvSpPr>
            <a:spLocks xmlns:a="http://schemas.openxmlformats.org/drawingml/2006/main" noGrp="1"/>
          </p:cNvSpPr>
          <p:nvPr/>
        </p:nvSpPr>
        <p:spPr>
          <a:xfrm xmlns:a="http://schemas.openxmlformats.org/drawingml/2006/main">
            <a:off x="9067800" y="3048000"/>
            <a:ext cx="20383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Tool calls</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Validation</a:t>
            </a:r>
          </a:p>
          <a:p xmlns:a="http://schemas.openxmlformats.org/drawingml/2006/main">
            <a:pPr algn="l">
              <a:defRPr sz="1163" b="0">
                <a:solidFill>
                  <a:srgbClr val="5F6B7A"/>
                </a:solidFill>
                <a:latin typeface="Aptos"/>
                <a:ea typeface="Aptos"/>
                <a:cs typeface="Aptos"/>
              </a:defRPr>
            </a:pPr>
            <a:r>
              <a:rPr sz="1163" b="0">
                <a:solidFill>
                  <a:srgbClr val="5F6B7A"/>
                </a:solidFill>
                <a:latin typeface="Aptos"/>
                <a:ea typeface="Aptos"/>
                <a:cs typeface="Aptos"/>
              </a:rPr>
              <a:t>Final answer</a:t>
            </a:r>
          </a:p>
        </p:txBody>
      </p:sp>
      <p:sp>
        <p:nvSpPr>
          <p:cNvPr id="25" name="">
            <a:extLst xmlns:a="http://schemas.openxmlformats.org/drawingml/2006/main">
              <a:ext uri="{FF2B5EF4-FFF2-40B4-BE49-F238E27FC236}">
                <a16:creationId xmlns:a16="http://schemas.microsoft.com/office/drawing/2014/main" id="{E553C947-F498-4F2C-BF97-B81B15D7CA44}"/>
              </a:ext>
            </a:extLst>
          </p:cNvPr>
          <p:cNvSpPr>
            <a:spLocks xmlns:a="http://schemas.openxmlformats.org/drawingml/2006/main" noGrp="1"/>
          </p:cNvSpPr>
          <p:nvPr/>
        </p:nvSpPr>
        <p:spPr>
          <a:xfrm xmlns:a="http://schemas.openxmlformats.org/drawingml/2006/main">
            <a:off x="1352550" y="4857750"/>
            <a:ext cx="94869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E2A47"/>
                </a:solidFill>
                <a:latin typeface="Aptos"/>
                <a:ea typeface="Aptos"/>
                <a:cs typeface="Aptos"/>
              </a:defRPr>
            </a:pPr>
            <a:r>
              <a:rPr sz="1650" b="1">
                <a:solidFill>
                  <a:srgbClr val="0E2A47"/>
                </a:solidFill>
                <a:latin typeface="Aptos"/>
                <a:ea typeface="Aptos"/>
                <a:cs typeface="Aptos"/>
              </a:rPr>
              <a:t>Analogy: it was like a student who knows where the textbook is, but not yet which chapter to use.</a:t>
            </a:r>
          </a:p>
        </p:txBody>
      </p:sp>
      <p:sp>
        <p:nvSpPr>
          <p:cNvPr id="26" name="">
            <a:extLst xmlns:a="http://schemas.openxmlformats.org/drawingml/2006/main">
              <a:ext uri="{FF2B5EF4-FFF2-40B4-BE49-F238E27FC236}">
                <a16:creationId xmlns:a16="http://schemas.microsoft.com/office/drawing/2014/main" id="{88B08513-F26B-4384-A1C3-8A739F865D19}"/>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03</a:t>
            </a:r>
          </a:p>
        </p:txBody>
      </p:sp>
    </p:spTree>
    <p:extLst>
      <p:ext uri="{BB962C8B-B14F-4D97-AF65-F5344CB8AC3E}">
        <p14:creationId xmlns:p14="http://schemas.microsoft.com/office/powerpoint/2010/main" val="844072209"/>
      </p:ext>
    </p:extLst>
  </p:cSld>
</p:sld>
</file>

<file path=ppt/slides/slide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73ECDD-17DD-4A91-BAA6-123D33AAA88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A103468-B481-4668-8D17-734B830CDC83}"/>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1D674371-F944-4427-9ABB-AA651A9D0892}"/>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Iteration timeline: from skeleton to verified answers</a:t>
            </a:r>
          </a:p>
        </p:txBody>
      </p:sp>
      <p:sp>
        <p:nvSpPr>
          <p:cNvPr id="4" name="">
            <a:extLst xmlns:a="http://schemas.openxmlformats.org/drawingml/2006/main">
              <a:ext uri="{FF2B5EF4-FFF2-40B4-BE49-F238E27FC236}">
                <a16:creationId xmlns:a16="http://schemas.microsoft.com/office/drawing/2014/main" id="{41D4B380-1A8D-4B5D-9710-8638DF7FEFB9}"/>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BB6F15A-B6F5-4839-B91B-5B28F75EB567}"/>
              </a:ext>
            </a:extLst>
          </p:cNvPr>
          <p:cNvSpPr>
            <a:spLocks xmlns:a="http://schemas.openxmlformats.org/drawingml/2006/main" noGrp="1"/>
          </p:cNvSpPr>
          <p:nvPr/>
        </p:nvSpPr>
        <p:spPr>
          <a:xfrm xmlns:a="http://schemas.openxmlformats.org/drawingml/2006/main">
            <a:off x="704850" y="1352550"/>
            <a:ext cx="10782300" cy="45720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397AC082-F6A6-4EE3-83DE-E06978AC0D7A}"/>
              </a:ext>
            </a:extLst>
          </p:cNvPr>
          <p:cNvSpPr>
            <a:spLocks xmlns:a="http://schemas.openxmlformats.org/drawingml/2006/main" noGrp="1"/>
          </p:cNvSpPr>
          <p:nvPr/>
        </p:nvSpPr>
        <p:spPr>
          <a:xfrm xmlns:a="http://schemas.openxmlformats.org/drawingml/2006/main">
            <a:off x="704850" y="1352550"/>
            <a:ext cx="57150" cy="45720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7909472-07EA-425E-BB60-2B0F4391CC5D}"/>
              </a:ext>
            </a:extLst>
          </p:cNvPr>
          <p:cNvSpPr>
            <a:spLocks xmlns:a="http://schemas.openxmlformats.org/drawingml/2006/main" noGrp="1"/>
          </p:cNvSpPr>
          <p:nvPr/>
        </p:nvSpPr>
        <p:spPr>
          <a:xfrm xmlns:a="http://schemas.openxmlformats.org/drawingml/2006/main">
            <a:off x="838200" y="142875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D6ADCB54-E927-448D-9873-E13514BBC7BA}"/>
              </a:ext>
            </a:extLst>
          </p:cNvPr>
          <p:cNvSpPr>
            <a:spLocks xmlns:a="http://schemas.openxmlformats.org/drawingml/2006/main" noGrp="1"/>
          </p:cNvSpPr>
          <p:nvPr/>
        </p:nvSpPr>
        <p:spPr>
          <a:xfrm xmlns:a="http://schemas.openxmlformats.org/drawingml/2006/main">
            <a:off x="1866900" y="1409700"/>
            <a:ext cx="94678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172033"/>
                </a:solidFill>
                <a:latin typeface="Aptos"/>
                <a:ea typeface="Aptos"/>
                <a:cs typeface="Aptos"/>
              </a:defRPr>
            </a:pPr>
            <a:r>
              <a:rPr sz="953" b="0">
                <a:solidFill>
                  <a:srgbClr val="172033"/>
                </a:solidFill>
                <a:latin typeface="Aptos"/>
                <a:ea typeface="Aptos"/>
                <a:cs typeface="Aptos"/>
              </a:rPr>
              <a:t>The project improved step by step. Each pass fixed one clear weakness: planning, debugging, efficiency, query understanding, or answer checking.</a:t>
            </a:r>
          </a:p>
        </p:txBody>
      </p:sp>
      <p:sp>
        <p:nvSpPr>
          <p:cNvPr id="9" name="">
            <a:extLst xmlns:a="http://schemas.openxmlformats.org/drawingml/2006/main">
              <a:ext uri="{FF2B5EF4-FFF2-40B4-BE49-F238E27FC236}">
                <a16:creationId xmlns:a16="http://schemas.microsoft.com/office/drawing/2014/main" id="{FAD69B09-6DDB-4330-8EA3-48F5C55F866F}"/>
              </a:ext>
            </a:extLst>
          </p:cNvPr>
          <p:cNvSpPr>
            <a:spLocks xmlns:a="http://schemas.openxmlformats.org/drawingml/2006/main" noGrp="1"/>
          </p:cNvSpPr>
          <p:nvPr/>
        </p:nvSpPr>
        <p:spPr>
          <a:xfrm xmlns:a="http://schemas.openxmlformats.org/drawingml/2006/main">
            <a:off x="742950" y="2609850"/>
            <a:ext cx="1390650" cy="895350"/>
          </a:xfrm>
          <a:prstGeom xmlns:a="http://schemas.openxmlformats.org/drawingml/2006/main" prst="rect">
            <a:avLst/>
          </a:prstGeom>
          <a:solidFill xmlns:a="http://schemas.openxmlformats.org/drawingml/2006/main">
            <a:srgbClr val="FFFFFF"/>
          </a:solidFill>
          <a:ln xmlns:a="http://schemas.openxmlformats.org/drawingml/2006/main" w="13335">
            <a:solidFill>
              <a:srgbClr val="6D5BD0"/>
            </a:solidFill>
            <a:prstDash val="solid"/>
          </a:ln>
        </p:spPr>
      </p:sp>
      <p:sp>
        <p:nvSpPr>
          <p:cNvPr id="10" name="">
            <a:extLst xmlns:a="http://schemas.openxmlformats.org/drawingml/2006/main">
              <a:ext uri="{FF2B5EF4-FFF2-40B4-BE49-F238E27FC236}">
                <a16:creationId xmlns:a16="http://schemas.microsoft.com/office/drawing/2014/main" id="{103455B8-8C20-4441-808D-D47DB51C41F3}"/>
              </a:ext>
            </a:extLst>
          </p:cNvPr>
          <p:cNvSpPr>
            <a:spLocks xmlns:a="http://schemas.openxmlformats.org/drawingml/2006/main" noGrp="1"/>
          </p:cNvSpPr>
          <p:nvPr/>
        </p:nvSpPr>
        <p:spPr>
          <a:xfrm xmlns:a="http://schemas.openxmlformats.org/drawingml/2006/main">
            <a:off x="838200" y="2724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72033"/>
                </a:solidFill>
                <a:latin typeface="Aptos"/>
                <a:ea typeface="Aptos"/>
                <a:cs typeface="Aptos"/>
              </a:defRPr>
            </a:pPr>
            <a:r>
              <a:rPr sz="975" b="1">
                <a:solidFill>
                  <a:srgbClr val="172033"/>
                </a:solidFill>
                <a:latin typeface="Aptos"/>
                <a:ea typeface="Aptos"/>
                <a:cs typeface="Aptos"/>
              </a:rPr>
              <a:t>Skeleton</a:t>
            </a:r>
          </a:p>
        </p:txBody>
      </p:sp>
      <p:sp>
        <p:nvSpPr>
          <p:cNvPr id="11" name="">
            <a:extLst xmlns:a="http://schemas.openxmlformats.org/drawingml/2006/main">
              <a:ext uri="{FF2B5EF4-FFF2-40B4-BE49-F238E27FC236}">
                <a16:creationId xmlns:a16="http://schemas.microsoft.com/office/drawing/2014/main" id="{74CA4F8D-9FE8-4E62-872B-0B1135489831}"/>
              </a:ext>
            </a:extLst>
          </p:cNvPr>
          <p:cNvSpPr>
            <a:spLocks xmlns:a="http://schemas.openxmlformats.org/drawingml/2006/main" noGrp="1"/>
          </p:cNvSpPr>
          <p:nvPr/>
        </p:nvSpPr>
        <p:spPr>
          <a:xfrm xmlns:a="http://schemas.openxmlformats.org/drawingml/2006/main">
            <a:off x="838200" y="2971800"/>
            <a:ext cx="1200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5F6B7A"/>
                </a:solidFill>
                <a:latin typeface="Aptos"/>
                <a:ea typeface="Aptos"/>
                <a:cs typeface="Aptos"/>
              </a:defRPr>
            </a:pPr>
            <a:r>
              <a:rPr sz="788" b="0">
                <a:solidFill>
                  <a:srgbClr val="5F6B7A"/>
                </a:solidFill>
                <a:latin typeface="Aptos"/>
                <a:ea typeface="Aptos"/>
                <a:cs typeface="Aptos"/>
              </a:rPr>
              <a:t>DuckDB, API client, router, simple planner</a:t>
            </a:r>
          </a:p>
        </p:txBody>
      </p:sp>
      <p:sp>
        <p:nvSpPr>
          <p:cNvPr id="12" name="">
            <a:extLst xmlns:a="http://schemas.openxmlformats.org/drawingml/2006/main">
              <a:ext uri="{FF2B5EF4-FFF2-40B4-BE49-F238E27FC236}">
                <a16:creationId xmlns:a16="http://schemas.microsoft.com/office/drawing/2014/main" id="{1F06DABA-9CA1-41B4-804D-197976DEB2EB}"/>
              </a:ext>
            </a:extLst>
          </p:cNvPr>
          <p:cNvSpPr>
            <a:spLocks xmlns:a="http://schemas.openxmlformats.org/drawingml/2006/main" noGrp="1"/>
          </p:cNvSpPr>
          <p:nvPr/>
        </p:nvSpPr>
        <p:spPr>
          <a:xfrm xmlns:a="http://schemas.openxmlformats.org/drawingml/2006/main">
            <a:off x="2171700" y="3038475"/>
            <a:ext cx="133350" cy="19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91F7776-0529-48DB-973A-EC82E5F0C788}"/>
              </a:ext>
            </a:extLst>
          </p:cNvPr>
          <p:cNvSpPr>
            <a:spLocks xmlns:a="http://schemas.openxmlformats.org/drawingml/2006/main" noGrp="1"/>
          </p:cNvSpPr>
          <p:nvPr/>
        </p:nvSpPr>
        <p:spPr>
          <a:xfrm xmlns:a="http://schemas.openxmlformats.org/drawingml/2006/main">
            <a:off x="2228850" y="29527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87386"/>
                </a:solidFill>
                <a:latin typeface="Aptos"/>
                <a:ea typeface="Aptos"/>
                <a:cs typeface="Aptos"/>
              </a:defRPr>
            </a:pPr>
            <a:r>
              <a:rPr sz="975" b="1">
                <a:solidFill>
                  <a:srgbClr val="687386"/>
                </a:solidFill>
                <a:latin typeface="Aptos"/>
                <a:ea typeface="Aptos"/>
                <a:cs typeface="Aptos"/>
              </a:rPr>
              <a:t>&gt;</a:t>
            </a:r>
          </a:p>
        </p:txBody>
      </p:sp>
      <p:sp>
        <p:nvSpPr>
          <p:cNvPr id="14" name="">
            <a:extLst xmlns:a="http://schemas.openxmlformats.org/drawingml/2006/main">
              <a:ext uri="{FF2B5EF4-FFF2-40B4-BE49-F238E27FC236}">
                <a16:creationId xmlns:a16="http://schemas.microsoft.com/office/drawing/2014/main" id="{A9AD651D-6961-4D40-9AB3-52AB4627CB49}"/>
              </a:ext>
            </a:extLst>
          </p:cNvPr>
          <p:cNvSpPr>
            <a:spLocks xmlns:a="http://schemas.openxmlformats.org/drawingml/2006/main" noGrp="1"/>
          </p:cNvSpPr>
          <p:nvPr/>
        </p:nvSpPr>
        <p:spPr>
          <a:xfrm xmlns:a="http://schemas.openxmlformats.org/drawingml/2006/main">
            <a:off x="2343150" y="2609850"/>
            <a:ext cx="1390650" cy="895350"/>
          </a:xfrm>
          <a:prstGeom xmlns:a="http://schemas.openxmlformats.org/drawingml/2006/main" prst="rect">
            <a:avLst/>
          </a:prstGeom>
          <a:solidFill xmlns:a="http://schemas.openxmlformats.org/drawingml/2006/main">
            <a:srgbClr val="FFFFFF"/>
          </a:solidFill>
          <a:ln xmlns:a="http://schemas.openxmlformats.org/drawingml/2006/main" w="13335">
            <a:solidFill>
              <a:srgbClr val="6D5BD0"/>
            </a:solidFill>
            <a:prstDash val="solid"/>
          </a:ln>
        </p:spPr>
      </p:sp>
      <p:sp>
        <p:nvSpPr>
          <p:cNvPr id="15" name="">
            <a:extLst xmlns:a="http://schemas.openxmlformats.org/drawingml/2006/main">
              <a:ext uri="{FF2B5EF4-FFF2-40B4-BE49-F238E27FC236}">
                <a16:creationId xmlns:a16="http://schemas.microsoft.com/office/drawing/2014/main" id="{91F668AB-2350-48C6-8750-BBD87A832D52}"/>
              </a:ext>
            </a:extLst>
          </p:cNvPr>
          <p:cNvSpPr>
            <a:spLocks xmlns:a="http://schemas.openxmlformats.org/drawingml/2006/main" noGrp="1"/>
          </p:cNvSpPr>
          <p:nvPr/>
        </p:nvSpPr>
        <p:spPr>
          <a:xfrm xmlns:a="http://schemas.openxmlformats.org/drawingml/2006/main">
            <a:off x="2438400" y="2724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72033"/>
                </a:solidFill>
                <a:latin typeface="Aptos"/>
                <a:ea typeface="Aptos"/>
                <a:cs typeface="Aptos"/>
              </a:defRPr>
            </a:pPr>
            <a:r>
              <a:rPr sz="975" b="1">
                <a:solidFill>
                  <a:srgbClr val="172033"/>
                </a:solidFill>
                <a:latin typeface="Aptos"/>
                <a:ea typeface="Aptos"/>
                <a:cs typeface="Aptos"/>
              </a:rPr>
              <a:t>Templates</a:t>
            </a:r>
          </a:p>
        </p:txBody>
      </p:sp>
      <p:sp>
        <p:nvSpPr>
          <p:cNvPr id="16" name="">
            <a:extLst xmlns:a="http://schemas.openxmlformats.org/drawingml/2006/main">
              <a:ext uri="{FF2B5EF4-FFF2-40B4-BE49-F238E27FC236}">
                <a16:creationId xmlns:a16="http://schemas.microsoft.com/office/drawing/2014/main" id="{D00FAA5B-57E7-421B-BDA3-E624FFF81F4B}"/>
              </a:ext>
            </a:extLst>
          </p:cNvPr>
          <p:cNvSpPr>
            <a:spLocks xmlns:a="http://schemas.openxmlformats.org/drawingml/2006/main" noGrp="1"/>
          </p:cNvSpPr>
          <p:nvPr/>
        </p:nvSpPr>
        <p:spPr>
          <a:xfrm xmlns:a="http://schemas.openxmlformats.org/drawingml/2006/main">
            <a:off x="2438400" y="2971800"/>
            <a:ext cx="1200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5F6B7A"/>
                </a:solidFill>
                <a:latin typeface="Aptos"/>
                <a:ea typeface="Aptos"/>
                <a:cs typeface="Aptos"/>
              </a:defRPr>
            </a:pPr>
            <a:r>
              <a:rPr sz="788" b="0">
                <a:solidFill>
                  <a:srgbClr val="5F6B7A"/>
                </a:solidFill>
                <a:latin typeface="Aptos"/>
                <a:ea typeface="Aptos"/>
                <a:cs typeface="Aptos"/>
              </a:rPr>
              <a:t>Schema-guided SQL and endpoint-constrained API params</a:t>
            </a:r>
          </a:p>
        </p:txBody>
      </p:sp>
      <p:sp>
        <p:nvSpPr>
          <p:cNvPr id="17" name="">
            <a:extLst xmlns:a="http://schemas.openxmlformats.org/drawingml/2006/main">
              <a:ext uri="{FF2B5EF4-FFF2-40B4-BE49-F238E27FC236}">
                <a16:creationId xmlns:a16="http://schemas.microsoft.com/office/drawing/2014/main" id="{BA087B9E-27F5-416C-AD1E-A29B98D75C44}"/>
              </a:ext>
            </a:extLst>
          </p:cNvPr>
          <p:cNvSpPr>
            <a:spLocks xmlns:a="http://schemas.openxmlformats.org/drawingml/2006/main" noGrp="1"/>
          </p:cNvSpPr>
          <p:nvPr/>
        </p:nvSpPr>
        <p:spPr>
          <a:xfrm xmlns:a="http://schemas.openxmlformats.org/drawingml/2006/main">
            <a:off x="3771900" y="3038475"/>
            <a:ext cx="133350" cy="19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39DA3CD-4F6E-46CB-B789-DBFAD5F3695D}"/>
              </a:ext>
            </a:extLst>
          </p:cNvPr>
          <p:cNvSpPr>
            <a:spLocks xmlns:a="http://schemas.openxmlformats.org/drawingml/2006/main" noGrp="1"/>
          </p:cNvSpPr>
          <p:nvPr/>
        </p:nvSpPr>
        <p:spPr>
          <a:xfrm xmlns:a="http://schemas.openxmlformats.org/drawingml/2006/main">
            <a:off x="3829050" y="29527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87386"/>
                </a:solidFill>
                <a:latin typeface="Aptos"/>
                <a:ea typeface="Aptos"/>
                <a:cs typeface="Aptos"/>
              </a:defRPr>
            </a:pPr>
            <a:r>
              <a:rPr sz="975" b="1">
                <a:solidFill>
                  <a:srgbClr val="687386"/>
                </a:solidFill>
                <a:latin typeface="Aptos"/>
                <a:ea typeface="Aptos"/>
                <a:cs typeface="Aptos"/>
              </a:rPr>
              <a:t>&gt;</a:t>
            </a:r>
          </a:p>
        </p:txBody>
      </p:sp>
      <p:sp>
        <p:nvSpPr>
          <p:cNvPr id="19" name="">
            <a:extLst xmlns:a="http://schemas.openxmlformats.org/drawingml/2006/main">
              <a:ext uri="{FF2B5EF4-FFF2-40B4-BE49-F238E27FC236}">
                <a16:creationId xmlns:a16="http://schemas.microsoft.com/office/drawing/2014/main" id="{CD5C44A6-DC00-4737-8E30-E952DC81CCF8}"/>
              </a:ext>
            </a:extLst>
          </p:cNvPr>
          <p:cNvSpPr>
            <a:spLocks xmlns:a="http://schemas.openxmlformats.org/drawingml/2006/main" noGrp="1"/>
          </p:cNvSpPr>
          <p:nvPr/>
        </p:nvSpPr>
        <p:spPr>
          <a:xfrm xmlns:a="http://schemas.openxmlformats.org/drawingml/2006/main">
            <a:off x="3943350" y="2609850"/>
            <a:ext cx="1390650" cy="895350"/>
          </a:xfrm>
          <a:prstGeom xmlns:a="http://schemas.openxmlformats.org/drawingml/2006/main" prst="rect">
            <a:avLst/>
          </a:prstGeom>
          <a:solidFill xmlns:a="http://schemas.openxmlformats.org/drawingml/2006/main">
            <a:srgbClr val="FFFFFF"/>
          </a:solidFill>
          <a:ln xmlns:a="http://schemas.openxmlformats.org/drawingml/2006/main" w="13335">
            <a:solidFill>
              <a:srgbClr val="1A7F52"/>
            </a:solidFill>
            <a:prstDash val="solid"/>
          </a:ln>
        </p:spPr>
      </p:sp>
      <p:sp>
        <p:nvSpPr>
          <p:cNvPr id="20" name="">
            <a:extLst xmlns:a="http://schemas.openxmlformats.org/drawingml/2006/main">
              <a:ext uri="{FF2B5EF4-FFF2-40B4-BE49-F238E27FC236}">
                <a16:creationId xmlns:a16="http://schemas.microsoft.com/office/drawing/2014/main" id="{6752357F-AA2A-4B4F-A9C1-375E5E5E5003}"/>
              </a:ext>
            </a:extLst>
          </p:cNvPr>
          <p:cNvSpPr>
            <a:spLocks xmlns:a="http://schemas.openxmlformats.org/drawingml/2006/main" noGrp="1"/>
          </p:cNvSpPr>
          <p:nvPr/>
        </p:nvSpPr>
        <p:spPr>
          <a:xfrm xmlns:a="http://schemas.openxmlformats.org/drawingml/2006/main">
            <a:off x="4038600" y="2724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72033"/>
                </a:solidFill>
                <a:latin typeface="Aptos"/>
                <a:ea typeface="Aptos"/>
                <a:cs typeface="Aptos"/>
              </a:defRPr>
            </a:pPr>
            <a:r>
              <a:rPr sz="975" b="1">
                <a:solidFill>
                  <a:srgbClr val="172033"/>
                </a:solidFill>
                <a:latin typeface="Aptos"/>
                <a:ea typeface="Aptos"/>
                <a:cs typeface="Aptos"/>
              </a:rPr>
              <a:t>Failure analysis</a:t>
            </a:r>
          </a:p>
        </p:txBody>
      </p:sp>
      <p:sp>
        <p:nvSpPr>
          <p:cNvPr id="21" name="">
            <a:extLst xmlns:a="http://schemas.openxmlformats.org/drawingml/2006/main">
              <a:ext uri="{FF2B5EF4-FFF2-40B4-BE49-F238E27FC236}">
                <a16:creationId xmlns:a16="http://schemas.microsoft.com/office/drawing/2014/main" id="{C03BF46D-EA89-4E22-AD3B-0AA7E56A62A2}"/>
              </a:ext>
            </a:extLst>
          </p:cNvPr>
          <p:cNvSpPr>
            <a:spLocks xmlns:a="http://schemas.openxmlformats.org/drawingml/2006/main" noGrp="1"/>
          </p:cNvSpPr>
          <p:nvPr/>
        </p:nvSpPr>
        <p:spPr>
          <a:xfrm xmlns:a="http://schemas.openxmlformats.org/drawingml/2006/main">
            <a:off x="4038600" y="2971800"/>
            <a:ext cx="1200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5F6B7A"/>
                </a:solidFill>
                <a:latin typeface="Aptos"/>
                <a:ea typeface="Aptos"/>
                <a:cs typeface="Aptos"/>
              </a:defRPr>
            </a:pPr>
            <a:r>
              <a:rPr sz="788" b="0">
                <a:solidFill>
                  <a:srgbClr val="5F6B7A"/>
                </a:solidFill>
                <a:latin typeface="Aptos"/>
                <a:ea typeface="Aptos"/>
                <a:cs typeface="Aptos"/>
              </a:rPr>
              <a:t>Ranked public-example failures drove targeted fixes</a:t>
            </a:r>
          </a:p>
        </p:txBody>
      </p:sp>
      <p:sp>
        <p:nvSpPr>
          <p:cNvPr id="22" name="">
            <a:extLst xmlns:a="http://schemas.openxmlformats.org/drawingml/2006/main">
              <a:ext uri="{FF2B5EF4-FFF2-40B4-BE49-F238E27FC236}">
                <a16:creationId xmlns:a16="http://schemas.microsoft.com/office/drawing/2014/main" id="{0FBDFC3B-F354-4DF7-81ED-4A90603AC784}"/>
              </a:ext>
            </a:extLst>
          </p:cNvPr>
          <p:cNvSpPr>
            <a:spLocks xmlns:a="http://schemas.openxmlformats.org/drawingml/2006/main" noGrp="1"/>
          </p:cNvSpPr>
          <p:nvPr/>
        </p:nvSpPr>
        <p:spPr>
          <a:xfrm xmlns:a="http://schemas.openxmlformats.org/drawingml/2006/main">
            <a:off x="5372100" y="3038475"/>
            <a:ext cx="133350" cy="19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4D959AD-730B-4963-9AF6-96D460A4D4EE}"/>
              </a:ext>
            </a:extLst>
          </p:cNvPr>
          <p:cNvSpPr>
            <a:spLocks xmlns:a="http://schemas.openxmlformats.org/drawingml/2006/main" noGrp="1"/>
          </p:cNvSpPr>
          <p:nvPr/>
        </p:nvSpPr>
        <p:spPr>
          <a:xfrm xmlns:a="http://schemas.openxmlformats.org/drawingml/2006/main">
            <a:off x="5429250" y="29527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87386"/>
                </a:solidFill>
                <a:latin typeface="Aptos"/>
                <a:ea typeface="Aptos"/>
                <a:cs typeface="Aptos"/>
              </a:defRPr>
            </a:pPr>
            <a:r>
              <a:rPr sz="975" b="1">
                <a:solidFill>
                  <a:srgbClr val="687386"/>
                </a:solidFill>
                <a:latin typeface="Aptos"/>
                <a:ea typeface="Aptos"/>
                <a:cs typeface="Aptos"/>
              </a:rPr>
              <a:t>&gt;</a:t>
            </a:r>
          </a:p>
        </p:txBody>
      </p:sp>
      <p:sp>
        <p:nvSpPr>
          <p:cNvPr id="24" name="">
            <a:extLst xmlns:a="http://schemas.openxmlformats.org/drawingml/2006/main">
              <a:ext uri="{FF2B5EF4-FFF2-40B4-BE49-F238E27FC236}">
                <a16:creationId xmlns:a16="http://schemas.microsoft.com/office/drawing/2014/main" id="{23E17D86-6DF9-4C8F-8A7A-4FC5F9916430}"/>
              </a:ext>
            </a:extLst>
          </p:cNvPr>
          <p:cNvSpPr>
            <a:spLocks xmlns:a="http://schemas.openxmlformats.org/drawingml/2006/main" noGrp="1"/>
          </p:cNvSpPr>
          <p:nvPr/>
        </p:nvSpPr>
        <p:spPr>
          <a:xfrm xmlns:a="http://schemas.openxmlformats.org/drawingml/2006/main">
            <a:off x="5543550" y="2609850"/>
            <a:ext cx="1390650" cy="895350"/>
          </a:xfrm>
          <a:prstGeom xmlns:a="http://schemas.openxmlformats.org/drawingml/2006/main" prst="rect">
            <a:avLst/>
          </a:prstGeom>
          <a:solidFill xmlns:a="http://schemas.openxmlformats.org/drawingml/2006/main">
            <a:srgbClr val="FFFFFF"/>
          </a:solidFill>
          <a:ln xmlns:a="http://schemas.openxmlformats.org/drawingml/2006/main" w="13335">
            <a:solidFill>
              <a:srgbClr val="1A7F52"/>
            </a:solidFill>
            <a:prstDash val="solid"/>
          </a:ln>
        </p:spPr>
      </p:sp>
      <p:sp>
        <p:nvSpPr>
          <p:cNvPr id="25" name="">
            <a:extLst xmlns:a="http://schemas.openxmlformats.org/drawingml/2006/main">
              <a:ext uri="{FF2B5EF4-FFF2-40B4-BE49-F238E27FC236}">
                <a16:creationId xmlns:a16="http://schemas.microsoft.com/office/drawing/2014/main" id="{1BCBB8F8-5D67-46F6-ACD9-CD30EA881F88}"/>
              </a:ext>
            </a:extLst>
          </p:cNvPr>
          <p:cNvSpPr>
            <a:spLocks xmlns:a="http://schemas.openxmlformats.org/drawingml/2006/main" noGrp="1"/>
          </p:cNvSpPr>
          <p:nvPr/>
        </p:nvSpPr>
        <p:spPr>
          <a:xfrm xmlns:a="http://schemas.openxmlformats.org/drawingml/2006/main">
            <a:off x="5638800" y="2724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72033"/>
                </a:solidFill>
                <a:latin typeface="Aptos"/>
                <a:ea typeface="Aptos"/>
                <a:cs typeface="Aptos"/>
              </a:defRPr>
            </a:pPr>
            <a:r>
              <a:rPr sz="975" b="1">
                <a:solidFill>
                  <a:srgbClr val="172033"/>
                </a:solidFill>
                <a:latin typeface="Aptos"/>
                <a:ea typeface="Aptos"/>
                <a:cs typeface="Aptos"/>
              </a:rPr>
              <a:t>Efficiency controls</a:t>
            </a:r>
          </a:p>
        </p:txBody>
      </p:sp>
      <p:sp>
        <p:nvSpPr>
          <p:cNvPr id="26" name="">
            <a:extLst xmlns:a="http://schemas.openxmlformats.org/drawingml/2006/main">
              <a:ext uri="{FF2B5EF4-FFF2-40B4-BE49-F238E27FC236}">
                <a16:creationId xmlns:a16="http://schemas.microsoft.com/office/drawing/2014/main" id="{F4E97F8D-9FEE-4923-87F6-9A1C46F7EE60}"/>
              </a:ext>
            </a:extLst>
          </p:cNvPr>
          <p:cNvSpPr>
            <a:spLocks xmlns:a="http://schemas.openxmlformats.org/drawingml/2006/main" noGrp="1"/>
          </p:cNvSpPr>
          <p:nvPr/>
        </p:nvSpPr>
        <p:spPr>
          <a:xfrm xmlns:a="http://schemas.openxmlformats.org/drawingml/2006/main">
            <a:off x="5638800" y="2971800"/>
            <a:ext cx="1200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5F6B7A"/>
                </a:solidFill>
                <a:latin typeface="Aptos"/>
                <a:ea typeface="Aptos"/>
                <a:cs typeface="Aptos"/>
              </a:defRPr>
            </a:pPr>
            <a:r>
              <a:rPr sz="788" b="0">
                <a:solidFill>
                  <a:srgbClr val="5F6B7A"/>
                </a:solidFill>
                <a:latin typeface="Aptos"/>
                <a:ea typeface="Aptos"/>
                <a:cs typeface="Aptos"/>
              </a:rPr>
              <a:t>API policy, call budget, compact metadata</a:t>
            </a:r>
          </a:p>
        </p:txBody>
      </p:sp>
      <p:sp>
        <p:nvSpPr>
          <p:cNvPr id="27" name="">
            <a:extLst xmlns:a="http://schemas.openxmlformats.org/drawingml/2006/main">
              <a:ext uri="{FF2B5EF4-FFF2-40B4-BE49-F238E27FC236}">
                <a16:creationId xmlns:a16="http://schemas.microsoft.com/office/drawing/2014/main" id="{F0743024-108B-49AD-8170-04535CC855FE}"/>
              </a:ext>
            </a:extLst>
          </p:cNvPr>
          <p:cNvSpPr>
            <a:spLocks xmlns:a="http://schemas.openxmlformats.org/drawingml/2006/main" noGrp="1"/>
          </p:cNvSpPr>
          <p:nvPr/>
        </p:nvSpPr>
        <p:spPr>
          <a:xfrm xmlns:a="http://schemas.openxmlformats.org/drawingml/2006/main">
            <a:off x="6972300" y="3038475"/>
            <a:ext cx="133350" cy="19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3CD0F3FA-F24F-47B2-B60B-18882904CAFD}"/>
              </a:ext>
            </a:extLst>
          </p:cNvPr>
          <p:cNvSpPr>
            <a:spLocks xmlns:a="http://schemas.openxmlformats.org/drawingml/2006/main" noGrp="1"/>
          </p:cNvSpPr>
          <p:nvPr/>
        </p:nvSpPr>
        <p:spPr>
          <a:xfrm xmlns:a="http://schemas.openxmlformats.org/drawingml/2006/main">
            <a:off x="7029450" y="29527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87386"/>
                </a:solidFill>
                <a:latin typeface="Aptos"/>
                <a:ea typeface="Aptos"/>
                <a:cs typeface="Aptos"/>
              </a:defRPr>
            </a:pPr>
            <a:r>
              <a:rPr sz="975" b="1">
                <a:solidFill>
                  <a:srgbClr val="687386"/>
                </a:solidFill>
                <a:latin typeface="Aptos"/>
                <a:ea typeface="Aptos"/>
                <a:cs typeface="Aptos"/>
              </a:rPr>
              <a:t>&gt;</a:t>
            </a:r>
          </a:p>
        </p:txBody>
      </p:sp>
      <p:sp>
        <p:nvSpPr>
          <p:cNvPr id="29" name="">
            <a:extLst xmlns:a="http://schemas.openxmlformats.org/drawingml/2006/main">
              <a:ext uri="{FF2B5EF4-FFF2-40B4-BE49-F238E27FC236}">
                <a16:creationId xmlns:a16="http://schemas.microsoft.com/office/drawing/2014/main" id="{BDF3FDE0-0BD1-4EED-85F5-E901B96BD49D}"/>
              </a:ext>
            </a:extLst>
          </p:cNvPr>
          <p:cNvSpPr>
            <a:spLocks xmlns:a="http://schemas.openxmlformats.org/drawingml/2006/main" noGrp="1"/>
          </p:cNvSpPr>
          <p:nvPr/>
        </p:nvSpPr>
        <p:spPr>
          <a:xfrm xmlns:a="http://schemas.openxmlformats.org/drawingml/2006/main">
            <a:off x="7143750" y="2609850"/>
            <a:ext cx="1390650" cy="895350"/>
          </a:xfrm>
          <a:prstGeom xmlns:a="http://schemas.openxmlformats.org/drawingml/2006/main" prst="rect">
            <a:avLst/>
          </a:prstGeom>
          <a:solidFill xmlns:a="http://schemas.openxmlformats.org/drawingml/2006/main">
            <a:srgbClr val="FFFFFF"/>
          </a:solidFill>
          <a:ln xmlns:a="http://schemas.openxmlformats.org/drawingml/2006/main" w="13335">
            <a:solidFill>
              <a:srgbClr val="0B8F8A"/>
            </a:solidFill>
            <a:prstDash val="solid"/>
          </a:ln>
        </p:spPr>
      </p:sp>
      <p:sp>
        <p:nvSpPr>
          <p:cNvPr id="30" name="">
            <a:extLst xmlns:a="http://schemas.openxmlformats.org/drawingml/2006/main">
              <a:ext uri="{FF2B5EF4-FFF2-40B4-BE49-F238E27FC236}">
                <a16:creationId xmlns:a16="http://schemas.microsoft.com/office/drawing/2014/main" id="{97BBE681-0D55-46B0-8A8C-C8C258630332}"/>
              </a:ext>
            </a:extLst>
          </p:cNvPr>
          <p:cNvSpPr>
            <a:spLocks xmlns:a="http://schemas.openxmlformats.org/drawingml/2006/main" noGrp="1"/>
          </p:cNvSpPr>
          <p:nvPr/>
        </p:nvSpPr>
        <p:spPr>
          <a:xfrm xmlns:a="http://schemas.openxmlformats.org/drawingml/2006/main">
            <a:off x="7239000" y="2724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72033"/>
                </a:solidFill>
                <a:latin typeface="Aptos"/>
                <a:ea typeface="Aptos"/>
                <a:cs typeface="Aptos"/>
              </a:defRPr>
            </a:pPr>
            <a:r>
              <a:rPr sz="975" b="1">
                <a:solidFill>
                  <a:srgbClr val="172033"/>
                </a:solidFill>
                <a:latin typeface="Aptos"/>
                <a:ea typeface="Aptos"/>
                <a:cs typeface="Aptos"/>
              </a:rPr>
              <a:t>Architecture pass</a:t>
            </a:r>
          </a:p>
        </p:txBody>
      </p:sp>
      <p:sp>
        <p:nvSpPr>
          <p:cNvPr id="31" name="">
            <a:extLst xmlns:a="http://schemas.openxmlformats.org/drawingml/2006/main">
              <a:ext uri="{FF2B5EF4-FFF2-40B4-BE49-F238E27FC236}">
                <a16:creationId xmlns:a16="http://schemas.microsoft.com/office/drawing/2014/main" id="{D915CC29-CB16-4713-B730-C722FB143018}"/>
              </a:ext>
            </a:extLst>
          </p:cNvPr>
          <p:cNvSpPr>
            <a:spLocks xmlns:a="http://schemas.openxmlformats.org/drawingml/2006/main" noGrp="1"/>
          </p:cNvSpPr>
          <p:nvPr/>
        </p:nvSpPr>
        <p:spPr>
          <a:xfrm xmlns:a="http://schemas.openxmlformats.org/drawingml/2006/main">
            <a:off x="7239000" y="2971800"/>
            <a:ext cx="1200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5F6B7A"/>
                </a:solidFill>
                <a:latin typeface="Aptos"/>
                <a:ea typeface="Aptos"/>
                <a:cs typeface="Aptos"/>
              </a:defRPr>
            </a:pPr>
            <a:r>
              <a:rPr sz="788" b="0">
                <a:solidFill>
                  <a:srgbClr val="5F6B7A"/>
                </a:solidFill>
                <a:latin typeface="Aptos"/>
                <a:ea typeface="Aptos"/>
                <a:cs typeface="Aptos"/>
              </a:rPr>
              <a:t>EvidenceBus, QueryAnalysis, optimizer, cache</a:t>
            </a:r>
          </a:p>
        </p:txBody>
      </p:sp>
      <p:sp>
        <p:nvSpPr>
          <p:cNvPr id="32" name="">
            <a:extLst xmlns:a="http://schemas.openxmlformats.org/drawingml/2006/main">
              <a:ext uri="{FF2B5EF4-FFF2-40B4-BE49-F238E27FC236}">
                <a16:creationId xmlns:a16="http://schemas.microsoft.com/office/drawing/2014/main" id="{94FC4E81-E07B-435E-818D-C7D7CC76B464}"/>
              </a:ext>
            </a:extLst>
          </p:cNvPr>
          <p:cNvSpPr>
            <a:spLocks xmlns:a="http://schemas.openxmlformats.org/drawingml/2006/main" noGrp="1"/>
          </p:cNvSpPr>
          <p:nvPr/>
        </p:nvSpPr>
        <p:spPr>
          <a:xfrm xmlns:a="http://schemas.openxmlformats.org/drawingml/2006/main">
            <a:off x="8572500" y="3038475"/>
            <a:ext cx="133350" cy="19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15A51F36-56C0-4D28-8564-590A0CDB20DE}"/>
              </a:ext>
            </a:extLst>
          </p:cNvPr>
          <p:cNvSpPr>
            <a:spLocks xmlns:a="http://schemas.openxmlformats.org/drawingml/2006/main" noGrp="1"/>
          </p:cNvSpPr>
          <p:nvPr/>
        </p:nvSpPr>
        <p:spPr>
          <a:xfrm xmlns:a="http://schemas.openxmlformats.org/drawingml/2006/main">
            <a:off x="8629650" y="29527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87386"/>
                </a:solidFill>
                <a:latin typeface="Aptos"/>
                <a:ea typeface="Aptos"/>
                <a:cs typeface="Aptos"/>
              </a:defRPr>
            </a:pPr>
            <a:r>
              <a:rPr sz="975" b="1">
                <a:solidFill>
                  <a:srgbClr val="687386"/>
                </a:solidFill>
                <a:latin typeface="Aptos"/>
                <a:ea typeface="Aptos"/>
                <a:cs typeface="Aptos"/>
              </a:rPr>
              <a:t>&gt;</a:t>
            </a:r>
          </a:p>
        </p:txBody>
      </p:sp>
      <p:sp>
        <p:nvSpPr>
          <p:cNvPr id="34" name="">
            <a:extLst xmlns:a="http://schemas.openxmlformats.org/drawingml/2006/main">
              <a:ext uri="{FF2B5EF4-FFF2-40B4-BE49-F238E27FC236}">
                <a16:creationId xmlns:a16="http://schemas.microsoft.com/office/drawing/2014/main" id="{1BF397A8-5A0E-438E-BAB9-FCA102F0B10F}"/>
              </a:ext>
            </a:extLst>
          </p:cNvPr>
          <p:cNvSpPr>
            <a:spLocks xmlns:a="http://schemas.openxmlformats.org/drawingml/2006/main" noGrp="1"/>
          </p:cNvSpPr>
          <p:nvPr/>
        </p:nvSpPr>
        <p:spPr>
          <a:xfrm xmlns:a="http://schemas.openxmlformats.org/drawingml/2006/main">
            <a:off x="8743950" y="2609850"/>
            <a:ext cx="1390650" cy="895350"/>
          </a:xfrm>
          <a:prstGeom xmlns:a="http://schemas.openxmlformats.org/drawingml/2006/main" prst="rect">
            <a:avLst/>
          </a:prstGeom>
          <a:solidFill xmlns:a="http://schemas.openxmlformats.org/drawingml/2006/main">
            <a:srgbClr val="FFFFFF"/>
          </a:solidFill>
          <a:ln xmlns:a="http://schemas.openxmlformats.org/drawingml/2006/main" w="13335">
            <a:solidFill>
              <a:srgbClr val="0B8F8A"/>
            </a:solidFill>
            <a:prstDash val="solid"/>
          </a:ln>
        </p:spPr>
      </p:sp>
      <p:sp>
        <p:nvSpPr>
          <p:cNvPr id="35" name="">
            <a:extLst xmlns:a="http://schemas.openxmlformats.org/drawingml/2006/main">
              <a:ext uri="{FF2B5EF4-FFF2-40B4-BE49-F238E27FC236}">
                <a16:creationId xmlns:a16="http://schemas.microsoft.com/office/drawing/2014/main" id="{4E4760FA-5445-4B27-9F4D-BC52550E19CF}"/>
              </a:ext>
            </a:extLst>
          </p:cNvPr>
          <p:cNvSpPr>
            <a:spLocks xmlns:a="http://schemas.openxmlformats.org/drawingml/2006/main" noGrp="1"/>
          </p:cNvSpPr>
          <p:nvPr/>
        </p:nvSpPr>
        <p:spPr>
          <a:xfrm xmlns:a="http://schemas.openxmlformats.org/drawingml/2006/main">
            <a:off x="8839200" y="2724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72033"/>
                </a:solidFill>
                <a:latin typeface="Aptos"/>
                <a:ea typeface="Aptos"/>
                <a:cs typeface="Aptos"/>
              </a:defRPr>
            </a:pPr>
            <a:r>
              <a:rPr sz="975" b="1">
                <a:solidFill>
                  <a:srgbClr val="172033"/>
                </a:solidFill>
                <a:latin typeface="Aptos"/>
                <a:ea typeface="Aptos"/>
                <a:cs typeface="Aptos"/>
              </a:rPr>
              <a:t>NLP pass</a:t>
            </a:r>
          </a:p>
        </p:txBody>
      </p:sp>
      <p:sp>
        <p:nvSpPr>
          <p:cNvPr id="36" name="">
            <a:extLst xmlns:a="http://schemas.openxmlformats.org/drawingml/2006/main">
              <a:ext uri="{FF2B5EF4-FFF2-40B4-BE49-F238E27FC236}">
                <a16:creationId xmlns:a16="http://schemas.microsoft.com/office/drawing/2014/main" id="{2436E492-4A67-4965-B187-6FBD98899294}"/>
              </a:ext>
            </a:extLst>
          </p:cNvPr>
          <p:cNvSpPr>
            <a:spLocks xmlns:a="http://schemas.openxmlformats.org/drawingml/2006/main" noGrp="1"/>
          </p:cNvSpPr>
          <p:nvPr/>
        </p:nvSpPr>
        <p:spPr>
          <a:xfrm xmlns:a="http://schemas.openxmlformats.org/drawingml/2006/main">
            <a:off x="8839200" y="2971800"/>
            <a:ext cx="1200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5F6B7A"/>
                </a:solidFill>
                <a:latin typeface="Aptos"/>
                <a:ea typeface="Aptos"/>
                <a:cs typeface="Aptos"/>
              </a:defRPr>
            </a:pPr>
            <a:r>
              <a:rPr sz="788" b="0">
                <a:solidFill>
                  <a:srgbClr val="5F6B7A"/>
                </a:solidFill>
                <a:latin typeface="Aptos"/>
                <a:ea typeface="Aptos"/>
                <a:cs typeface="Aptos"/>
              </a:rPr>
              <a:t>Normalization, tokens, relevance, one-plan selection</a:t>
            </a:r>
          </a:p>
        </p:txBody>
      </p:sp>
      <p:sp>
        <p:nvSpPr>
          <p:cNvPr id="37" name="">
            <a:extLst xmlns:a="http://schemas.openxmlformats.org/drawingml/2006/main">
              <a:ext uri="{FF2B5EF4-FFF2-40B4-BE49-F238E27FC236}">
                <a16:creationId xmlns:a16="http://schemas.microsoft.com/office/drawing/2014/main" id="{2219BE0E-C424-4ED0-B05A-F0CBE5E1360A}"/>
              </a:ext>
            </a:extLst>
          </p:cNvPr>
          <p:cNvSpPr>
            <a:spLocks xmlns:a="http://schemas.openxmlformats.org/drawingml/2006/main" noGrp="1"/>
          </p:cNvSpPr>
          <p:nvPr/>
        </p:nvSpPr>
        <p:spPr>
          <a:xfrm xmlns:a="http://schemas.openxmlformats.org/drawingml/2006/main">
            <a:off x="10172700" y="3038475"/>
            <a:ext cx="133350" cy="19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978F1E2D-8045-4942-AABF-4A8D25FAE8B1}"/>
              </a:ext>
            </a:extLst>
          </p:cNvPr>
          <p:cNvSpPr>
            <a:spLocks xmlns:a="http://schemas.openxmlformats.org/drawingml/2006/main" noGrp="1"/>
          </p:cNvSpPr>
          <p:nvPr/>
        </p:nvSpPr>
        <p:spPr>
          <a:xfrm xmlns:a="http://schemas.openxmlformats.org/drawingml/2006/main">
            <a:off x="10229850" y="29527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87386"/>
                </a:solidFill>
                <a:latin typeface="Aptos"/>
                <a:ea typeface="Aptos"/>
                <a:cs typeface="Aptos"/>
              </a:defRPr>
            </a:pPr>
            <a:r>
              <a:rPr sz="975" b="1">
                <a:solidFill>
                  <a:srgbClr val="687386"/>
                </a:solidFill>
                <a:latin typeface="Aptos"/>
                <a:ea typeface="Aptos"/>
                <a:cs typeface="Aptos"/>
              </a:rPr>
              <a:t>&gt;</a:t>
            </a:r>
          </a:p>
        </p:txBody>
      </p:sp>
      <p:sp>
        <p:nvSpPr>
          <p:cNvPr id="39" name="">
            <a:extLst xmlns:a="http://schemas.openxmlformats.org/drawingml/2006/main">
              <a:ext uri="{FF2B5EF4-FFF2-40B4-BE49-F238E27FC236}">
                <a16:creationId xmlns:a16="http://schemas.microsoft.com/office/drawing/2014/main" id="{B742B5E5-6BF1-4A4E-9F41-78DE425E4AEF}"/>
              </a:ext>
            </a:extLst>
          </p:cNvPr>
          <p:cNvSpPr>
            <a:spLocks xmlns:a="http://schemas.openxmlformats.org/drawingml/2006/main" noGrp="1"/>
          </p:cNvSpPr>
          <p:nvPr/>
        </p:nvSpPr>
        <p:spPr>
          <a:xfrm xmlns:a="http://schemas.openxmlformats.org/drawingml/2006/main">
            <a:off x="10344150" y="2609850"/>
            <a:ext cx="1390650" cy="895350"/>
          </a:xfrm>
          <a:prstGeom xmlns:a="http://schemas.openxmlformats.org/drawingml/2006/main" prst="rect">
            <a:avLst/>
          </a:prstGeom>
          <a:solidFill xmlns:a="http://schemas.openxmlformats.org/drawingml/2006/main">
            <a:srgbClr val="FFFFFF"/>
          </a:solidFill>
          <a:ln xmlns:a="http://schemas.openxmlformats.org/drawingml/2006/main" w="13335">
            <a:solidFill>
              <a:srgbClr val="0B8F8A"/>
            </a:solidFill>
            <a:prstDash val="solid"/>
          </a:ln>
        </p:spPr>
      </p:sp>
      <p:sp>
        <p:nvSpPr>
          <p:cNvPr id="40" name="">
            <a:extLst xmlns:a="http://schemas.openxmlformats.org/drawingml/2006/main">
              <a:ext uri="{FF2B5EF4-FFF2-40B4-BE49-F238E27FC236}">
                <a16:creationId xmlns:a16="http://schemas.microsoft.com/office/drawing/2014/main" id="{CF44101C-1A7E-47BD-98C3-0E7F9290F40F}"/>
              </a:ext>
            </a:extLst>
          </p:cNvPr>
          <p:cNvSpPr>
            <a:spLocks xmlns:a="http://schemas.openxmlformats.org/drawingml/2006/main" noGrp="1"/>
          </p:cNvSpPr>
          <p:nvPr/>
        </p:nvSpPr>
        <p:spPr>
          <a:xfrm xmlns:a="http://schemas.openxmlformats.org/drawingml/2006/main">
            <a:off x="10439400" y="2724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72033"/>
                </a:solidFill>
                <a:latin typeface="Aptos"/>
                <a:ea typeface="Aptos"/>
                <a:cs typeface="Aptos"/>
              </a:defRPr>
            </a:pPr>
            <a:r>
              <a:rPr sz="975" b="1">
                <a:solidFill>
                  <a:srgbClr val="172033"/>
                </a:solidFill>
                <a:latin typeface="Aptos"/>
                <a:ea typeface="Aptos"/>
                <a:cs typeface="Aptos"/>
              </a:rPr>
              <a:t>Answer layer</a:t>
            </a:r>
          </a:p>
        </p:txBody>
      </p:sp>
      <p:sp>
        <p:nvSpPr>
          <p:cNvPr id="41" name="">
            <a:extLst xmlns:a="http://schemas.openxmlformats.org/drawingml/2006/main">
              <a:ext uri="{FF2B5EF4-FFF2-40B4-BE49-F238E27FC236}">
                <a16:creationId xmlns:a16="http://schemas.microsoft.com/office/drawing/2014/main" id="{037844ED-029C-4373-B71A-E79FAF704B87}"/>
              </a:ext>
            </a:extLst>
          </p:cNvPr>
          <p:cNvSpPr>
            <a:spLocks xmlns:a="http://schemas.openxmlformats.org/drawingml/2006/main" noGrp="1"/>
          </p:cNvSpPr>
          <p:nvPr/>
        </p:nvSpPr>
        <p:spPr>
          <a:xfrm xmlns:a="http://schemas.openxmlformats.org/drawingml/2006/main">
            <a:off x="10439400" y="2971800"/>
            <a:ext cx="1200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5F6B7A"/>
                </a:solidFill>
                <a:latin typeface="Aptos"/>
                <a:ea typeface="Aptos"/>
                <a:cs typeface="Aptos"/>
              </a:defRPr>
            </a:pPr>
            <a:r>
              <a:rPr sz="788" b="0">
                <a:solidFill>
                  <a:srgbClr val="5F6B7A"/>
                </a:solidFill>
                <a:latin typeface="Aptos"/>
                <a:ea typeface="Aptos"/>
                <a:cs typeface="Aptos"/>
              </a:rPr>
              <a:t>Slots, claims, verifier, reranker, diagnostics</a:t>
            </a:r>
          </a:p>
        </p:txBody>
      </p:sp>
      <p:sp>
        <p:nvSpPr>
          <p:cNvPr id="42" name="">
            <a:extLst xmlns:a="http://schemas.openxmlformats.org/drawingml/2006/main">
              <a:ext uri="{FF2B5EF4-FFF2-40B4-BE49-F238E27FC236}">
                <a16:creationId xmlns:a16="http://schemas.microsoft.com/office/drawing/2014/main" id="{0958EA8D-E5B8-4234-9404-51AAA072C49E}"/>
              </a:ext>
            </a:extLst>
          </p:cNvPr>
          <p:cNvSpPr>
            <a:spLocks xmlns:a="http://schemas.openxmlformats.org/drawingml/2006/main" noGrp="1"/>
          </p:cNvSpPr>
          <p:nvPr/>
        </p:nvSpPr>
        <p:spPr>
          <a:xfrm xmlns:a="http://schemas.openxmlformats.org/drawingml/2006/main">
            <a:off x="1181100" y="4648200"/>
            <a:ext cx="98298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E2A47"/>
                </a:solidFill>
                <a:latin typeface="Aptos"/>
                <a:ea typeface="Aptos"/>
                <a:cs typeface="Aptos"/>
              </a:defRPr>
            </a:pPr>
            <a:r>
              <a:rPr sz="1500" b="1">
                <a:solidFill>
                  <a:srgbClr val="0E2A47"/>
                </a:solidFill>
                <a:latin typeface="Aptos"/>
                <a:ea typeface="Aptos"/>
                <a:cs typeface="Aptos"/>
              </a:rPr>
              <a:t>The architecture stayed stable; the improvements were targeted and measurable.</a:t>
            </a:r>
          </a:p>
        </p:txBody>
      </p:sp>
      <p:sp>
        <p:nvSpPr>
          <p:cNvPr id="43" name="">
            <a:extLst xmlns:a="http://schemas.openxmlformats.org/drawingml/2006/main">
              <a:ext uri="{FF2B5EF4-FFF2-40B4-BE49-F238E27FC236}">
                <a16:creationId xmlns:a16="http://schemas.microsoft.com/office/drawing/2014/main" id="{64CEFA1D-7B10-4CC9-BDAA-580AFAA274A2}"/>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04</a:t>
            </a:r>
          </a:p>
        </p:txBody>
      </p:sp>
    </p:spTree>
    <p:extLst>
      <p:ext uri="{BB962C8B-B14F-4D97-AF65-F5344CB8AC3E}">
        <p14:creationId xmlns:p14="http://schemas.microsoft.com/office/powerpoint/2010/main" val="105656374"/>
      </p:ext>
    </p:extLst>
  </p:cSld>
</p:sld>
</file>

<file path=ppt/slides/slide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DFC795-18A6-4340-831C-99AB66B7086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1AD8F1F-8E0B-48D3-A9BB-5D7DDB042344}"/>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FF613DE6-58D0-4C15-A81D-F36F95F52437}"/>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Optimization Techniques Used Across Iterations</a:t>
            </a:r>
          </a:p>
        </p:txBody>
      </p:sp>
      <p:sp>
        <p:nvSpPr>
          <p:cNvPr id="4" name="">
            <a:extLst xmlns:a="http://schemas.openxmlformats.org/drawingml/2006/main">
              <a:ext uri="{FF2B5EF4-FFF2-40B4-BE49-F238E27FC236}">
                <a16:creationId xmlns:a16="http://schemas.microsoft.com/office/drawing/2014/main" id="{DD9CBE86-4F19-43B2-9B3E-12D4B0E5F44F}"/>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9C819E6-3810-4602-B500-1704955CA805}"/>
              </a:ext>
            </a:extLst>
          </p:cNvPr>
          <p:cNvSpPr>
            <a:spLocks xmlns:a="http://schemas.openxmlformats.org/drawingml/2006/main" noGrp="1"/>
          </p:cNvSpPr>
          <p:nvPr/>
        </p:nvSpPr>
        <p:spPr>
          <a:xfrm xmlns:a="http://schemas.openxmlformats.org/drawingml/2006/main">
            <a:off x="552450" y="1257300"/>
            <a:ext cx="10382250" cy="3238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3435D56B-C60D-45A2-BFDB-5B542802B4AC}"/>
              </a:ext>
            </a:extLst>
          </p:cNvPr>
          <p:cNvSpPr>
            <a:spLocks xmlns:a="http://schemas.openxmlformats.org/drawingml/2006/main" noGrp="1"/>
          </p:cNvSpPr>
          <p:nvPr/>
        </p:nvSpPr>
        <p:spPr>
          <a:xfrm xmlns:a="http://schemas.openxmlformats.org/drawingml/2006/main">
            <a:off x="552450" y="1257300"/>
            <a:ext cx="57150" cy="3238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08F931D-D596-417F-888E-1C0F9F18FA27}"/>
              </a:ext>
            </a:extLst>
          </p:cNvPr>
          <p:cNvSpPr>
            <a:spLocks xmlns:a="http://schemas.openxmlformats.org/drawingml/2006/main" noGrp="1"/>
          </p:cNvSpPr>
          <p:nvPr/>
        </p:nvSpPr>
        <p:spPr>
          <a:xfrm xmlns:a="http://schemas.openxmlformats.org/drawingml/2006/main">
            <a:off x="685800" y="13335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B513A48A-4248-48CF-A961-817FDD4CB191}"/>
              </a:ext>
            </a:extLst>
          </p:cNvPr>
          <p:cNvSpPr>
            <a:spLocks xmlns:a="http://schemas.openxmlformats.org/drawingml/2006/main" noGrp="1"/>
          </p:cNvSpPr>
          <p:nvPr/>
        </p:nvSpPr>
        <p:spPr>
          <a:xfrm xmlns:a="http://schemas.openxmlformats.org/drawingml/2006/main">
            <a:off x="1714500" y="1314450"/>
            <a:ext cx="9067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172033"/>
                </a:solidFill>
                <a:latin typeface="Aptos"/>
                <a:ea typeface="Aptos"/>
                <a:cs typeface="Aptos"/>
              </a:defRPr>
            </a:pPr>
            <a:r>
              <a:rPr sz="840" b="0">
                <a:solidFill>
                  <a:srgbClr val="172033"/>
                </a:solidFill>
                <a:latin typeface="Aptos"/>
                <a:ea typeface="Aptos"/>
                <a:cs typeface="Aptos"/>
              </a:rPr>
              <a:t>This table shows what each added module does in simple terms. Some decide what to do, some run tools efficiently, and some check the final answer.</a:t>
            </a:r>
          </a:p>
        </p:txBody>
      </p:sp>
      <p:sp>
        <p:nvSpPr>
          <p:cNvPr id="9" name="">
            <a:extLst xmlns:a="http://schemas.openxmlformats.org/drawingml/2006/main">
              <a:ext uri="{FF2B5EF4-FFF2-40B4-BE49-F238E27FC236}">
                <a16:creationId xmlns:a16="http://schemas.microsoft.com/office/drawing/2014/main" id="{B2D7331E-F086-4354-8AFF-71128836AFB4}"/>
              </a:ext>
            </a:extLst>
          </p:cNvPr>
          <p:cNvSpPr>
            <a:spLocks xmlns:a="http://schemas.openxmlformats.org/drawingml/2006/main" noGrp="1"/>
          </p:cNvSpPr>
          <p:nvPr/>
        </p:nvSpPr>
        <p:spPr>
          <a:xfrm xmlns:a="http://schemas.openxmlformats.org/drawingml/2006/main">
            <a:off x="552450" y="1657350"/>
            <a:ext cx="1714500" cy="2857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34CBEAE-2DC1-4DB6-900C-1ED71EF69494}"/>
              </a:ext>
            </a:extLst>
          </p:cNvPr>
          <p:cNvSpPr>
            <a:spLocks xmlns:a="http://schemas.openxmlformats.org/drawingml/2006/main" noGrp="1"/>
          </p:cNvSpPr>
          <p:nvPr/>
        </p:nvSpPr>
        <p:spPr>
          <a:xfrm xmlns:a="http://schemas.openxmlformats.org/drawingml/2006/main">
            <a:off x="628650" y="1733550"/>
            <a:ext cx="1562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1">
                <a:solidFill>
                  <a:srgbClr val="FFFFFF"/>
                </a:solidFill>
                <a:latin typeface="Aptos"/>
                <a:ea typeface="Aptos"/>
                <a:cs typeface="Aptos"/>
              </a:defRPr>
            </a:pPr>
            <a:r>
              <a:rPr sz="698" b="1">
                <a:solidFill>
                  <a:srgbClr val="FFFFFF"/>
                </a:solidFill>
                <a:latin typeface="Aptos"/>
                <a:ea typeface="Aptos"/>
                <a:cs typeface="Aptos"/>
              </a:rPr>
              <a:t>Mechanism</a:t>
            </a:r>
          </a:p>
        </p:txBody>
      </p:sp>
      <p:sp>
        <p:nvSpPr>
          <p:cNvPr id="11" name="">
            <a:extLst xmlns:a="http://schemas.openxmlformats.org/drawingml/2006/main">
              <a:ext uri="{FF2B5EF4-FFF2-40B4-BE49-F238E27FC236}">
                <a16:creationId xmlns:a16="http://schemas.microsoft.com/office/drawing/2014/main" id="{792EA071-7ADD-4B18-B88F-85A96BEEEBE2}"/>
              </a:ext>
            </a:extLst>
          </p:cNvPr>
          <p:cNvSpPr>
            <a:spLocks xmlns:a="http://schemas.openxmlformats.org/drawingml/2006/main" noGrp="1"/>
          </p:cNvSpPr>
          <p:nvPr/>
        </p:nvSpPr>
        <p:spPr>
          <a:xfrm xmlns:a="http://schemas.openxmlformats.org/drawingml/2006/main">
            <a:off x="2266950" y="1657350"/>
            <a:ext cx="2857500" cy="2857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F911453-DE57-4A3D-B40B-AB2597DC042C}"/>
              </a:ext>
            </a:extLst>
          </p:cNvPr>
          <p:cNvSpPr>
            <a:spLocks xmlns:a="http://schemas.openxmlformats.org/drawingml/2006/main" noGrp="1"/>
          </p:cNvSpPr>
          <p:nvPr/>
        </p:nvSpPr>
        <p:spPr>
          <a:xfrm xmlns:a="http://schemas.openxmlformats.org/drawingml/2006/main">
            <a:off x="2343150" y="1733550"/>
            <a:ext cx="2705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1">
                <a:solidFill>
                  <a:srgbClr val="FFFFFF"/>
                </a:solidFill>
                <a:latin typeface="Aptos"/>
                <a:ea typeface="Aptos"/>
                <a:cs typeface="Aptos"/>
              </a:defRPr>
            </a:pPr>
            <a:r>
              <a:rPr sz="698" b="1">
                <a:solidFill>
                  <a:srgbClr val="FFFFFF"/>
                </a:solidFill>
                <a:latin typeface="Aptos"/>
                <a:ea typeface="Aptos"/>
                <a:cs typeface="Aptos"/>
              </a:rPr>
              <a:t>Technique Used</a:t>
            </a:r>
          </a:p>
        </p:txBody>
      </p:sp>
      <p:sp>
        <p:nvSpPr>
          <p:cNvPr id="13" name="">
            <a:extLst xmlns:a="http://schemas.openxmlformats.org/drawingml/2006/main">
              <a:ext uri="{FF2B5EF4-FFF2-40B4-BE49-F238E27FC236}">
                <a16:creationId xmlns:a16="http://schemas.microsoft.com/office/drawing/2014/main" id="{DFA1CC2B-24B1-4EA2-9D53-36E550C54EB2}"/>
              </a:ext>
            </a:extLst>
          </p:cNvPr>
          <p:cNvSpPr>
            <a:spLocks xmlns:a="http://schemas.openxmlformats.org/drawingml/2006/main" noGrp="1"/>
          </p:cNvSpPr>
          <p:nvPr/>
        </p:nvSpPr>
        <p:spPr>
          <a:xfrm xmlns:a="http://schemas.openxmlformats.org/drawingml/2006/main">
            <a:off x="5124450" y="1657350"/>
            <a:ext cx="3143250" cy="2857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CA2FDBB-9405-4D49-8E8E-84DD154FD838}"/>
              </a:ext>
            </a:extLst>
          </p:cNvPr>
          <p:cNvSpPr>
            <a:spLocks xmlns:a="http://schemas.openxmlformats.org/drawingml/2006/main" noGrp="1"/>
          </p:cNvSpPr>
          <p:nvPr/>
        </p:nvSpPr>
        <p:spPr>
          <a:xfrm xmlns:a="http://schemas.openxmlformats.org/drawingml/2006/main">
            <a:off x="5200650" y="1733550"/>
            <a:ext cx="2990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1">
                <a:solidFill>
                  <a:srgbClr val="FFFFFF"/>
                </a:solidFill>
                <a:latin typeface="Aptos"/>
                <a:ea typeface="Aptos"/>
                <a:cs typeface="Aptos"/>
              </a:defRPr>
            </a:pPr>
            <a:r>
              <a:rPr sz="698" b="1">
                <a:solidFill>
                  <a:srgbClr val="FFFFFF"/>
                </a:solidFill>
                <a:latin typeface="Aptos"/>
                <a:ea typeface="Aptos"/>
                <a:cs typeface="Aptos"/>
              </a:rPr>
              <a:t>Why It Helps</a:t>
            </a:r>
          </a:p>
        </p:txBody>
      </p:sp>
      <p:sp>
        <p:nvSpPr>
          <p:cNvPr id="15" name="">
            <a:extLst xmlns:a="http://schemas.openxmlformats.org/drawingml/2006/main">
              <a:ext uri="{FF2B5EF4-FFF2-40B4-BE49-F238E27FC236}">
                <a16:creationId xmlns:a16="http://schemas.microsoft.com/office/drawing/2014/main" id="{6AFEAF6D-BA5B-43B6-9E44-48A4D7583598}"/>
              </a:ext>
            </a:extLst>
          </p:cNvPr>
          <p:cNvSpPr>
            <a:spLocks xmlns:a="http://schemas.openxmlformats.org/drawingml/2006/main" noGrp="1"/>
          </p:cNvSpPr>
          <p:nvPr/>
        </p:nvSpPr>
        <p:spPr>
          <a:xfrm xmlns:a="http://schemas.openxmlformats.org/drawingml/2006/main">
            <a:off x="552450" y="1943100"/>
            <a:ext cx="1714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6" name="">
            <a:extLst xmlns:a="http://schemas.openxmlformats.org/drawingml/2006/main">
              <a:ext uri="{FF2B5EF4-FFF2-40B4-BE49-F238E27FC236}">
                <a16:creationId xmlns:a16="http://schemas.microsoft.com/office/drawing/2014/main" id="{14053CE5-5A1A-405E-B522-788063333FA1}"/>
              </a:ext>
            </a:extLst>
          </p:cNvPr>
          <p:cNvSpPr>
            <a:spLocks xmlns:a="http://schemas.openxmlformats.org/drawingml/2006/main" noGrp="1"/>
          </p:cNvSpPr>
          <p:nvPr/>
        </p:nvSpPr>
        <p:spPr>
          <a:xfrm xmlns:a="http://schemas.openxmlformats.org/drawingml/2006/main">
            <a:off x="628650" y="19907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SQL/API templates</a:t>
            </a:r>
          </a:p>
        </p:txBody>
      </p:sp>
      <p:sp>
        <p:nvSpPr>
          <p:cNvPr id="17" name="">
            <a:extLst xmlns:a="http://schemas.openxmlformats.org/drawingml/2006/main">
              <a:ext uri="{FF2B5EF4-FFF2-40B4-BE49-F238E27FC236}">
                <a16:creationId xmlns:a16="http://schemas.microsoft.com/office/drawing/2014/main" id="{A84D9D05-ABD1-476F-BD3C-F0C5A5318A91}"/>
              </a:ext>
            </a:extLst>
          </p:cNvPr>
          <p:cNvSpPr>
            <a:spLocks xmlns:a="http://schemas.openxmlformats.org/drawingml/2006/main" noGrp="1"/>
          </p:cNvSpPr>
          <p:nvPr/>
        </p:nvSpPr>
        <p:spPr>
          <a:xfrm xmlns:a="http://schemas.openxmlformats.org/drawingml/2006/main">
            <a:off x="2266950" y="1943100"/>
            <a:ext cx="2857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8" name="">
            <a:extLst xmlns:a="http://schemas.openxmlformats.org/drawingml/2006/main">
              <a:ext uri="{FF2B5EF4-FFF2-40B4-BE49-F238E27FC236}">
                <a16:creationId xmlns:a16="http://schemas.microsoft.com/office/drawing/2014/main" id="{7F56CD5A-BF34-4352-8647-C233FAC881F4}"/>
              </a:ext>
            </a:extLst>
          </p:cNvPr>
          <p:cNvSpPr>
            <a:spLocks xmlns:a="http://schemas.openxmlformats.org/drawingml/2006/main" noGrp="1"/>
          </p:cNvSpPr>
          <p:nvPr/>
        </p:nvSpPr>
        <p:spPr>
          <a:xfrm xmlns:a="http://schemas.openxmlformats.org/drawingml/2006/main">
            <a:off x="2343150" y="19907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Schema-guided planning — safe SQL/API patterns.</a:t>
            </a:r>
          </a:p>
        </p:txBody>
      </p:sp>
      <p:sp>
        <p:nvSpPr>
          <p:cNvPr id="19" name="">
            <a:extLst xmlns:a="http://schemas.openxmlformats.org/drawingml/2006/main">
              <a:ext uri="{FF2B5EF4-FFF2-40B4-BE49-F238E27FC236}">
                <a16:creationId xmlns:a16="http://schemas.microsoft.com/office/drawing/2014/main" id="{0A2065B2-0745-491F-BF8F-785910D3ED77}"/>
              </a:ext>
            </a:extLst>
          </p:cNvPr>
          <p:cNvSpPr>
            <a:spLocks xmlns:a="http://schemas.openxmlformats.org/drawingml/2006/main" noGrp="1"/>
          </p:cNvSpPr>
          <p:nvPr/>
        </p:nvSpPr>
        <p:spPr>
          <a:xfrm xmlns:a="http://schemas.openxmlformats.org/drawingml/2006/main">
            <a:off x="5124450" y="1943100"/>
            <a:ext cx="31432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20" name="">
            <a:extLst xmlns:a="http://schemas.openxmlformats.org/drawingml/2006/main">
              <a:ext uri="{FF2B5EF4-FFF2-40B4-BE49-F238E27FC236}">
                <a16:creationId xmlns:a16="http://schemas.microsoft.com/office/drawing/2014/main" id="{D105A597-8BF5-44BB-80F7-B35CBCA0ADC3}"/>
              </a:ext>
            </a:extLst>
          </p:cNvPr>
          <p:cNvSpPr>
            <a:spLocks xmlns:a="http://schemas.openxmlformats.org/drawingml/2006/main" noGrp="1"/>
          </p:cNvSpPr>
          <p:nvPr/>
        </p:nvSpPr>
        <p:spPr>
          <a:xfrm xmlns:a="http://schemas.openxmlformats.org/drawingml/2006/main">
            <a:off x="5200650" y="19907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Gives the system safe SQL/API patterns instead of letting it guess.</a:t>
            </a:r>
          </a:p>
        </p:txBody>
      </p:sp>
      <p:sp>
        <p:nvSpPr>
          <p:cNvPr id="21" name="">
            <a:extLst xmlns:a="http://schemas.openxmlformats.org/drawingml/2006/main">
              <a:ext uri="{FF2B5EF4-FFF2-40B4-BE49-F238E27FC236}">
                <a16:creationId xmlns:a16="http://schemas.microsoft.com/office/drawing/2014/main" id="{ED3E9721-E141-4D1E-9B74-8A119914B905}"/>
              </a:ext>
            </a:extLst>
          </p:cNvPr>
          <p:cNvSpPr>
            <a:spLocks xmlns:a="http://schemas.openxmlformats.org/drawingml/2006/main" noGrp="1"/>
          </p:cNvSpPr>
          <p:nvPr/>
        </p:nvSpPr>
        <p:spPr>
          <a:xfrm xmlns:a="http://schemas.openxmlformats.org/drawingml/2006/main">
            <a:off x="552450" y="2247900"/>
            <a:ext cx="1714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22" name="">
            <a:extLst xmlns:a="http://schemas.openxmlformats.org/drawingml/2006/main">
              <a:ext uri="{FF2B5EF4-FFF2-40B4-BE49-F238E27FC236}">
                <a16:creationId xmlns:a16="http://schemas.microsoft.com/office/drawing/2014/main" id="{031F2E3D-55BD-4DE9-9900-0209221E1788}"/>
              </a:ext>
            </a:extLst>
          </p:cNvPr>
          <p:cNvSpPr>
            <a:spLocks xmlns:a="http://schemas.openxmlformats.org/drawingml/2006/main" noGrp="1"/>
          </p:cNvSpPr>
          <p:nvPr/>
        </p:nvSpPr>
        <p:spPr>
          <a:xfrm xmlns:a="http://schemas.openxmlformats.org/drawingml/2006/main">
            <a:off x="628650" y="22955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failure_analysis</a:t>
            </a:r>
          </a:p>
        </p:txBody>
      </p:sp>
      <p:sp>
        <p:nvSpPr>
          <p:cNvPr id="23" name="">
            <a:extLst xmlns:a="http://schemas.openxmlformats.org/drawingml/2006/main">
              <a:ext uri="{FF2B5EF4-FFF2-40B4-BE49-F238E27FC236}">
                <a16:creationId xmlns:a16="http://schemas.microsoft.com/office/drawing/2014/main" id="{E7752A64-7F69-41B1-AF65-08B1CA46AFD2}"/>
              </a:ext>
            </a:extLst>
          </p:cNvPr>
          <p:cNvSpPr>
            <a:spLocks xmlns:a="http://schemas.openxmlformats.org/drawingml/2006/main" noGrp="1"/>
          </p:cNvSpPr>
          <p:nvPr/>
        </p:nvSpPr>
        <p:spPr>
          <a:xfrm xmlns:a="http://schemas.openxmlformats.org/drawingml/2006/main">
            <a:off x="2266950" y="2247900"/>
            <a:ext cx="2857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24" name="">
            <a:extLst xmlns:a="http://schemas.openxmlformats.org/drawingml/2006/main">
              <a:ext uri="{FF2B5EF4-FFF2-40B4-BE49-F238E27FC236}">
                <a16:creationId xmlns:a16="http://schemas.microsoft.com/office/drawing/2014/main" id="{3B021E64-4729-4F41-98D5-9F5818762F85}"/>
              </a:ext>
            </a:extLst>
          </p:cNvPr>
          <p:cNvSpPr>
            <a:spLocks xmlns:a="http://schemas.openxmlformats.org/drawingml/2006/main" noGrp="1"/>
          </p:cNvSpPr>
          <p:nvPr/>
        </p:nvSpPr>
        <p:spPr>
          <a:xfrm xmlns:a="http://schemas.openxmlformats.org/drawingml/2006/main">
            <a:off x="2343150" y="22955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Benchmark-guided debugging — fix weakest examples first.</a:t>
            </a:r>
          </a:p>
        </p:txBody>
      </p:sp>
      <p:sp>
        <p:nvSpPr>
          <p:cNvPr id="25" name="">
            <a:extLst xmlns:a="http://schemas.openxmlformats.org/drawingml/2006/main">
              <a:ext uri="{FF2B5EF4-FFF2-40B4-BE49-F238E27FC236}">
                <a16:creationId xmlns:a16="http://schemas.microsoft.com/office/drawing/2014/main" id="{D73A1A0D-219D-4056-8E02-F39B1113DCAB}"/>
              </a:ext>
            </a:extLst>
          </p:cNvPr>
          <p:cNvSpPr>
            <a:spLocks xmlns:a="http://schemas.openxmlformats.org/drawingml/2006/main" noGrp="1"/>
          </p:cNvSpPr>
          <p:nvPr/>
        </p:nvSpPr>
        <p:spPr>
          <a:xfrm xmlns:a="http://schemas.openxmlformats.org/drawingml/2006/main">
            <a:off x="5124450" y="2247900"/>
            <a:ext cx="314325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26" name="">
            <a:extLst xmlns:a="http://schemas.openxmlformats.org/drawingml/2006/main">
              <a:ext uri="{FF2B5EF4-FFF2-40B4-BE49-F238E27FC236}">
                <a16:creationId xmlns:a16="http://schemas.microsoft.com/office/drawing/2014/main" id="{30B630AD-F09C-4DF0-8BB8-B03052CAE3EE}"/>
              </a:ext>
            </a:extLst>
          </p:cNvPr>
          <p:cNvSpPr>
            <a:spLocks xmlns:a="http://schemas.openxmlformats.org/drawingml/2006/main" noGrp="1"/>
          </p:cNvSpPr>
          <p:nvPr/>
        </p:nvSpPr>
        <p:spPr>
          <a:xfrm xmlns:a="http://schemas.openxmlformats.org/drawingml/2006/main">
            <a:off x="5200650" y="22955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Shows which examples failed and what to fix next.</a:t>
            </a:r>
          </a:p>
        </p:txBody>
      </p:sp>
      <p:sp>
        <p:nvSpPr>
          <p:cNvPr id="27" name="">
            <a:extLst xmlns:a="http://schemas.openxmlformats.org/drawingml/2006/main">
              <a:ext uri="{FF2B5EF4-FFF2-40B4-BE49-F238E27FC236}">
                <a16:creationId xmlns:a16="http://schemas.microsoft.com/office/drawing/2014/main" id="{C60E7AD7-F851-4B74-8531-A72E38DF7D88}"/>
              </a:ext>
            </a:extLst>
          </p:cNvPr>
          <p:cNvSpPr>
            <a:spLocks xmlns:a="http://schemas.openxmlformats.org/drawingml/2006/main" noGrp="1"/>
          </p:cNvSpPr>
          <p:nvPr/>
        </p:nvSpPr>
        <p:spPr>
          <a:xfrm xmlns:a="http://schemas.openxmlformats.org/drawingml/2006/main">
            <a:off x="552450" y="2552700"/>
            <a:ext cx="1714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28" name="">
            <a:extLst xmlns:a="http://schemas.openxmlformats.org/drawingml/2006/main">
              <a:ext uri="{FF2B5EF4-FFF2-40B4-BE49-F238E27FC236}">
                <a16:creationId xmlns:a16="http://schemas.microsoft.com/office/drawing/2014/main" id="{E00DE03B-2B75-456F-9A68-E338FE74AC32}"/>
              </a:ext>
            </a:extLst>
          </p:cNvPr>
          <p:cNvSpPr>
            <a:spLocks xmlns:a="http://schemas.openxmlformats.org/drawingml/2006/main" noGrp="1"/>
          </p:cNvSpPr>
          <p:nvPr/>
        </p:nvSpPr>
        <p:spPr>
          <a:xfrm xmlns:a="http://schemas.openxmlformats.org/drawingml/2006/main">
            <a:off x="628650" y="26003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answer_templates</a:t>
            </a:r>
          </a:p>
        </p:txBody>
      </p:sp>
      <p:sp>
        <p:nvSpPr>
          <p:cNvPr id="29" name="">
            <a:extLst xmlns:a="http://schemas.openxmlformats.org/drawingml/2006/main">
              <a:ext uri="{FF2B5EF4-FFF2-40B4-BE49-F238E27FC236}">
                <a16:creationId xmlns:a16="http://schemas.microsoft.com/office/drawing/2014/main" id="{2E6086A9-388C-47AB-880F-35C15A3AF3BE}"/>
              </a:ext>
            </a:extLst>
          </p:cNvPr>
          <p:cNvSpPr>
            <a:spLocks xmlns:a="http://schemas.openxmlformats.org/drawingml/2006/main" noGrp="1"/>
          </p:cNvSpPr>
          <p:nvPr/>
        </p:nvSpPr>
        <p:spPr>
          <a:xfrm xmlns:a="http://schemas.openxmlformats.org/drawingml/2006/main">
            <a:off x="2266950" y="2552700"/>
            <a:ext cx="2857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30" name="">
            <a:extLst xmlns:a="http://schemas.openxmlformats.org/drawingml/2006/main">
              <a:ext uri="{FF2B5EF4-FFF2-40B4-BE49-F238E27FC236}">
                <a16:creationId xmlns:a16="http://schemas.microsoft.com/office/drawing/2014/main" id="{F386FCE5-202F-4F86-A34E-7F7DBB014708}"/>
              </a:ext>
            </a:extLst>
          </p:cNvPr>
          <p:cNvSpPr>
            <a:spLocks xmlns:a="http://schemas.openxmlformats.org/drawingml/2006/main" noGrp="1"/>
          </p:cNvSpPr>
          <p:nvPr/>
        </p:nvSpPr>
        <p:spPr>
          <a:xfrm xmlns:a="http://schemas.openxmlformats.org/drawingml/2006/main">
            <a:off x="2343150" y="26003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Structured generation — use the right answer format.</a:t>
            </a:r>
          </a:p>
        </p:txBody>
      </p:sp>
      <p:sp>
        <p:nvSpPr>
          <p:cNvPr id="31" name="">
            <a:extLst xmlns:a="http://schemas.openxmlformats.org/drawingml/2006/main">
              <a:ext uri="{FF2B5EF4-FFF2-40B4-BE49-F238E27FC236}">
                <a16:creationId xmlns:a16="http://schemas.microsoft.com/office/drawing/2014/main" id="{799D3CE0-3EAE-46DA-A322-31FC69F659C2}"/>
              </a:ext>
            </a:extLst>
          </p:cNvPr>
          <p:cNvSpPr>
            <a:spLocks xmlns:a="http://schemas.openxmlformats.org/drawingml/2006/main" noGrp="1"/>
          </p:cNvSpPr>
          <p:nvPr/>
        </p:nvSpPr>
        <p:spPr>
          <a:xfrm xmlns:a="http://schemas.openxmlformats.org/drawingml/2006/main">
            <a:off x="5124450" y="2552700"/>
            <a:ext cx="31432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32" name="">
            <a:extLst xmlns:a="http://schemas.openxmlformats.org/drawingml/2006/main">
              <a:ext uri="{FF2B5EF4-FFF2-40B4-BE49-F238E27FC236}">
                <a16:creationId xmlns:a16="http://schemas.microsoft.com/office/drawing/2014/main" id="{B74F11AD-3634-4E8A-880B-3FE2351FC2B1}"/>
              </a:ext>
            </a:extLst>
          </p:cNvPr>
          <p:cNvSpPr>
            <a:spLocks xmlns:a="http://schemas.openxmlformats.org/drawingml/2006/main" noGrp="1"/>
          </p:cNvSpPr>
          <p:nvPr/>
        </p:nvSpPr>
        <p:spPr>
          <a:xfrm xmlns:a="http://schemas.openxmlformats.org/drawingml/2006/main">
            <a:off x="5200650" y="26003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Uses the right answer format for count, list, status, and detail questions.</a:t>
            </a:r>
          </a:p>
        </p:txBody>
      </p:sp>
      <p:sp>
        <p:nvSpPr>
          <p:cNvPr id="33" name="">
            <a:extLst xmlns:a="http://schemas.openxmlformats.org/drawingml/2006/main">
              <a:ext uri="{FF2B5EF4-FFF2-40B4-BE49-F238E27FC236}">
                <a16:creationId xmlns:a16="http://schemas.microsoft.com/office/drawing/2014/main" id="{E69DC3AD-8F30-4E7A-957A-C25FB5278435}"/>
              </a:ext>
            </a:extLst>
          </p:cNvPr>
          <p:cNvSpPr>
            <a:spLocks xmlns:a="http://schemas.openxmlformats.org/drawingml/2006/main" noGrp="1"/>
          </p:cNvSpPr>
          <p:nvPr/>
        </p:nvSpPr>
        <p:spPr>
          <a:xfrm xmlns:a="http://schemas.openxmlformats.org/drawingml/2006/main">
            <a:off x="552450" y="2857500"/>
            <a:ext cx="1714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34" name="">
            <a:extLst xmlns:a="http://schemas.openxmlformats.org/drawingml/2006/main">
              <a:ext uri="{FF2B5EF4-FFF2-40B4-BE49-F238E27FC236}">
                <a16:creationId xmlns:a16="http://schemas.microsoft.com/office/drawing/2014/main" id="{3388AFBC-4D00-4A9F-ACB5-D44EEDE205F1}"/>
              </a:ext>
            </a:extLst>
          </p:cNvPr>
          <p:cNvSpPr>
            <a:spLocks xmlns:a="http://schemas.openxmlformats.org/drawingml/2006/main" noGrp="1"/>
          </p:cNvSpPr>
          <p:nvPr/>
        </p:nvSpPr>
        <p:spPr>
          <a:xfrm xmlns:a="http://schemas.openxmlformats.org/drawingml/2006/main">
            <a:off x="628650" y="29051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evidence_policy</a:t>
            </a:r>
          </a:p>
        </p:txBody>
      </p:sp>
      <p:sp>
        <p:nvSpPr>
          <p:cNvPr id="35" name="">
            <a:extLst xmlns:a="http://schemas.openxmlformats.org/drawingml/2006/main">
              <a:ext uri="{FF2B5EF4-FFF2-40B4-BE49-F238E27FC236}">
                <a16:creationId xmlns:a16="http://schemas.microsoft.com/office/drawing/2014/main" id="{5870080D-1CAA-4371-9C81-3EBFA8BA17D3}"/>
              </a:ext>
            </a:extLst>
          </p:cNvPr>
          <p:cNvSpPr>
            <a:spLocks xmlns:a="http://schemas.openxmlformats.org/drawingml/2006/main" noGrp="1"/>
          </p:cNvSpPr>
          <p:nvPr/>
        </p:nvSpPr>
        <p:spPr>
          <a:xfrm xmlns:a="http://schemas.openxmlformats.org/drawingml/2006/main">
            <a:off x="2266950" y="2857500"/>
            <a:ext cx="2857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36" name="">
            <a:extLst xmlns:a="http://schemas.openxmlformats.org/drawingml/2006/main">
              <a:ext uri="{FF2B5EF4-FFF2-40B4-BE49-F238E27FC236}">
                <a16:creationId xmlns:a16="http://schemas.microsoft.com/office/drawing/2014/main" id="{D83FF2BD-4DA2-4555-8ECF-78AA482533B5}"/>
              </a:ext>
            </a:extLst>
          </p:cNvPr>
          <p:cNvSpPr>
            <a:spLocks xmlns:a="http://schemas.openxmlformats.org/drawingml/2006/main" noGrp="1"/>
          </p:cNvSpPr>
          <p:nvPr/>
        </p:nvSpPr>
        <p:spPr>
          <a:xfrm xmlns:a="http://schemas.openxmlformats.org/drawingml/2006/main">
            <a:off x="2343150" y="29051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Conditional execution — decide if API is needed.</a:t>
            </a:r>
          </a:p>
        </p:txBody>
      </p:sp>
      <p:sp>
        <p:nvSpPr>
          <p:cNvPr id="37" name="">
            <a:extLst xmlns:a="http://schemas.openxmlformats.org/drawingml/2006/main">
              <a:ext uri="{FF2B5EF4-FFF2-40B4-BE49-F238E27FC236}">
                <a16:creationId xmlns:a16="http://schemas.microsoft.com/office/drawing/2014/main" id="{C9CF64E5-79AF-4FD2-98AF-EEB54F9E44F4}"/>
              </a:ext>
            </a:extLst>
          </p:cNvPr>
          <p:cNvSpPr>
            <a:spLocks xmlns:a="http://schemas.openxmlformats.org/drawingml/2006/main" noGrp="1"/>
          </p:cNvSpPr>
          <p:nvPr/>
        </p:nvSpPr>
        <p:spPr>
          <a:xfrm xmlns:a="http://schemas.openxmlformats.org/drawingml/2006/main">
            <a:off x="5124450" y="2857500"/>
            <a:ext cx="314325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38" name="">
            <a:extLst xmlns:a="http://schemas.openxmlformats.org/drawingml/2006/main">
              <a:ext uri="{FF2B5EF4-FFF2-40B4-BE49-F238E27FC236}">
                <a16:creationId xmlns:a16="http://schemas.microsoft.com/office/drawing/2014/main" id="{1BAC8BDD-2C5E-4D74-91E6-8A026B3246B7}"/>
              </a:ext>
            </a:extLst>
          </p:cNvPr>
          <p:cNvSpPr>
            <a:spLocks xmlns:a="http://schemas.openxmlformats.org/drawingml/2006/main" noGrp="1"/>
          </p:cNvSpPr>
          <p:nvPr/>
        </p:nvSpPr>
        <p:spPr>
          <a:xfrm xmlns:a="http://schemas.openxmlformats.org/drawingml/2006/main">
            <a:off x="5200650" y="29051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Decides whether an API call is needed or can be skipped.</a:t>
            </a:r>
          </a:p>
        </p:txBody>
      </p:sp>
      <p:sp>
        <p:nvSpPr>
          <p:cNvPr id="39" name="">
            <a:extLst xmlns:a="http://schemas.openxmlformats.org/drawingml/2006/main">
              <a:ext uri="{FF2B5EF4-FFF2-40B4-BE49-F238E27FC236}">
                <a16:creationId xmlns:a16="http://schemas.microsoft.com/office/drawing/2014/main" id="{4C8C256D-2303-4469-A58A-B6FEFDA929F1}"/>
              </a:ext>
            </a:extLst>
          </p:cNvPr>
          <p:cNvSpPr>
            <a:spLocks xmlns:a="http://schemas.openxmlformats.org/drawingml/2006/main" noGrp="1"/>
          </p:cNvSpPr>
          <p:nvPr/>
        </p:nvSpPr>
        <p:spPr>
          <a:xfrm xmlns:a="http://schemas.openxmlformats.org/drawingml/2006/main">
            <a:off x="552450" y="3162300"/>
            <a:ext cx="1714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40" name="">
            <a:extLst xmlns:a="http://schemas.openxmlformats.org/drawingml/2006/main">
              <a:ext uri="{FF2B5EF4-FFF2-40B4-BE49-F238E27FC236}">
                <a16:creationId xmlns:a16="http://schemas.microsoft.com/office/drawing/2014/main" id="{A2420C45-62E8-4334-9437-05B0FD1D4DC7}"/>
              </a:ext>
            </a:extLst>
          </p:cNvPr>
          <p:cNvSpPr>
            <a:spLocks xmlns:a="http://schemas.openxmlformats.org/drawingml/2006/main" noGrp="1"/>
          </p:cNvSpPr>
          <p:nvPr/>
        </p:nvSpPr>
        <p:spPr>
          <a:xfrm xmlns:a="http://schemas.openxmlformats.org/drawingml/2006/main">
            <a:off x="628650" y="32099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call_budget</a:t>
            </a:r>
          </a:p>
        </p:txBody>
      </p:sp>
      <p:sp>
        <p:nvSpPr>
          <p:cNvPr id="41" name="">
            <a:extLst xmlns:a="http://schemas.openxmlformats.org/drawingml/2006/main">
              <a:ext uri="{FF2B5EF4-FFF2-40B4-BE49-F238E27FC236}">
                <a16:creationId xmlns:a16="http://schemas.microsoft.com/office/drawing/2014/main" id="{9669F96B-B164-468B-9171-1F7AF98E2B0D}"/>
              </a:ext>
            </a:extLst>
          </p:cNvPr>
          <p:cNvSpPr>
            <a:spLocks xmlns:a="http://schemas.openxmlformats.org/drawingml/2006/main" noGrp="1"/>
          </p:cNvSpPr>
          <p:nvPr/>
        </p:nvSpPr>
        <p:spPr>
          <a:xfrm xmlns:a="http://schemas.openxmlformats.org/drawingml/2006/main">
            <a:off x="2266950" y="3162300"/>
            <a:ext cx="2857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42" name="">
            <a:extLst xmlns:a="http://schemas.openxmlformats.org/drawingml/2006/main">
              <a:ext uri="{FF2B5EF4-FFF2-40B4-BE49-F238E27FC236}">
                <a16:creationId xmlns:a16="http://schemas.microsoft.com/office/drawing/2014/main" id="{7A293E9E-2D8A-48EC-B459-9059664CF50D}"/>
              </a:ext>
            </a:extLst>
          </p:cNvPr>
          <p:cNvSpPr>
            <a:spLocks xmlns:a="http://schemas.openxmlformats.org/drawingml/2006/main" noGrp="1"/>
          </p:cNvSpPr>
          <p:nvPr/>
        </p:nvSpPr>
        <p:spPr>
          <a:xfrm xmlns:a="http://schemas.openxmlformats.org/drawingml/2006/main">
            <a:off x="2343150" y="32099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Tool-call budget — limit SQL/API spending.</a:t>
            </a:r>
          </a:p>
        </p:txBody>
      </p:sp>
      <p:sp>
        <p:nvSpPr>
          <p:cNvPr id="43" name="">
            <a:extLst xmlns:a="http://schemas.openxmlformats.org/drawingml/2006/main">
              <a:ext uri="{FF2B5EF4-FFF2-40B4-BE49-F238E27FC236}">
                <a16:creationId xmlns:a16="http://schemas.microsoft.com/office/drawing/2014/main" id="{E04396A5-6E3F-41CC-8E46-BD8BFEFE567D}"/>
              </a:ext>
            </a:extLst>
          </p:cNvPr>
          <p:cNvSpPr>
            <a:spLocks xmlns:a="http://schemas.openxmlformats.org/drawingml/2006/main" noGrp="1"/>
          </p:cNvSpPr>
          <p:nvPr/>
        </p:nvSpPr>
        <p:spPr>
          <a:xfrm xmlns:a="http://schemas.openxmlformats.org/drawingml/2006/main">
            <a:off x="5124450" y="3162300"/>
            <a:ext cx="31432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44" name="">
            <a:extLst xmlns:a="http://schemas.openxmlformats.org/drawingml/2006/main">
              <a:ext uri="{FF2B5EF4-FFF2-40B4-BE49-F238E27FC236}">
                <a16:creationId xmlns:a16="http://schemas.microsoft.com/office/drawing/2014/main" id="{F9C43B2D-C86C-4A83-929A-A1E9E6E3BB0E}"/>
              </a:ext>
            </a:extLst>
          </p:cNvPr>
          <p:cNvSpPr>
            <a:spLocks xmlns:a="http://schemas.openxmlformats.org/drawingml/2006/main" noGrp="1"/>
          </p:cNvSpPr>
          <p:nvPr/>
        </p:nvSpPr>
        <p:spPr>
          <a:xfrm xmlns:a="http://schemas.openxmlformats.org/drawingml/2006/main">
            <a:off x="5200650" y="32099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Limits how many SQL/API calls the system can make.</a:t>
            </a:r>
          </a:p>
        </p:txBody>
      </p:sp>
      <p:sp>
        <p:nvSpPr>
          <p:cNvPr id="45" name="">
            <a:extLst xmlns:a="http://schemas.openxmlformats.org/drawingml/2006/main">
              <a:ext uri="{FF2B5EF4-FFF2-40B4-BE49-F238E27FC236}">
                <a16:creationId xmlns:a16="http://schemas.microsoft.com/office/drawing/2014/main" id="{772B2980-41A2-401B-A990-4778C22C7ABA}"/>
              </a:ext>
            </a:extLst>
          </p:cNvPr>
          <p:cNvSpPr>
            <a:spLocks xmlns:a="http://schemas.openxmlformats.org/drawingml/2006/main" noGrp="1"/>
          </p:cNvSpPr>
          <p:nvPr/>
        </p:nvSpPr>
        <p:spPr>
          <a:xfrm xmlns:a="http://schemas.openxmlformats.org/drawingml/2006/main">
            <a:off x="552450" y="3467100"/>
            <a:ext cx="1714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46" name="">
            <a:extLst xmlns:a="http://schemas.openxmlformats.org/drawingml/2006/main">
              <a:ext uri="{FF2B5EF4-FFF2-40B4-BE49-F238E27FC236}">
                <a16:creationId xmlns:a16="http://schemas.microsoft.com/office/drawing/2014/main" id="{59E876B2-6C70-4C9A-88A5-84A43C672080}"/>
              </a:ext>
            </a:extLst>
          </p:cNvPr>
          <p:cNvSpPr>
            <a:spLocks xmlns:a="http://schemas.openxmlformats.org/drawingml/2006/main" noGrp="1"/>
          </p:cNvSpPr>
          <p:nvPr/>
        </p:nvSpPr>
        <p:spPr>
          <a:xfrm xmlns:a="http://schemas.openxmlformats.org/drawingml/2006/main">
            <a:off x="628650" y="35147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EvidenceBus</a:t>
            </a:r>
          </a:p>
        </p:txBody>
      </p:sp>
      <p:sp>
        <p:nvSpPr>
          <p:cNvPr id="47" name="">
            <a:extLst xmlns:a="http://schemas.openxmlformats.org/drawingml/2006/main">
              <a:ext uri="{FF2B5EF4-FFF2-40B4-BE49-F238E27FC236}">
                <a16:creationId xmlns:a16="http://schemas.microsoft.com/office/drawing/2014/main" id="{0D1F3156-ABEE-4707-A6AA-1895EFDC5537}"/>
              </a:ext>
            </a:extLst>
          </p:cNvPr>
          <p:cNvSpPr>
            <a:spLocks xmlns:a="http://schemas.openxmlformats.org/drawingml/2006/main" noGrp="1"/>
          </p:cNvSpPr>
          <p:nvPr/>
        </p:nvSpPr>
        <p:spPr>
          <a:xfrm xmlns:a="http://schemas.openxmlformats.org/drawingml/2006/main">
            <a:off x="2266950" y="3467100"/>
            <a:ext cx="2857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48" name="">
            <a:extLst xmlns:a="http://schemas.openxmlformats.org/drawingml/2006/main">
              <a:ext uri="{FF2B5EF4-FFF2-40B4-BE49-F238E27FC236}">
                <a16:creationId xmlns:a16="http://schemas.microsoft.com/office/drawing/2014/main" id="{3D226432-4070-48F5-8209-BCB8DA325D53}"/>
              </a:ext>
            </a:extLst>
          </p:cNvPr>
          <p:cNvSpPr>
            <a:spLocks xmlns:a="http://schemas.openxmlformats.org/drawingml/2006/main" noGrp="1"/>
          </p:cNvSpPr>
          <p:nvPr/>
        </p:nvSpPr>
        <p:spPr>
          <a:xfrm xmlns:a="http://schemas.openxmlformats.org/drawingml/2006/main">
            <a:off x="2343150" y="35147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Operand forwarding — pass exact results forward.</a:t>
            </a:r>
          </a:p>
        </p:txBody>
      </p:sp>
      <p:sp>
        <p:nvSpPr>
          <p:cNvPr id="49" name="">
            <a:extLst xmlns:a="http://schemas.openxmlformats.org/drawingml/2006/main">
              <a:ext uri="{FF2B5EF4-FFF2-40B4-BE49-F238E27FC236}">
                <a16:creationId xmlns:a16="http://schemas.microsoft.com/office/drawing/2014/main" id="{7E108083-EB9C-47B4-B810-B0662D26F195}"/>
              </a:ext>
            </a:extLst>
          </p:cNvPr>
          <p:cNvSpPr>
            <a:spLocks xmlns:a="http://schemas.openxmlformats.org/drawingml/2006/main" noGrp="1"/>
          </p:cNvSpPr>
          <p:nvPr/>
        </p:nvSpPr>
        <p:spPr>
          <a:xfrm xmlns:a="http://schemas.openxmlformats.org/drawingml/2006/main">
            <a:off x="5124450" y="3467100"/>
            <a:ext cx="314325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50" name="">
            <a:extLst xmlns:a="http://schemas.openxmlformats.org/drawingml/2006/main">
              <a:ext uri="{FF2B5EF4-FFF2-40B4-BE49-F238E27FC236}">
                <a16:creationId xmlns:a16="http://schemas.microsoft.com/office/drawing/2014/main" id="{28239EEC-49D2-455D-850B-02F2FF3CB86A}"/>
              </a:ext>
            </a:extLst>
          </p:cNvPr>
          <p:cNvSpPr>
            <a:spLocks xmlns:a="http://schemas.openxmlformats.org/drawingml/2006/main" noGrp="1"/>
          </p:cNvSpPr>
          <p:nvPr/>
        </p:nvSpPr>
        <p:spPr>
          <a:xfrm xmlns:a="http://schemas.openxmlformats.org/drawingml/2006/main">
            <a:off x="5200650" y="35147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Carries useful facts from SQL/API results to later steps.</a:t>
            </a:r>
          </a:p>
        </p:txBody>
      </p:sp>
      <p:sp>
        <p:nvSpPr>
          <p:cNvPr id="51" name="">
            <a:extLst xmlns:a="http://schemas.openxmlformats.org/drawingml/2006/main">
              <a:ext uri="{FF2B5EF4-FFF2-40B4-BE49-F238E27FC236}">
                <a16:creationId xmlns:a16="http://schemas.microsoft.com/office/drawing/2014/main" id="{B34DDE9B-4733-4C38-9C9B-991CE0B32480}"/>
              </a:ext>
            </a:extLst>
          </p:cNvPr>
          <p:cNvSpPr>
            <a:spLocks xmlns:a="http://schemas.openxmlformats.org/drawingml/2006/main" noGrp="1"/>
          </p:cNvSpPr>
          <p:nvPr/>
        </p:nvSpPr>
        <p:spPr>
          <a:xfrm xmlns:a="http://schemas.openxmlformats.org/drawingml/2006/main">
            <a:off x="552450" y="3771900"/>
            <a:ext cx="1714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52" name="">
            <a:extLst xmlns:a="http://schemas.openxmlformats.org/drawingml/2006/main">
              <a:ext uri="{FF2B5EF4-FFF2-40B4-BE49-F238E27FC236}">
                <a16:creationId xmlns:a16="http://schemas.microsoft.com/office/drawing/2014/main" id="{25B6C87E-9250-4F3A-B331-A277A0887DE6}"/>
              </a:ext>
            </a:extLst>
          </p:cNvPr>
          <p:cNvSpPr>
            <a:spLocks xmlns:a="http://schemas.openxmlformats.org/drawingml/2006/main" noGrp="1"/>
          </p:cNvSpPr>
          <p:nvPr/>
        </p:nvSpPr>
        <p:spPr>
          <a:xfrm xmlns:a="http://schemas.openxmlformats.org/drawingml/2006/main">
            <a:off x="628650" y="38195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QueryAnalysis</a:t>
            </a:r>
          </a:p>
        </p:txBody>
      </p:sp>
      <p:sp>
        <p:nvSpPr>
          <p:cNvPr id="53" name="">
            <a:extLst xmlns:a="http://schemas.openxmlformats.org/drawingml/2006/main">
              <a:ext uri="{FF2B5EF4-FFF2-40B4-BE49-F238E27FC236}">
                <a16:creationId xmlns:a16="http://schemas.microsoft.com/office/drawing/2014/main" id="{59C9E63C-999C-43D9-A231-C1B5C9B93A77}"/>
              </a:ext>
            </a:extLst>
          </p:cNvPr>
          <p:cNvSpPr>
            <a:spLocks xmlns:a="http://schemas.openxmlformats.org/drawingml/2006/main" noGrp="1"/>
          </p:cNvSpPr>
          <p:nvPr/>
        </p:nvSpPr>
        <p:spPr>
          <a:xfrm xmlns:a="http://schemas.openxmlformats.org/drawingml/2006/main">
            <a:off x="2266950" y="3771900"/>
            <a:ext cx="2857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54" name="">
            <a:extLst xmlns:a="http://schemas.openxmlformats.org/drawingml/2006/main">
              <a:ext uri="{FF2B5EF4-FFF2-40B4-BE49-F238E27FC236}">
                <a16:creationId xmlns:a16="http://schemas.microsoft.com/office/drawing/2014/main" id="{6FAE1AAF-59AA-49FF-AFF9-D2964850CDED}"/>
              </a:ext>
            </a:extLst>
          </p:cNvPr>
          <p:cNvSpPr>
            <a:spLocks xmlns:a="http://schemas.openxmlformats.org/drawingml/2006/main" noGrp="1"/>
          </p:cNvSpPr>
          <p:nvPr/>
        </p:nvSpPr>
        <p:spPr>
          <a:xfrm xmlns:a="http://schemas.openxmlformats.org/drawingml/2006/main">
            <a:off x="2343150" y="38195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Shared query understanding — decide once and reuse.</a:t>
            </a:r>
          </a:p>
        </p:txBody>
      </p:sp>
      <p:sp>
        <p:nvSpPr>
          <p:cNvPr id="55" name="">
            <a:extLst xmlns:a="http://schemas.openxmlformats.org/drawingml/2006/main">
              <a:ext uri="{FF2B5EF4-FFF2-40B4-BE49-F238E27FC236}">
                <a16:creationId xmlns:a16="http://schemas.microsoft.com/office/drawing/2014/main" id="{6FE28517-0FD1-4B59-8C20-E6FDDD22AD9E}"/>
              </a:ext>
            </a:extLst>
          </p:cNvPr>
          <p:cNvSpPr>
            <a:spLocks xmlns:a="http://schemas.openxmlformats.org/drawingml/2006/main" noGrp="1"/>
          </p:cNvSpPr>
          <p:nvPr/>
        </p:nvSpPr>
        <p:spPr>
          <a:xfrm xmlns:a="http://schemas.openxmlformats.org/drawingml/2006/main">
            <a:off x="5124450" y="3771900"/>
            <a:ext cx="31432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56" name="">
            <a:extLst xmlns:a="http://schemas.openxmlformats.org/drawingml/2006/main">
              <a:ext uri="{FF2B5EF4-FFF2-40B4-BE49-F238E27FC236}">
                <a16:creationId xmlns:a16="http://schemas.microsoft.com/office/drawing/2014/main" id="{D62FAE9A-3FC1-4426-9BC1-A3833AC58B85}"/>
              </a:ext>
            </a:extLst>
          </p:cNvPr>
          <p:cNvSpPr>
            <a:spLocks xmlns:a="http://schemas.openxmlformats.org/drawingml/2006/main" noGrp="1"/>
          </p:cNvSpPr>
          <p:nvPr/>
        </p:nvSpPr>
        <p:spPr>
          <a:xfrm xmlns:a="http://schemas.openxmlformats.org/drawingml/2006/main">
            <a:off x="5200650" y="38195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Understands the question once and shares that decision.</a:t>
            </a:r>
          </a:p>
        </p:txBody>
      </p:sp>
      <p:sp>
        <p:nvSpPr>
          <p:cNvPr id="57" name="">
            <a:extLst xmlns:a="http://schemas.openxmlformats.org/drawingml/2006/main">
              <a:ext uri="{FF2B5EF4-FFF2-40B4-BE49-F238E27FC236}">
                <a16:creationId xmlns:a16="http://schemas.microsoft.com/office/drawing/2014/main" id="{B613CC5A-558C-486D-8D68-B15C84A9D6FD}"/>
              </a:ext>
            </a:extLst>
          </p:cNvPr>
          <p:cNvSpPr>
            <a:spLocks xmlns:a="http://schemas.openxmlformats.org/drawingml/2006/main" noGrp="1"/>
          </p:cNvSpPr>
          <p:nvPr/>
        </p:nvSpPr>
        <p:spPr>
          <a:xfrm xmlns:a="http://schemas.openxmlformats.org/drawingml/2006/main">
            <a:off x="552450" y="4076700"/>
            <a:ext cx="1714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58" name="">
            <a:extLst xmlns:a="http://schemas.openxmlformats.org/drawingml/2006/main">
              <a:ext uri="{FF2B5EF4-FFF2-40B4-BE49-F238E27FC236}">
                <a16:creationId xmlns:a16="http://schemas.microsoft.com/office/drawing/2014/main" id="{7BF5C7CF-7997-47F4-BB6A-274827BC7654}"/>
              </a:ext>
            </a:extLst>
          </p:cNvPr>
          <p:cNvSpPr>
            <a:spLocks xmlns:a="http://schemas.openxmlformats.org/drawingml/2006/main" noGrp="1"/>
          </p:cNvSpPr>
          <p:nvPr/>
        </p:nvSpPr>
        <p:spPr>
          <a:xfrm xmlns:a="http://schemas.openxmlformats.org/drawingml/2006/main">
            <a:off x="628650" y="41243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LookupPathPredictor</a:t>
            </a:r>
          </a:p>
        </p:txBody>
      </p:sp>
      <p:sp>
        <p:nvSpPr>
          <p:cNvPr id="59" name="">
            <a:extLst xmlns:a="http://schemas.openxmlformats.org/drawingml/2006/main">
              <a:ext uri="{FF2B5EF4-FFF2-40B4-BE49-F238E27FC236}">
                <a16:creationId xmlns:a16="http://schemas.microsoft.com/office/drawing/2014/main" id="{0B0995E4-206E-42B7-A895-C8E545383F42}"/>
              </a:ext>
            </a:extLst>
          </p:cNvPr>
          <p:cNvSpPr>
            <a:spLocks xmlns:a="http://schemas.openxmlformats.org/drawingml/2006/main" noGrp="1"/>
          </p:cNvSpPr>
          <p:nvPr/>
        </p:nvSpPr>
        <p:spPr>
          <a:xfrm xmlns:a="http://schemas.openxmlformats.org/drawingml/2006/main">
            <a:off x="2266950" y="4076700"/>
            <a:ext cx="2857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60" name="">
            <a:extLst xmlns:a="http://schemas.openxmlformats.org/drawingml/2006/main">
              <a:ext uri="{FF2B5EF4-FFF2-40B4-BE49-F238E27FC236}">
                <a16:creationId xmlns:a16="http://schemas.microsoft.com/office/drawing/2014/main" id="{6A7F7AF2-39E0-46B3-8DCA-2519822FDEB1}"/>
              </a:ext>
            </a:extLst>
          </p:cNvPr>
          <p:cNvSpPr>
            <a:spLocks xmlns:a="http://schemas.openxmlformats.org/drawingml/2006/main" noGrp="1"/>
          </p:cNvSpPr>
          <p:nvPr/>
        </p:nvSpPr>
        <p:spPr>
          <a:xfrm xmlns:a="http://schemas.openxmlformats.org/drawingml/2006/main">
            <a:off x="2343150" y="41243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Lookup-path prediction — like using a map for tables/APIs.</a:t>
            </a:r>
          </a:p>
        </p:txBody>
      </p:sp>
      <p:sp>
        <p:nvSpPr>
          <p:cNvPr id="61" name="">
            <a:extLst xmlns:a="http://schemas.openxmlformats.org/drawingml/2006/main">
              <a:ext uri="{FF2B5EF4-FFF2-40B4-BE49-F238E27FC236}">
                <a16:creationId xmlns:a16="http://schemas.microsoft.com/office/drawing/2014/main" id="{EB043F39-4FAE-4A39-A698-C5C497FA5000}"/>
              </a:ext>
            </a:extLst>
          </p:cNvPr>
          <p:cNvSpPr>
            <a:spLocks xmlns:a="http://schemas.openxmlformats.org/drawingml/2006/main" noGrp="1"/>
          </p:cNvSpPr>
          <p:nvPr/>
        </p:nvSpPr>
        <p:spPr>
          <a:xfrm xmlns:a="http://schemas.openxmlformats.org/drawingml/2006/main">
            <a:off x="5124450" y="4076700"/>
            <a:ext cx="314325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62" name="">
            <a:extLst xmlns:a="http://schemas.openxmlformats.org/drawingml/2006/main">
              <a:ext uri="{FF2B5EF4-FFF2-40B4-BE49-F238E27FC236}">
                <a16:creationId xmlns:a16="http://schemas.microsoft.com/office/drawing/2014/main" id="{10140519-B126-482A-A078-25368DD73B5F}"/>
              </a:ext>
            </a:extLst>
          </p:cNvPr>
          <p:cNvSpPr>
            <a:spLocks xmlns:a="http://schemas.openxmlformats.org/drawingml/2006/main" noGrp="1"/>
          </p:cNvSpPr>
          <p:nvPr/>
        </p:nvSpPr>
        <p:spPr>
          <a:xfrm xmlns:a="http://schemas.openxmlformats.org/drawingml/2006/main">
            <a:off x="5200650" y="41243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Acts like a map for finding the right tables and APIs.</a:t>
            </a:r>
          </a:p>
        </p:txBody>
      </p:sp>
      <p:sp>
        <p:nvSpPr>
          <p:cNvPr id="63" name="">
            <a:extLst xmlns:a="http://schemas.openxmlformats.org/drawingml/2006/main">
              <a:ext uri="{FF2B5EF4-FFF2-40B4-BE49-F238E27FC236}">
                <a16:creationId xmlns:a16="http://schemas.microsoft.com/office/drawing/2014/main" id="{D0F7F5B5-6BB1-49B3-BCCC-7696913AC028}"/>
              </a:ext>
            </a:extLst>
          </p:cNvPr>
          <p:cNvSpPr>
            <a:spLocks xmlns:a="http://schemas.openxmlformats.org/drawingml/2006/main" noGrp="1"/>
          </p:cNvSpPr>
          <p:nvPr/>
        </p:nvSpPr>
        <p:spPr>
          <a:xfrm xmlns:a="http://schemas.openxmlformats.org/drawingml/2006/main">
            <a:off x="552450" y="4381500"/>
            <a:ext cx="1714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64" name="">
            <a:extLst xmlns:a="http://schemas.openxmlformats.org/drawingml/2006/main">
              <a:ext uri="{FF2B5EF4-FFF2-40B4-BE49-F238E27FC236}">
                <a16:creationId xmlns:a16="http://schemas.microsoft.com/office/drawing/2014/main" id="{3F5919C5-3585-4DCA-B286-956EF0CA70A9}"/>
              </a:ext>
            </a:extLst>
          </p:cNvPr>
          <p:cNvSpPr>
            <a:spLocks xmlns:a="http://schemas.openxmlformats.org/drawingml/2006/main" noGrp="1"/>
          </p:cNvSpPr>
          <p:nvPr/>
        </p:nvSpPr>
        <p:spPr>
          <a:xfrm xmlns:a="http://schemas.openxmlformats.org/drawingml/2006/main">
            <a:off x="628650" y="44291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PlanOptimizer</a:t>
            </a:r>
          </a:p>
        </p:txBody>
      </p:sp>
      <p:sp>
        <p:nvSpPr>
          <p:cNvPr id="65" name="">
            <a:extLst xmlns:a="http://schemas.openxmlformats.org/drawingml/2006/main">
              <a:ext uri="{FF2B5EF4-FFF2-40B4-BE49-F238E27FC236}">
                <a16:creationId xmlns:a16="http://schemas.microsoft.com/office/drawing/2014/main" id="{576650C9-44A9-4FE5-8A60-C8A7063995D1}"/>
              </a:ext>
            </a:extLst>
          </p:cNvPr>
          <p:cNvSpPr>
            <a:spLocks xmlns:a="http://schemas.openxmlformats.org/drawingml/2006/main" noGrp="1"/>
          </p:cNvSpPr>
          <p:nvPr/>
        </p:nvSpPr>
        <p:spPr>
          <a:xfrm xmlns:a="http://schemas.openxmlformats.org/drawingml/2006/main">
            <a:off x="2266950" y="4381500"/>
            <a:ext cx="2857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66" name="">
            <a:extLst xmlns:a="http://schemas.openxmlformats.org/drawingml/2006/main">
              <a:ext uri="{FF2B5EF4-FFF2-40B4-BE49-F238E27FC236}">
                <a16:creationId xmlns:a16="http://schemas.microsoft.com/office/drawing/2014/main" id="{0461CFB1-771E-40BE-8B15-B25F19E13930}"/>
              </a:ext>
            </a:extLst>
          </p:cNvPr>
          <p:cNvSpPr>
            <a:spLocks xmlns:a="http://schemas.openxmlformats.org/drawingml/2006/main" noGrp="1"/>
          </p:cNvSpPr>
          <p:nvPr/>
        </p:nvSpPr>
        <p:spPr>
          <a:xfrm xmlns:a="http://schemas.openxmlformats.org/drawingml/2006/main">
            <a:off x="2343150" y="44291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Plan cleanup — remove duplicate or unsafe calls.</a:t>
            </a:r>
          </a:p>
        </p:txBody>
      </p:sp>
      <p:sp>
        <p:nvSpPr>
          <p:cNvPr id="67" name="">
            <a:extLst xmlns:a="http://schemas.openxmlformats.org/drawingml/2006/main">
              <a:ext uri="{FF2B5EF4-FFF2-40B4-BE49-F238E27FC236}">
                <a16:creationId xmlns:a16="http://schemas.microsoft.com/office/drawing/2014/main" id="{0010AFF8-BA50-42C6-88DF-C35E47C0D32B}"/>
              </a:ext>
            </a:extLst>
          </p:cNvPr>
          <p:cNvSpPr>
            <a:spLocks xmlns:a="http://schemas.openxmlformats.org/drawingml/2006/main" noGrp="1"/>
          </p:cNvSpPr>
          <p:nvPr/>
        </p:nvSpPr>
        <p:spPr>
          <a:xfrm xmlns:a="http://schemas.openxmlformats.org/drawingml/2006/main">
            <a:off x="5124450" y="4381500"/>
            <a:ext cx="31432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68" name="">
            <a:extLst xmlns:a="http://schemas.openxmlformats.org/drawingml/2006/main">
              <a:ext uri="{FF2B5EF4-FFF2-40B4-BE49-F238E27FC236}">
                <a16:creationId xmlns:a16="http://schemas.microsoft.com/office/drawing/2014/main" id="{CC7EC60D-CAA2-4113-A36B-D78D20F499AC}"/>
              </a:ext>
            </a:extLst>
          </p:cNvPr>
          <p:cNvSpPr>
            <a:spLocks xmlns:a="http://schemas.openxmlformats.org/drawingml/2006/main" noGrp="1"/>
          </p:cNvSpPr>
          <p:nvPr/>
        </p:nvSpPr>
        <p:spPr>
          <a:xfrm xmlns:a="http://schemas.openxmlformats.org/drawingml/2006/main">
            <a:off x="5200650" y="44291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Cleans the plan before running it.</a:t>
            </a:r>
          </a:p>
        </p:txBody>
      </p:sp>
      <p:sp>
        <p:nvSpPr>
          <p:cNvPr id="69" name="">
            <a:extLst xmlns:a="http://schemas.openxmlformats.org/drawingml/2006/main">
              <a:ext uri="{FF2B5EF4-FFF2-40B4-BE49-F238E27FC236}">
                <a16:creationId xmlns:a16="http://schemas.microsoft.com/office/drawing/2014/main" id="{9726D58B-E9A7-454F-A8E5-820BFA9F1D7F}"/>
              </a:ext>
            </a:extLst>
          </p:cNvPr>
          <p:cNvSpPr>
            <a:spLocks xmlns:a="http://schemas.openxmlformats.org/drawingml/2006/main" noGrp="1"/>
          </p:cNvSpPr>
          <p:nvPr/>
        </p:nvSpPr>
        <p:spPr>
          <a:xfrm xmlns:a="http://schemas.openxmlformats.org/drawingml/2006/main">
            <a:off x="552450" y="4686300"/>
            <a:ext cx="1714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70" name="">
            <a:extLst xmlns:a="http://schemas.openxmlformats.org/drawingml/2006/main">
              <a:ext uri="{FF2B5EF4-FFF2-40B4-BE49-F238E27FC236}">
                <a16:creationId xmlns:a16="http://schemas.microsoft.com/office/drawing/2014/main" id="{8373D9BB-F038-4781-A565-CDC29C72368E}"/>
              </a:ext>
            </a:extLst>
          </p:cNvPr>
          <p:cNvSpPr>
            <a:spLocks xmlns:a="http://schemas.openxmlformats.org/drawingml/2006/main" noGrp="1"/>
          </p:cNvSpPr>
          <p:nvPr/>
        </p:nvSpPr>
        <p:spPr>
          <a:xfrm xmlns:a="http://schemas.openxmlformats.org/drawingml/2006/main">
            <a:off x="628650" y="47339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cache.py</a:t>
            </a:r>
          </a:p>
        </p:txBody>
      </p:sp>
      <p:sp>
        <p:nvSpPr>
          <p:cNvPr id="71" name="">
            <a:extLst xmlns:a="http://schemas.openxmlformats.org/drawingml/2006/main">
              <a:ext uri="{FF2B5EF4-FFF2-40B4-BE49-F238E27FC236}">
                <a16:creationId xmlns:a16="http://schemas.microsoft.com/office/drawing/2014/main" id="{4F2F6D01-B857-4DBD-A4CA-A76E5A208C7B}"/>
              </a:ext>
            </a:extLst>
          </p:cNvPr>
          <p:cNvSpPr>
            <a:spLocks xmlns:a="http://schemas.openxmlformats.org/drawingml/2006/main" noGrp="1"/>
          </p:cNvSpPr>
          <p:nvPr/>
        </p:nvSpPr>
        <p:spPr>
          <a:xfrm xmlns:a="http://schemas.openxmlformats.org/drawingml/2006/main">
            <a:off x="2266950" y="4686300"/>
            <a:ext cx="285750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72" name="">
            <a:extLst xmlns:a="http://schemas.openxmlformats.org/drawingml/2006/main">
              <a:ext uri="{FF2B5EF4-FFF2-40B4-BE49-F238E27FC236}">
                <a16:creationId xmlns:a16="http://schemas.microsoft.com/office/drawing/2014/main" id="{EE5E018E-4131-4323-829A-BC01F0D7EDFC}"/>
              </a:ext>
            </a:extLst>
          </p:cNvPr>
          <p:cNvSpPr>
            <a:spLocks xmlns:a="http://schemas.openxmlformats.org/drawingml/2006/main" noGrp="1"/>
          </p:cNvSpPr>
          <p:nvPr/>
        </p:nvSpPr>
        <p:spPr>
          <a:xfrm xmlns:a="http://schemas.openxmlformats.org/drawingml/2006/main">
            <a:off x="2343150" y="47339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Multi-level cache — reuse saved schema/API notes.</a:t>
            </a:r>
          </a:p>
        </p:txBody>
      </p:sp>
      <p:sp>
        <p:nvSpPr>
          <p:cNvPr id="73" name="">
            <a:extLst xmlns:a="http://schemas.openxmlformats.org/drawingml/2006/main">
              <a:ext uri="{FF2B5EF4-FFF2-40B4-BE49-F238E27FC236}">
                <a16:creationId xmlns:a16="http://schemas.microsoft.com/office/drawing/2014/main" id="{85E510C0-1C77-48C9-9A58-099871A3CE47}"/>
              </a:ext>
            </a:extLst>
          </p:cNvPr>
          <p:cNvSpPr>
            <a:spLocks xmlns:a="http://schemas.openxmlformats.org/drawingml/2006/main" noGrp="1"/>
          </p:cNvSpPr>
          <p:nvPr/>
        </p:nvSpPr>
        <p:spPr>
          <a:xfrm xmlns:a="http://schemas.openxmlformats.org/drawingml/2006/main">
            <a:off x="5124450" y="4686300"/>
            <a:ext cx="3143250" cy="30480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74" name="">
            <a:extLst xmlns:a="http://schemas.openxmlformats.org/drawingml/2006/main">
              <a:ext uri="{FF2B5EF4-FFF2-40B4-BE49-F238E27FC236}">
                <a16:creationId xmlns:a16="http://schemas.microsoft.com/office/drawing/2014/main" id="{BB81C529-C470-4975-829A-A948BE863DF7}"/>
              </a:ext>
            </a:extLst>
          </p:cNvPr>
          <p:cNvSpPr>
            <a:spLocks xmlns:a="http://schemas.openxmlformats.org/drawingml/2006/main" noGrp="1"/>
          </p:cNvSpPr>
          <p:nvPr/>
        </p:nvSpPr>
        <p:spPr>
          <a:xfrm xmlns:a="http://schemas.openxmlformats.org/drawingml/2006/main">
            <a:off x="5200650" y="47339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Reuses saved schema/API information.</a:t>
            </a:r>
          </a:p>
        </p:txBody>
      </p:sp>
      <p:sp>
        <p:nvSpPr>
          <p:cNvPr id="75" name="">
            <a:extLst xmlns:a="http://schemas.openxmlformats.org/drawingml/2006/main">
              <a:ext uri="{FF2B5EF4-FFF2-40B4-BE49-F238E27FC236}">
                <a16:creationId xmlns:a16="http://schemas.microsoft.com/office/drawing/2014/main" id="{5172F7E5-C8FA-47E1-94C7-015BD2E7AC05}"/>
              </a:ext>
            </a:extLst>
          </p:cNvPr>
          <p:cNvSpPr>
            <a:spLocks xmlns:a="http://schemas.openxmlformats.org/drawingml/2006/main" noGrp="1"/>
          </p:cNvSpPr>
          <p:nvPr/>
        </p:nvSpPr>
        <p:spPr>
          <a:xfrm xmlns:a="http://schemas.openxmlformats.org/drawingml/2006/main">
            <a:off x="552450" y="4991100"/>
            <a:ext cx="1714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76" name="">
            <a:extLst xmlns:a="http://schemas.openxmlformats.org/drawingml/2006/main">
              <a:ext uri="{FF2B5EF4-FFF2-40B4-BE49-F238E27FC236}">
                <a16:creationId xmlns:a16="http://schemas.microsoft.com/office/drawing/2014/main" id="{29AF69D6-B8AB-4FF0-B69A-A7F41D5F6215}"/>
              </a:ext>
            </a:extLst>
          </p:cNvPr>
          <p:cNvSpPr>
            <a:spLocks xmlns:a="http://schemas.openxmlformats.org/drawingml/2006/main" noGrp="1"/>
          </p:cNvSpPr>
          <p:nvPr/>
        </p:nvSpPr>
        <p:spPr>
          <a:xfrm xmlns:a="http://schemas.openxmlformats.org/drawingml/2006/main">
            <a:off x="628650" y="5038725"/>
            <a:ext cx="1562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context_cards</a:t>
            </a:r>
          </a:p>
        </p:txBody>
      </p:sp>
      <p:sp>
        <p:nvSpPr>
          <p:cNvPr id="77" name="">
            <a:extLst xmlns:a="http://schemas.openxmlformats.org/drawingml/2006/main">
              <a:ext uri="{FF2B5EF4-FFF2-40B4-BE49-F238E27FC236}">
                <a16:creationId xmlns:a16="http://schemas.microsoft.com/office/drawing/2014/main" id="{77243248-DA9E-46B9-B64B-0DDB8B263662}"/>
              </a:ext>
            </a:extLst>
          </p:cNvPr>
          <p:cNvSpPr>
            <a:spLocks xmlns:a="http://schemas.openxmlformats.org/drawingml/2006/main" noGrp="1"/>
          </p:cNvSpPr>
          <p:nvPr/>
        </p:nvSpPr>
        <p:spPr>
          <a:xfrm xmlns:a="http://schemas.openxmlformats.org/drawingml/2006/main">
            <a:off x="2266950" y="4991100"/>
            <a:ext cx="285750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78" name="">
            <a:extLst xmlns:a="http://schemas.openxmlformats.org/drawingml/2006/main">
              <a:ext uri="{FF2B5EF4-FFF2-40B4-BE49-F238E27FC236}">
                <a16:creationId xmlns:a16="http://schemas.microsoft.com/office/drawing/2014/main" id="{534784D4-F846-4C4A-8246-3456595719E2}"/>
              </a:ext>
            </a:extLst>
          </p:cNvPr>
          <p:cNvSpPr>
            <a:spLocks xmlns:a="http://schemas.openxmlformats.org/drawingml/2006/main" noGrp="1"/>
          </p:cNvSpPr>
          <p:nvPr/>
        </p:nvSpPr>
        <p:spPr>
          <a:xfrm xmlns:a="http://schemas.openxmlformats.org/drawingml/2006/main">
            <a:off x="2343150" y="5038725"/>
            <a:ext cx="2705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Context packing — give only relevant context.</a:t>
            </a:r>
          </a:p>
        </p:txBody>
      </p:sp>
      <p:sp>
        <p:nvSpPr>
          <p:cNvPr id="79" name="">
            <a:extLst xmlns:a="http://schemas.openxmlformats.org/drawingml/2006/main">
              <a:ext uri="{FF2B5EF4-FFF2-40B4-BE49-F238E27FC236}">
                <a16:creationId xmlns:a16="http://schemas.microsoft.com/office/drawing/2014/main" id="{E721E96A-F28B-422D-B64A-3C7E3530A878}"/>
              </a:ext>
            </a:extLst>
          </p:cNvPr>
          <p:cNvSpPr>
            <a:spLocks xmlns:a="http://schemas.openxmlformats.org/drawingml/2006/main" noGrp="1"/>
          </p:cNvSpPr>
          <p:nvPr/>
        </p:nvSpPr>
        <p:spPr>
          <a:xfrm xmlns:a="http://schemas.openxmlformats.org/drawingml/2006/main">
            <a:off x="5124450" y="4991100"/>
            <a:ext cx="31432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80" name="">
            <a:extLst xmlns:a="http://schemas.openxmlformats.org/drawingml/2006/main">
              <a:ext uri="{FF2B5EF4-FFF2-40B4-BE49-F238E27FC236}">
                <a16:creationId xmlns:a16="http://schemas.microsoft.com/office/drawing/2014/main" id="{603C8CBC-7DEA-40E6-8DD8-3A48E0A03717}"/>
              </a:ext>
            </a:extLst>
          </p:cNvPr>
          <p:cNvSpPr>
            <a:spLocks xmlns:a="http://schemas.openxmlformats.org/drawingml/2006/main" noGrp="1"/>
          </p:cNvSpPr>
          <p:nvPr/>
        </p:nvSpPr>
        <p:spPr>
          <a:xfrm xmlns:a="http://schemas.openxmlformats.org/drawingml/2006/main">
            <a:off x="5200650" y="5038725"/>
            <a:ext cx="29908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Gives only the relevant context, not the whole database.</a:t>
            </a:r>
          </a:p>
        </p:txBody>
      </p:sp>
      <p:sp>
        <p:nvSpPr>
          <p:cNvPr id="81" name="">
            <a:extLst xmlns:a="http://schemas.openxmlformats.org/drawingml/2006/main">
              <a:ext uri="{FF2B5EF4-FFF2-40B4-BE49-F238E27FC236}">
                <a16:creationId xmlns:a16="http://schemas.microsoft.com/office/drawing/2014/main" id="{F45B629C-04E7-40A8-B46C-004C1AB248FE}"/>
              </a:ext>
            </a:extLst>
          </p:cNvPr>
          <p:cNvSpPr>
            <a:spLocks xmlns:a="http://schemas.openxmlformats.org/drawingml/2006/main" noGrp="1"/>
          </p:cNvSpPr>
          <p:nvPr/>
        </p:nvSpPr>
        <p:spPr>
          <a:xfrm xmlns:a="http://schemas.openxmlformats.org/drawingml/2006/main">
            <a:off x="8477250" y="1657350"/>
            <a:ext cx="1428750" cy="2857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82" name="">
            <a:extLst xmlns:a="http://schemas.openxmlformats.org/drawingml/2006/main">
              <a:ext uri="{FF2B5EF4-FFF2-40B4-BE49-F238E27FC236}">
                <a16:creationId xmlns:a16="http://schemas.microsoft.com/office/drawing/2014/main" id="{2E7B7D1B-7653-48ED-A5C3-6AEF8D39AADB}"/>
              </a:ext>
            </a:extLst>
          </p:cNvPr>
          <p:cNvSpPr>
            <a:spLocks xmlns:a="http://schemas.openxmlformats.org/drawingml/2006/main" noGrp="1"/>
          </p:cNvSpPr>
          <p:nvPr/>
        </p:nvSpPr>
        <p:spPr>
          <a:xfrm xmlns:a="http://schemas.openxmlformats.org/drawingml/2006/main">
            <a:off x="8553450" y="1733550"/>
            <a:ext cx="1276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1">
                <a:solidFill>
                  <a:srgbClr val="FFFFFF"/>
                </a:solidFill>
                <a:latin typeface="Aptos"/>
                <a:ea typeface="Aptos"/>
                <a:cs typeface="Aptos"/>
              </a:defRPr>
            </a:pPr>
            <a:r>
              <a:rPr sz="698" b="1">
                <a:solidFill>
                  <a:srgbClr val="FFFFFF"/>
                </a:solidFill>
                <a:latin typeface="Aptos"/>
                <a:ea typeface="Aptos"/>
                <a:cs typeface="Aptos"/>
              </a:rPr>
              <a:t>Mechanism</a:t>
            </a:r>
          </a:p>
        </p:txBody>
      </p:sp>
      <p:sp>
        <p:nvSpPr>
          <p:cNvPr id="83" name="">
            <a:extLst xmlns:a="http://schemas.openxmlformats.org/drawingml/2006/main">
              <a:ext uri="{FF2B5EF4-FFF2-40B4-BE49-F238E27FC236}">
                <a16:creationId xmlns:a16="http://schemas.microsoft.com/office/drawing/2014/main" id="{787FC8D0-EEA1-45C5-8CBC-D139E095A17F}"/>
              </a:ext>
            </a:extLst>
          </p:cNvPr>
          <p:cNvSpPr>
            <a:spLocks xmlns:a="http://schemas.openxmlformats.org/drawingml/2006/main" noGrp="1"/>
          </p:cNvSpPr>
          <p:nvPr/>
        </p:nvSpPr>
        <p:spPr>
          <a:xfrm xmlns:a="http://schemas.openxmlformats.org/drawingml/2006/main">
            <a:off x="9906000" y="1657350"/>
            <a:ext cx="2381250" cy="2857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84" name="">
            <a:extLst xmlns:a="http://schemas.openxmlformats.org/drawingml/2006/main">
              <a:ext uri="{FF2B5EF4-FFF2-40B4-BE49-F238E27FC236}">
                <a16:creationId xmlns:a16="http://schemas.microsoft.com/office/drawing/2014/main" id="{24131B52-7F9B-4C71-B677-414E5541BD2B}"/>
              </a:ext>
            </a:extLst>
          </p:cNvPr>
          <p:cNvSpPr>
            <a:spLocks xmlns:a="http://schemas.openxmlformats.org/drawingml/2006/main" noGrp="1"/>
          </p:cNvSpPr>
          <p:nvPr/>
        </p:nvSpPr>
        <p:spPr>
          <a:xfrm xmlns:a="http://schemas.openxmlformats.org/drawingml/2006/main">
            <a:off x="9982200" y="1733550"/>
            <a:ext cx="2228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1">
                <a:solidFill>
                  <a:srgbClr val="FFFFFF"/>
                </a:solidFill>
                <a:latin typeface="Aptos"/>
                <a:ea typeface="Aptos"/>
                <a:cs typeface="Aptos"/>
              </a:defRPr>
            </a:pPr>
            <a:r>
              <a:rPr sz="698" b="1">
                <a:solidFill>
                  <a:srgbClr val="FFFFFF"/>
                </a:solidFill>
                <a:latin typeface="Aptos"/>
                <a:ea typeface="Aptos"/>
                <a:cs typeface="Aptos"/>
              </a:rPr>
              <a:t>Technique Used</a:t>
            </a:r>
          </a:p>
        </p:txBody>
      </p:sp>
      <p:sp>
        <p:nvSpPr>
          <p:cNvPr id="85" name="">
            <a:extLst xmlns:a="http://schemas.openxmlformats.org/drawingml/2006/main">
              <a:ext uri="{FF2B5EF4-FFF2-40B4-BE49-F238E27FC236}">
                <a16:creationId xmlns:a16="http://schemas.microsoft.com/office/drawing/2014/main" id="{153D4B9D-E7F6-44FF-AB90-ED5174CBCA0F}"/>
              </a:ext>
            </a:extLst>
          </p:cNvPr>
          <p:cNvSpPr>
            <a:spLocks xmlns:a="http://schemas.openxmlformats.org/drawingml/2006/main" noGrp="1"/>
          </p:cNvSpPr>
          <p:nvPr/>
        </p:nvSpPr>
        <p:spPr>
          <a:xfrm xmlns:a="http://schemas.openxmlformats.org/drawingml/2006/main">
            <a:off x="12287250" y="1657350"/>
            <a:ext cx="2762250" cy="2857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86" name="">
            <a:extLst xmlns:a="http://schemas.openxmlformats.org/drawingml/2006/main">
              <a:ext uri="{FF2B5EF4-FFF2-40B4-BE49-F238E27FC236}">
                <a16:creationId xmlns:a16="http://schemas.microsoft.com/office/drawing/2014/main" id="{6EA565EB-239B-4BB5-A7BA-BA6A3FE11C0A}"/>
              </a:ext>
            </a:extLst>
          </p:cNvPr>
          <p:cNvSpPr>
            <a:spLocks xmlns:a="http://schemas.openxmlformats.org/drawingml/2006/main" noGrp="1"/>
          </p:cNvSpPr>
          <p:nvPr/>
        </p:nvSpPr>
        <p:spPr>
          <a:xfrm xmlns:a="http://schemas.openxmlformats.org/drawingml/2006/main">
            <a:off x="12363450" y="1733550"/>
            <a:ext cx="2609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1">
                <a:solidFill>
                  <a:srgbClr val="FFFFFF"/>
                </a:solidFill>
                <a:latin typeface="Aptos"/>
                <a:ea typeface="Aptos"/>
                <a:cs typeface="Aptos"/>
              </a:defRPr>
            </a:pPr>
            <a:r>
              <a:rPr sz="698" b="1">
                <a:solidFill>
                  <a:srgbClr val="FFFFFF"/>
                </a:solidFill>
                <a:latin typeface="Aptos"/>
                <a:ea typeface="Aptos"/>
                <a:cs typeface="Aptos"/>
              </a:rPr>
              <a:t>Why It Helps</a:t>
            </a:r>
          </a:p>
        </p:txBody>
      </p:sp>
      <p:sp>
        <p:nvSpPr>
          <p:cNvPr id="87" name="">
            <a:extLst xmlns:a="http://schemas.openxmlformats.org/drawingml/2006/main">
              <a:ext uri="{FF2B5EF4-FFF2-40B4-BE49-F238E27FC236}">
                <a16:creationId xmlns:a16="http://schemas.microsoft.com/office/drawing/2014/main" id="{CBA56BB8-1AFF-4F9A-8B37-3DB2008F99D0}"/>
              </a:ext>
            </a:extLst>
          </p:cNvPr>
          <p:cNvSpPr>
            <a:spLocks xmlns:a="http://schemas.openxmlformats.org/drawingml/2006/main" noGrp="1"/>
          </p:cNvSpPr>
          <p:nvPr/>
        </p:nvSpPr>
        <p:spPr>
          <a:xfrm xmlns:a="http://schemas.openxmlformats.org/drawingml/2006/main">
            <a:off x="8477250" y="1943100"/>
            <a:ext cx="14287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88" name="">
            <a:extLst xmlns:a="http://schemas.openxmlformats.org/drawingml/2006/main">
              <a:ext uri="{FF2B5EF4-FFF2-40B4-BE49-F238E27FC236}">
                <a16:creationId xmlns:a16="http://schemas.microsoft.com/office/drawing/2014/main" id="{D69890EE-9879-4DFF-8322-8AFC1DF2E7EF}"/>
              </a:ext>
            </a:extLst>
          </p:cNvPr>
          <p:cNvSpPr>
            <a:spLocks xmlns:a="http://schemas.openxmlformats.org/drawingml/2006/main" noGrp="1"/>
          </p:cNvSpPr>
          <p:nvPr/>
        </p:nvSpPr>
        <p:spPr>
          <a:xfrm xmlns:a="http://schemas.openxmlformats.org/drawingml/2006/main">
            <a:off x="8553450" y="199072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query_normalizer</a:t>
            </a:r>
          </a:p>
        </p:txBody>
      </p:sp>
      <p:sp>
        <p:nvSpPr>
          <p:cNvPr id="89" name="">
            <a:extLst xmlns:a="http://schemas.openxmlformats.org/drawingml/2006/main">
              <a:ext uri="{FF2B5EF4-FFF2-40B4-BE49-F238E27FC236}">
                <a16:creationId xmlns:a16="http://schemas.microsoft.com/office/drawing/2014/main" id="{FAF291F4-5B4A-4D3D-96B6-F8058D235A9A}"/>
              </a:ext>
            </a:extLst>
          </p:cNvPr>
          <p:cNvSpPr>
            <a:spLocks xmlns:a="http://schemas.openxmlformats.org/drawingml/2006/main" noGrp="1"/>
          </p:cNvSpPr>
          <p:nvPr/>
        </p:nvSpPr>
        <p:spPr>
          <a:xfrm xmlns:a="http://schemas.openxmlformats.org/drawingml/2006/main">
            <a:off x="9906000" y="1943100"/>
            <a:ext cx="2381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90" name="">
            <a:extLst xmlns:a="http://schemas.openxmlformats.org/drawingml/2006/main">
              <a:ext uri="{FF2B5EF4-FFF2-40B4-BE49-F238E27FC236}">
                <a16:creationId xmlns:a16="http://schemas.microsoft.com/office/drawing/2014/main" id="{ECF00909-8529-4790-AF28-62400B51125F}"/>
              </a:ext>
            </a:extLst>
          </p:cNvPr>
          <p:cNvSpPr>
            <a:spLocks xmlns:a="http://schemas.openxmlformats.org/drawingml/2006/main" noGrp="1"/>
          </p:cNvSpPr>
          <p:nvPr/>
        </p:nvSpPr>
        <p:spPr>
          <a:xfrm xmlns:a="http://schemas.openxmlformats.org/drawingml/2006/main">
            <a:off x="9982200" y="1990725"/>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Query cleaning — make wording easier to match.</a:t>
            </a:r>
          </a:p>
        </p:txBody>
      </p:sp>
      <p:sp>
        <p:nvSpPr>
          <p:cNvPr id="91" name="">
            <a:extLst xmlns:a="http://schemas.openxmlformats.org/drawingml/2006/main">
              <a:ext uri="{FF2B5EF4-FFF2-40B4-BE49-F238E27FC236}">
                <a16:creationId xmlns:a16="http://schemas.microsoft.com/office/drawing/2014/main" id="{AA84A533-30AA-4424-A009-574E7FDE9798}"/>
              </a:ext>
            </a:extLst>
          </p:cNvPr>
          <p:cNvSpPr>
            <a:spLocks xmlns:a="http://schemas.openxmlformats.org/drawingml/2006/main" noGrp="1"/>
          </p:cNvSpPr>
          <p:nvPr/>
        </p:nvSpPr>
        <p:spPr>
          <a:xfrm xmlns:a="http://schemas.openxmlformats.org/drawingml/2006/main">
            <a:off x="12287250" y="1943100"/>
            <a:ext cx="2762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92" name="">
            <a:extLst xmlns:a="http://schemas.openxmlformats.org/drawingml/2006/main">
              <a:ext uri="{FF2B5EF4-FFF2-40B4-BE49-F238E27FC236}">
                <a16:creationId xmlns:a16="http://schemas.microsoft.com/office/drawing/2014/main" id="{D2A2F4B5-84CB-48C0-8373-043F0AD7E25B}"/>
              </a:ext>
            </a:extLst>
          </p:cNvPr>
          <p:cNvSpPr>
            <a:spLocks xmlns:a="http://schemas.openxmlformats.org/drawingml/2006/main" noGrp="1"/>
          </p:cNvSpPr>
          <p:nvPr/>
        </p:nvSpPr>
        <p:spPr>
          <a:xfrm xmlns:a="http://schemas.openxmlformats.org/drawingml/2006/main">
            <a:off x="12363450" y="1990725"/>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Cleans the wording of the question.</a:t>
            </a:r>
          </a:p>
        </p:txBody>
      </p:sp>
      <p:sp>
        <p:nvSpPr>
          <p:cNvPr id="93" name="">
            <a:extLst xmlns:a="http://schemas.openxmlformats.org/drawingml/2006/main">
              <a:ext uri="{FF2B5EF4-FFF2-40B4-BE49-F238E27FC236}">
                <a16:creationId xmlns:a16="http://schemas.microsoft.com/office/drawing/2014/main" id="{E62EB05F-1B41-4D52-B188-C1B47A005231}"/>
              </a:ext>
            </a:extLst>
          </p:cNvPr>
          <p:cNvSpPr>
            <a:spLocks xmlns:a="http://schemas.openxmlformats.org/drawingml/2006/main" noGrp="1"/>
          </p:cNvSpPr>
          <p:nvPr/>
        </p:nvSpPr>
        <p:spPr>
          <a:xfrm xmlns:a="http://schemas.openxmlformats.org/drawingml/2006/main">
            <a:off x="8477250" y="2276475"/>
            <a:ext cx="14287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94" name="">
            <a:extLst xmlns:a="http://schemas.openxmlformats.org/drawingml/2006/main">
              <a:ext uri="{FF2B5EF4-FFF2-40B4-BE49-F238E27FC236}">
                <a16:creationId xmlns:a16="http://schemas.microsoft.com/office/drawing/2014/main" id="{9A5C61EE-792E-4D59-96A5-849BE60B7F80}"/>
              </a:ext>
            </a:extLst>
          </p:cNvPr>
          <p:cNvSpPr>
            <a:spLocks xmlns:a="http://schemas.openxmlformats.org/drawingml/2006/main" noGrp="1"/>
          </p:cNvSpPr>
          <p:nvPr/>
        </p:nvSpPr>
        <p:spPr>
          <a:xfrm xmlns:a="http://schemas.openxmlformats.org/drawingml/2006/main">
            <a:off x="8553450" y="232410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query_tokens</a:t>
            </a:r>
          </a:p>
        </p:txBody>
      </p:sp>
      <p:sp>
        <p:nvSpPr>
          <p:cNvPr id="95" name="">
            <a:extLst xmlns:a="http://schemas.openxmlformats.org/drawingml/2006/main">
              <a:ext uri="{FF2B5EF4-FFF2-40B4-BE49-F238E27FC236}">
                <a16:creationId xmlns:a16="http://schemas.microsoft.com/office/drawing/2014/main" id="{20446E33-5676-4BCE-B94A-28EAFAAF51E2}"/>
              </a:ext>
            </a:extLst>
          </p:cNvPr>
          <p:cNvSpPr>
            <a:spLocks xmlns:a="http://schemas.openxmlformats.org/drawingml/2006/main" noGrp="1"/>
          </p:cNvSpPr>
          <p:nvPr/>
        </p:nvSpPr>
        <p:spPr>
          <a:xfrm xmlns:a="http://schemas.openxmlformats.org/drawingml/2006/main">
            <a:off x="9906000" y="2276475"/>
            <a:ext cx="2381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96" name="">
            <a:extLst xmlns:a="http://schemas.openxmlformats.org/drawingml/2006/main">
              <a:ext uri="{FF2B5EF4-FFF2-40B4-BE49-F238E27FC236}">
                <a16:creationId xmlns:a16="http://schemas.microsoft.com/office/drawing/2014/main" id="{D77168B2-00B9-4C6A-B18A-EB0707BC5436}"/>
              </a:ext>
            </a:extLst>
          </p:cNvPr>
          <p:cNvSpPr>
            <a:spLocks xmlns:a="http://schemas.openxmlformats.org/drawingml/2006/main" noGrp="1"/>
          </p:cNvSpPr>
          <p:nvPr/>
        </p:nvSpPr>
        <p:spPr>
          <a:xfrm xmlns:a="http://schemas.openxmlformats.org/drawingml/2006/main">
            <a:off x="9982200" y="232410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Entity extraction — pull out names, IDs, dates, metrics.</a:t>
            </a:r>
          </a:p>
        </p:txBody>
      </p:sp>
      <p:sp>
        <p:nvSpPr>
          <p:cNvPr id="97" name="">
            <a:extLst xmlns:a="http://schemas.openxmlformats.org/drawingml/2006/main">
              <a:ext uri="{FF2B5EF4-FFF2-40B4-BE49-F238E27FC236}">
                <a16:creationId xmlns:a16="http://schemas.microsoft.com/office/drawing/2014/main" id="{DCFC9344-0456-4BA9-BBC8-28634CEF8AFB}"/>
              </a:ext>
            </a:extLst>
          </p:cNvPr>
          <p:cNvSpPr>
            <a:spLocks xmlns:a="http://schemas.openxmlformats.org/drawingml/2006/main" noGrp="1"/>
          </p:cNvSpPr>
          <p:nvPr/>
        </p:nvSpPr>
        <p:spPr>
          <a:xfrm xmlns:a="http://schemas.openxmlformats.org/drawingml/2006/main">
            <a:off x="12287250" y="2276475"/>
            <a:ext cx="2762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98" name="">
            <a:extLst xmlns:a="http://schemas.openxmlformats.org/drawingml/2006/main">
              <a:ext uri="{FF2B5EF4-FFF2-40B4-BE49-F238E27FC236}">
                <a16:creationId xmlns:a16="http://schemas.microsoft.com/office/drawing/2014/main" id="{5B7A0826-A3EE-4B5C-9B00-231E9507C664}"/>
              </a:ext>
            </a:extLst>
          </p:cNvPr>
          <p:cNvSpPr>
            <a:spLocks xmlns:a="http://schemas.openxmlformats.org/drawingml/2006/main" noGrp="1"/>
          </p:cNvSpPr>
          <p:nvPr/>
        </p:nvSpPr>
        <p:spPr>
          <a:xfrm xmlns:a="http://schemas.openxmlformats.org/drawingml/2006/main">
            <a:off x="12363450" y="2324100"/>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Pulls out names, IDs, dates, metrics, and statuses.</a:t>
            </a:r>
          </a:p>
        </p:txBody>
      </p:sp>
      <p:sp>
        <p:nvSpPr>
          <p:cNvPr id="99" name="">
            <a:extLst xmlns:a="http://schemas.openxmlformats.org/drawingml/2006/main">
              <a:ext uri="{FF2B5EF4-FFF2-40B4-BE49-F238E27FC236}">
                <a16:creationId xmlns:a16="http://schemas.microsoft.com/office/drawing/2014/main" id="{149FB430-C2A1-4898-BFFF-9BC8F53D7DD9}"/>
              </a:ext>
            </a:extLst>
          </p:cNvPr>
          <p:cNvSpPr>
            <a:spLocks xmlns:a="http://schemas.openxmlformats.org/drawingml/2006/main" noGrp="1"/>
          </p:cNvSpPr>
          <p:nvPr/>
        </p:nvSpPr>
        <p:spPr>
          <a:xfrm xmlns:a="http://schemas.openxmlformats.org/drawingml/2006/main">
            <a:off x="8477250" y="2609850"/>
            <a:ext cx="14287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00" name="">
            <a:extLst xmlns:a="http://schemas.openxmlformats.org/drawingml/2006/main">
              <a:ext uri="{FF2B5EF4-FFF2-40B4-BE49-F238E27FC236}">
                <a16:creationId xmlns:a16="http://schemas.microsoft.com/office/drawing/2014/main" id="{04E71D5E-8748-4718-B020-AC0147E01A6D}"/>
              </a:ext>
            </a:extLst>
          </p:cNvPr>
          <p:cNvSpPr>
            <a:spLocks xmlns:a="http://schemas.openxmlformats.org/drawingml/2006/main" noGrp="1"/>
          </p:cNvSpPr>
          <p:nvPr/>
        </p:nvSpPr>
        <p:spPr>
          <a:xfrm xmlns:a="http://schemas.openxmlformats.org/drawingml/2006/main">
            <a:off x="8553450" y="265747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relevance_scorer</a:t>
            </a:r>
          </a:p>
        </p:txBody>
      </p:sp>
      <p:sp>
        <p:nvSpPr>
          <p:cNvPr id="101" name="">
            <a:extLst xmlns:a="http://schemas.openxmlformats.org/drawingml/2006/main">
              <a:ext uri="{FF2B5EF4-FFF2-40B4-BE49-F238E27FC236}">
                <a16:creationId xmlns:a16="http://schemas.microsoft.com/office/drawing/2014/main" id="{E4A72FD4-7F36-4BAB-833F-AC7DF54C45F9}"/>
              </a:ext>
            </a:extLst>
          </p:cNvPr>
          <p:cNvSpPr>
            <a:spLocks xmlns:a="http://schemas.openxmlformats.org/drawingml/2006/main" noGrp="1"/>
          </p:cNvSpPr>
          <p:nvPr/>
        </p:nvSpPr>
        <p:spPr>
          <a:xfrm xmlns:a="http://schemas.openxmlformats.org/drawingml/2006/main">
            <a:off x="9906000" y="2609850"/>
            <a:ext cx="2381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02" name="">
            <a:extLst xmlns:a="http://schemas.openxmlformats.org/drawingml/2006/main">
              <a:ext uri="{FF2B5EF4-FFF2-40B4-BE49-F238E27FC236}">
                <a16:creationId xmlns:a16="http://schemas.microsoft.com/office/drawing/2014/main" id="{DA92E192-811E-43DD-8666-28880031B18B}"/>
              </a:ext>
            </a:extLst>
          </p:cNvPr>
          <p:cNvSpPr>
            <a:spLocks xmlns:a="http://schemas.openxmlformats.org/drawingml/2006/main" noGrp="1"/>
          </p:cNvSpPr>
          <p:nvPr/>
        </p:nvSpPr>
        <p:spPr>
          <a:xfrm xmlns:a="http://schemas.openxmlformats.org/drawingml/2006/main">
            <a:off x="9982200" y="2657475"/>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Relevance ranking — focus on useful tables/APIs.</a:t>
            </a:r>
          </a:p>
        </p:txBody>
      </p:sp>
      <p:sp>
        <p:nvSpPr>
          <p:cNvPr id="103" name="">
            <a:extLst xmlns:a="http://schemas.openxmlformats.org/drawingml/2006/main">
              <a:ext uri="{FF2B5EF4-FFF2-40B4-BE49-F238E27FC236}">
                <a16:creationId xmlns:a16="http://schemas.microsoft.com/office/drawing/2014/main" id="{2F1C54AC-EA0F-4C57-A588-4FE877C37F38}"/>
              </a:ext>
            </a:extLst>
          </p:cNvPr>
          <p:cNvSpPr>
            <a:spLocks xmlns:a="http://schemas.openxmlformats.org/drawingml/2006/main" noGrp="1"/>
          </p:cNvSpPr>
          <p:nvPr/>
        </p:nvSpPr>
        <p:spPr>
          <a:xfrm xmlns:a="http://schemas.openxmlformats.org/drawingml/2006/main">
            <a:off x="12287250" y="2609850"/>
            <a:ext cx="2762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04" name="">
            <a:extLst xmlns:a="http://schemas.openxmlformats.org/drawingml/2006/main">
              <a:ext uri="{FF2B5EF4-FFF2-40B4-BE49-F238E27FC236}">
                <a16:creationId xmlns:a16="http://schemas.microsoft.com/office/drawing/2014/main" id="{B50CCE35-A162-48B7-A0AA-9B1ECBEE8A6C}"/>
              </a:ext>
            </a:extLst>
          </p:cNvPr>
          <p:cNvSpPr>
            <a:spLocks xmlns:a="http://schemas.openxmlformats.org/drawingml/2006/main" noGrp="1"/>
          </p:cNvSpPr>
          <p:nvPr/>
        </p:nvSpPr>
        <p:spPr>
          <a:xfrm xmlns:a="http://schemas.openxmlformats.org/drawingml/2006/main">
            <a:off x="12363450" y="2657475"/>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Ranks which tables/APIs are most likely useful.</a:t>
            </a:r>
          </a:p>
        </p:txBody>
      </p:sp>
      <p:sp>
        <p:nvSpPr>
          <p:cNvPr id="105" name="">
            <a:extLst xmlns:a="http://schemas.openxmlformats.org/drawingml/2006/main">
              <a:ext uri="{FF2B5EF4-FFF2-40B4-BE49-F238E27FC236}">
                <a16:creationId xmlns:a16="http://schemas.microsoft.com/office/drawing/2014/main" id="{10DB1CDB-0B62-45C7-8CE1-99544DA07384}"/>
              </a:ext>
            </a:extLst>
          </p:cNvPr>
          <p:cNvSpPr>
            <a:spLocks xmlns:a="http://schemas.openxmlformats.org/drawingml/2006/main" noGrp="1"/>
          </p:cNvSpPr>
          <p:nvPr/>
        </p:nvSpPr>
        <p:spPr>
          <a:xfrm xmlns:a="http://schemas.openxmlformats.org/drawingml/2006/main">
            <a:off x="8477250" y="2943225"/>
            <a:ext cx="14287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06" name="">
            <a:extLst xmlns:a="http://schemas.openxmlformats.org/drawingml/2006/main">
              <a:ext uri="{FF2B5EF4-FFF2-40B4-BE49-F238E27FC236}">
                <a16:creationId xmlns:a16="http://schemas.microsoft.com/office/drawing/2014/main" id="{FF9B4CF7-A2D6-45AB-AB3A-02A1E6738634}"/>
              </a:ext>
            </a:extLst>
          </p:cNvPr>
          <p:cNvSpPr>
            <a:spLocks xmlns:a="http://schemas.openxmlformats.org/drawingml/2006/main" noGrp="1"/>
          </p:cNvSpPr>
          <p:nvPr/>
        </p:nvSpPr>
        <p:spPr>
          <a:xfrm xmlns:a="http://schemas.openxmlformats.org/drawingml/2006/main">
            <a:off x="8553450" y="299085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plan_ensemble</a:t>
            </a:r>
          </a:p>
        </p:txBody>
      </p:sp>
      <p:sp>
        <p:nvSpPr>
          <p:cNvPr id="107" name="">
            <a:extLst xmlns:a="http://schemas.openxmlformats.org/drawingml/2006/main">
              <a:ext uri="{FF2B5EF4-FFF2-40B4-BE49-F238E27FC236}">
                <a16:creationId xmlns:a16="http://schemas.microsoft.com/office/drawing/2014/main" id="{8A78939A-C39E-4327-B03D-ED926F2854D3}"/>
              </a:ext>
            </a:extLst>
          </p:cNvPr>
          <p:cNvSpPr>
            <a:spLocks xmlns:a="http://schemas.openxmlformats.org/drawingml/2006/main" noGrp="1"/>
          </p:cNvSpPr>
          <p:nvPr/>
        </p:nvSpPr>
        <p:spPr>
          <a:xfrm xmlns:a="http://schemas.openxmlformats.org/drawingml/2006/main">
            <a:off x="9906000" y="2943225"/>
            <a:ext cx="2381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08" name="">
            <a:extLst xmlns:a="http://schemas.openxmlformats.org/drawingml/2006/main">
              <a:ext uri="{FF2B5EF4-FFF2-40B4-BE49-F238E27FC236}">
                <a16:creationId xmlns:a16="http://schemas.microsoft.com/office/drawing/2014/main" id="{1399C309-B27B-4E07-B5FD-B2E8225B057D}"/>
              </a:ext>
            </a:extLst>
          </p:cNvPr>
          <p:cNvSpPr>
            <a:spLocks xmlns:a="http://schemas.openxmlformats.org/drawingml/2006/main" noGrp="1"/>
          </p:cNvSpPr>
          <p:nvPr/>
        </p:nvSpPr>
        <p:spPr>
          <a:xfrm xmlns:a="http://schemas.openxmlformats.org/drawingml/2006/main">
            <a:off x="9982200" y="299085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Plan reranking — compare plans and run one.</a:t>
            </a:r>
          </a:p>
        </p:txBody>
      </p:sp>
      <p:sp>
        <p:nvSpPr>
          <p:cNvPr id="109" name="">
            <a:extLst xmlns:a="http://schemas.openxmlformats.org/drawingml/2006/main">
              <a:ext uri="{FF2B5EF4-FFF2-40B4-BE49-F238E27FC236}">
                <a16:creationId xmlns:a16="http://schemas.microsoft.com/office/drawing/2014/main" id="{37D18ECF-F2A0-4569-BDFC-AF91F1C056D9}"/>
              </a:ext>
            </a:extLst>
          </p:cNvPr>
          <p:cNvSpPr>
            <a:spLocks xmlns:a="http://schemas.openxmlformats.org/drawingml/2006/main" noGrp="1"/>
          </p:cNvSpPr>
          <p:nvPr/>
        </p:nvSpPr>
        <p:spPr>
          <a:xfrm xmlns:a="http://schemas.openxmlformats.org/drawingml/2006/main">
            <a:off x="12287250" y="2943225"/>
            <a:ext cx="2762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10" name="">
            <a:extLst xmlns:a="http://schemas.openxmlformats.org/drawingml/2006/main">
              <a:ext uri="{FF2B5EF4-FFF2-40B4-BE49-F238E27FC236}">
                <a16:creationId xmlns:a16="http://schemas.microsoft.com/office/drawing/2014/main" id="{6D87BA17-35A5-4CFF-952E-D8F445037AB8}"/>
              </a:ext>
            </a:extLst>
          </p:cNvPr>
          <p:cNvSpPr>
            <a:spLocks xmlns:a="http://schemas.openxmlformats.org/drawingml/2006/main" noGrp="1"/>
          </p:cNvSpPr>
          <p:nvPr/>
        </p:nvSpPr>
        <p:spPr>
          <a:xfrm xmlns:a="http://schemas.openxmlformats.org/drawingml/2006/main">
            <a:off x="12363450" y="2990850"/>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Compares possible plans and runs only the best one.</a:t>
            </a:r>
          </a:p>
        </p:txBody>
      </p:sp>
      <p:sp>
        <p:nvSpPr>
          <p:cNvPr id="111" name="">
            <a:extLst xmlns:a="http://schemas.openxmlformats.org/drawingml/2006/main">
              <a:ext uri="{FF2B5EF4-FFF2-40B4-BE49-F238E27FC236}">
                <a16:creationId xmlns:a16="http://schemas.microsoft.com/office/drawing/2014/main" id="{CA824320-1B1B-40AD-B8D0-36B9E98956AE}"/>
              </a:ext>
            </a:extLst>
          </p:cNvPr>
          <p:cNvSpPr>
            <a:spLocks xmlns:a="http://schemas.openxmlformats.org/drawingml/2006/main" noGrp="1"/>
          </p:cNvSpPr>
          <p:nvPr/>
        </p:nvSpPr>
        <p:spPr>
          <a:xfrm xmlns:a="http://schemas.openxmlformats.org/drawingml/2006/main">
            <a:off x="8477250" y="3276600"/>
            <a:ext cx="14287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12" name="">
            <a:extLst xmlns:a="http://schemas.openxmlformats.org/drawingml/2006/main">
              <a:ext uri="{FF2B5EF4-FFF2-40B4-BE49-F238E27FC236}">
                <a16:creationId xmlns:a16="http://schemas.microsoft.com/office/drawing/2014/main" id="{137F42DB-22D4-41EF-BB98-79A011F34334}"/>
              </a:ext>
            </a:extLst>
          </p:cNvPr>
          <p:cNvSpPr>
            <a:spLocks xmlns:a="http://schemas.openxmlformats.org/drawingml/2006/main" noGrp="1"/>
          </p:cNvSpPr>
          <p:nvPr/>
        </p:nvSpPr>
        <p:spPr>
          <a:xfrm xmlns:a="http://schemas.openxmlformats.org/drawingml/2006/main">
            <a:off x="8553450" y="332422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answer_slots</a:t>
            </a:r>
          </a:p>
        </p:txBody>
      </p:sp>
      <p:sp>
        <p:nvSpPr>
          <p:cNvPr id="113" name="">
            <a:extLst xmlns:a="http://schemas.openxmlformats.org/drawingml/2006/main">
              <a:ext uri="{FF2B5EF4-FFF2-40B4-BE49-F238E27FC236}">
                <a16:creationId xmlns:a16="http://schemas.microsoft.com/office/drawing/2014/main" id="{F0D7A67B-4A4E-443C-8539-88C96760A213}"/>
              </a:ext>
            </a:extLst>
          </p:cNvPr>
          <p:cNvSpPr>
            <a:spLocks xmlns:a="http://schemas.openxmlformats.org/drawingml/2006/main" noGrp="1"/>
          </p:cNvSpPr>
          <p:nvPr/>
        </p:nvSpPr>
        <p:spPr>
          <a:xfrm xmlns:a="http://schemas.openxmlformats.org/drawingml/2006/main">
            <a:off x="9906000" y="3276600"/>
            <a:ext cx="2381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14" name="">
            <a:extLst xmlns:a="http://schemas.openxmlformats.org/drawingml/2006/main">
              <a:ext uri="{FF2B5EF4-FFF2-40B4-BE49-F238E27FC236}">
                <a16:creationId xmlns:a16="http://schemas.microsoft.com/office/drawing/2014/main" id="{BDD9437C-7814-4F9D-B588-8335D01A3525}"/>
              </a:ext>
            </a:extLst>
          </p:cNvPr>
          <p:cNvSpPr>
            <a:spLocks xmlns:a="http://schemas.openxmlformats.org/drawingml/2006/main" noGrp="1"/>
          </p:cNvSpPr>
          <p:nvPr/>
        </p:nvSpPr>
        <p:spPr>
          <a:xfrm xmlns:a="http://schemas.openxmlformats.org/drawingml/2006/main">
            <a:off x="9982200" y="3324225"/>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Evidence slots — turn raw results into clean facts.</a:t>
            </a:r>
          </a:p>
        </p:txBody>
      </p:sp>
      <p:sp>
        <p:nvSpPr>
          <p:cNvPr id="115" name="">
            <a:extLst xmlns:a="http://schemas.openxmlformats.org/drawingml/2006/main">
              <a:ext uri="{FF2B5EF4-FFF2-40B4-BE49-F238E27FC236}">
                <a16:creationId xmlns:a16="http://schemas.microsoft.com/office/drawing/2014/main" id="{580DE103-0524-4C7B-9EC5-3F80853EE80B}"/>
              </a:ext>
            </a:extLst>
          </p:cNvPr>
          <p:cNvSpPr>
            <a:spLocks xmlns:a="http://schemas.openxmlformats.org/drawingml/2006/main" noGrp="1"/>
          </p:cNvSpPr>
          <p:nvPr/>
        </p:nvSpPr>
        <p:spPr>
          <a:xfrm xmlns:a="http://schemas.openxmlformats.org/drawingml/2006/main">
            <a:off x="12287250" y="3276600"/>
            <a:ext cx="2762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16" name="">
            <a:extLst xmlns:a="http://schemas.openxmlformats.org/drawingml/2006/main">
              <a:ext uri="{FF2B5EF4-FFF2-40B4-BE49-F238E27FC236}">
                <a16:creationId xmlns:a16="http://schemas.microsoft.com/office/drawing/2014/main" id="{F8782274-A8FC-48E0-B575-F508B9AF00BC}"/>
              </a:ext>
            </a:extLst>
          </p:cNvPr>
          <p:cNvSpPr>
            <a:spLocks xmlns:a="http://schemas.openxmlformats.org/drawingml/2006/main" noGrp="1"/>
          </p:cNvSpPr>
          <p:nvPr/>
        </p:nvSpPr>
        <p:spPr>
          <a:xfrm xmlns:a="http://schemas.openxmlformats.org/drawingml/2006/main">
            <a:off x="12363450" y="3324225"/>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Turns raw results into clean facts.</a:t>
            </a:r>
          </a:p>
        </p:txBody>
      </p:sp>
      <p:sp>
        <p:nvSpPr>
          <p:cNvPr id="117" name="">
            <a:extLst xmlns:a="http://schemas.openxmlformats.org/drawingml/2006/main">
              <a:ext uri="{FF2B5EF4-FFF2-40B4-BE49-F238E27FC236}">
                <a16:creationId xmlns:a16="http://schemas.microsoft.com/office/drawing/2014/main" id="{33FECE35-7A0B-4F6A-970B-0CA2163A1A43}"/>
              </a:ext>
            </a:extLst>
          </p:cNvPr>
          <p:cNvSpPr>
            <a:spLocks xmlns:a="http://schemas.openxmlformats.org/drawingml/2006/main" noGrp="1"/>
          </p:cNvSpPr>
          <p:nvPr/>
        </p:nvSpPr>
        <p:spPr>
          <a:xfrm xmlns:a="http://schemas.openxmlformats.org/drawingml/2006/main">
            <a:off x="8477250" y="3609975"/>
            <a:ext cx="14287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18" name="">
            <a:extLst xmlns:a="http://schemas.openxmlformats.org/drawingml/2006/main">
              <a:ext uri="{FF2B5EF4-FFF2-40B4-BE49-F238E27FC236}">
                <a16:creationId xmlns:a16="http://schemas.microsoft.com/office/drawing/2014/main" id="{982DA0F0-6918-4DF2-B596-5FC0C1C0264F}"/>
              </a:ext>
            </a:extLst>
          </p:cNvPr>
          <p:cNvSpPr>
            <a:spLocks xmlns:a="http://schemas.openxmlformats.org/drawingml/2006/main" noGrp="1"/>
          </p:cNvSpPr>
          <p:nvPr/>
        </p:nvSpPr>
        <p:spPr>
          <a:xfrm xmlns:a="http://schemas.openxmlformats.org/drawingml/2006/main">
            <a:off x="8553450" y="365760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answer_intent</a:t>
            </a:r>
          </a:p>
        </p:txBody>
      </p:sp>
      <p:sp>
        <p:nvSpPr>
          <p:cNvPr id="119" name="">
            <a:extLst xmlns:a="http://schemas.openxmlformats.org/drawingml/2006/main">
              <a:ext uri="{FF2B5EF4-FFF2-40B4-BE49-F238E27FC236}">
                <a16:creationId xmlns:a16="http://schemas.microsoft.com/office/drawing/2014/main" id="{BE9EF270-9E4A-4B92-BDEE-7712E23405C8}"/>
              </a:ext>
            </a:extLst>
          </p:cNvPr>
          <p:cNvSpPr>
            <a:spLocks xmlns:a="http://schemas.openxmlformats.org/drawingml/2006/main" noGrp="1"/>
          </p:cNvSpPr>
          <p:nvPr/>
        </p:nvSpPr>
        <p:spPr>
          <a:xfrm xmlns:a="http://schemas.openxmlformats.org/drawingml/2006/main">
            <a:off x="9906000" y="3609975"/>
            <a:ext cx="2381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20" name="">
            <a:extLst xmlns:a="http://schemas.openxmlformats.org/drawingml/2006/main">
              <a:ext uri="{FF2B5EF4-FFF2-40B4-BE49-F238E27FC236}">
                <a16:creationId xmlns:a16="http://schemas.microsoft.com/office/drawing/2014/main" id="{FC9D5D8F-7931-489D-8B15-6DD5D55C9B5A}"/>
              </a:ext>
            </a:extLst>
          </p:cNvPr>
          <p:cNvSpPr>
            <a:spLocks xmlns:a="http://schemas.openxmlformats.org/drawingml/2006/main" noGrp="1"/>
          </p:cNvSpPr>
          <p:nvPr/>
        </p:nvSpPr>
        <p:spPr>
          <a:xfrm xmlns:a="http://schemas.openxmlformats.org/drawingml/2006/main">
            <a:off x="9982200" y="365760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Answer intent — choose count/list/date/status shape.</a:t>
            </a:r>
          </a:p>
        </p:txBody>
      </p:sp>
      <p:sp>
        <p:nvSpPr>
          <p:cNvPr id="121" name="">
            <a:extLst xmlns:a="http://schemas.openxmlformats.org/drawingml/2006/main">
              <a:ext uri="{FF2B5EF4-FFF2-40B4-BE49-F238E27FC236}">
                <a16:creationId xmlns:a16="http://schemas.microsoft.com/office/drawing/2014/main" id="{6F73FD3C-444B-4B3F-A8FA-2F4BB6F29DCD}"/>
              </a:ext>
            </a:extLst>
          </p:cNvPr>
          <p:cNvSpPr>
            <a:spLocks xmlns:a="http://schemas.openxmlformats.org/drawingml/2006/main" noGrp="1"/>
          </p:cNvSpPr>
          <p:nvPr/>
        </p:nvSpPr>
        <p:spPr>
          <a:xfrm xmlns:a="http://schemas.openxmlformats.org/drawingml/2006/main">
            <a:off x="12287250" y="3609975"/>
            <a:ext cx="2762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22" name="">
            <a:extLst xmlns:a="http://schemas.openxmlformats.org/drawingml/2006/main">
              <a:ext uri="{FF2B5EF4-FFF2-40B4-BE49-F238E27FC236}">
                <a16:creationId xmlns:a16="http://schemas.microsoft.com/office/drawing/2014/main" id="{19B5E4E5-985B-4F0B-A266-54CFFD01F253}"/>
              </a:ext>
            </a:extLst>
          </p:cNvPr>
          <p:cNvSpPr>
            <a:spLocks xmlns:a="http://schemas.openxmlformats.org/drawingml/2006/main" noGrp="1"/>
          </p:cNvSpPr>
          <p:nvPr/>
        </p:nvSpPr>
        <p:spPr>
          <a:xfrm xmlns:a="http://schemas.openxmlformats.org/drawingml/2006/main">
            <a:off x="12363450" y="3657600"/>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Decides whether the answer should be a count, list, date, or status.</a:t>
            </a:r>
          </a:p>
        </p:txBody>
      </p:sp>
      <p:sp>
        <p:nvSpPr>
          <p:cNvPr id="123" name="">
            <a:extLst xmlns:a="http://schemas.openxmlformats.org/drawingml/2006/main">
              <a:ext uri="{FF2B5EF4-FFF2-40B4-BE49-F238E27FC236}">
                <a16:creationId xmlns:a16="http://schemas.microsoft.com/office/drawing/2014/main" id="{D1CC82F0-C573-4BAA-8B91-66126B7F6E84}"/>
              </a:ext>
            </a:extLst>
          </p:cNvPr>
          <p:cNvSpPr>
            <a:spLocks xmlns:a="http://schemas.openxmlformats.org/drawingml/2006/main" noGrp="1"/>
          </p:cNvSpPr>
          <p:nvPr/>
        </p:nvSpPr>
        <p:spPr>
          <a:xfrm xmlns:a="http://schemas.openxmlformats.org/drawingml/2006/main">
            <a:off x="8477250" y="3943350"/>
            <a:ext cx="14287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24" name="">
            <a:extLst xmlns:a="http://schemas.openxmlformats.org/drawingml/2006/main">
              <a:ext uri="{FF2B5EF4-FFF2-40B4-BE49-F238E27FC236}">
                <a16:creationId xmlns:a16="http://schemas.microsoft.com/office/drawing/2014/main" id="{2D62A734-CAFA-4AC0-830B-EB8626E2A424}"/>
              </a:ext>
            </a:extLst>
          </p:cNvPr>
          <p:cNvSpPr>
            <a:spLocks xmlns:a="http://schemas.openxmlformats.org/drawingml/2006/main" noGrp="1"/>
          </p:cNvSpPr>
          <p:nvPr/>
        </p:nvSpPr>
        <p:spPr>
          <a:xfrm xmlns:a="http://schemas.openxmlformats.org/drawingml/2006/main">
            <a:off x="8553450" y="399097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answer_claims</a:t>
            </a:r>
          </a:p>
        </p:txBody>
      </p:sp>
      <p:sp>
        <p:nvSpPr>
          <p:cNvPr id="125" name="">
            <a:extLst xmlns:a="http://schemas.openxmlformats.org/drawingml/2006/main">
              <a:ext uri="{FF2B5EF4-FFF2-40B4-BE49-F238E27FC236}">
                <a16:creationId xmlns:a16="http://schemas.microsoft.com/office/drawing/2014/main" id="{3E05C141-983C-4A54-A96E-DC8853B80161}"/>
              </a:ext>
            </a:extLst>
          </p:cNvPr>
          <p:cNvSpPr>
            <a:spLocks xmlns:a="http://schemas.openxmlformats.org/drawingml/2006/main" noGrp="1"/>
          </p:cNvSpPr>
          <p:nvPr/>
        </p:nvSpPr>
        <p:spPr>
          <a:xfrm xmlns:a="http://schemas.openxmlformats.org/drawingml/2006/main">
            <a:off x="9906000" y="3943350"/>
            <a:ext cx="2381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26" name="">
            <a:extLst xmlns:a="http://schemas.openxmlformats.org/drawingml/2006/main">
              <a:ext uri="{FF2B5EF4-FFF2-40B4-BE49-F238E27FC236}">
                <a16:creationId xmlns:a16="http://schemas.microsoft.com/office/drawing/2014/main" id="{2103EE03-5DE2-4BBC-94F9-ABDA908D076A}"/>
              </a:ext>
            </a:extLst>
          </p:cNvPr>
          <p:cNvSpPr>
            <a:spLocks xmlns:a="http://schemas.openxmlformats.org/drawingml/2006/main" noGrp="1"/>
          </p:cNvSpPr>
          <p:nvPr/>
        </p:nvSpPr>
        <p:spPr>
          <a:xfrm xmlns:a="http://schemas.openxmlformats.org/drawingml/2006/main">
            <a:off x="9982200" y="3990975"/>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Claim splitting — break answer into checkable facts.</a:t>
            </a:r>
          </a:p>
        </p:txBody>
      </p:sp>
      <p:sp>
        <p:nvSpPr>
          <p:cNvPr id="127" name="">
            <a:extLst xmlns:a="http://schemas.openxmlformats.org/drawingml/2006/main">
              <a:ext uri="{FF2B5EF4-FFF2-40B4-BE49-F238E27FC236}">
                <a16:creationId xmlns:a16="http://schemas.microsoft.com/office/drawing/2014/main" id="{0F58700E-CC1D-486F-A6E6-6E6967A0AD2C}"/>
              </a:ext>
            </a:extLst>
          </p:cNvPr>
          <p:cNvSpPr>
            <a:spLocks xmlns:a="http://schemas.openxmlformats.org/drawingml/2006/main" noGrp="1"/>
          </p:cNvSpPr>
          <p:nvPr/>
        </p:nvSpPr>
        <p:spPr>
          <a:xfrm xmlns:a="http://schemas.openxmlformats.org/drawingml/2006/main">
            <a:off x="12287250" y="3943350"/>
            <a:ext cx="2762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28" name="">
            <a:extLst xmlns:a="http://schemas.openxmlformats.org/drawingml/2006/main">
              <a:ext uri="{FF2B5EF4-FFF2-40B4-BE49-F238E27FC236}">
                <a16:creationId xmlns:a16="http://schemas.microsoft.com/office/drawing/2014/main" id="{A8769290-612F-4AC0-BC94-6F0454E40D33}"/>
              </a:ext>
            </a:extLst>
          </p:cNvPr>
          <p:cNvSpPr>
            <a:spLocks xmlns:a="http://schemas.openxmlformats.org/drawingml/2006/main" noGrp="1"/>
          </p:cNvSpPr>
          <p:nvPr/>
        </p:nvSpPr>
        <p:spPr>
          <a:xfrm xmlns:a="http://schemas.openxmlformats.org/drawingml/2006/main">
            <a:off x="12363450" y="3990975"/>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Breaks the answer into facts that can be checked.</a:t>
            </a:r>
          </a:p>
        </p:txBody>
      </p:sp>
      <p:sp>
        <p:nvSpPr>
          <p:cNvPr id="129" name="">
            <a:extLst xmlns:a="http://schemas.openxmlformats.org/drawingml/2006/main">
              <a:ext uri="{FF2B5EF4-FFF2-40B4-BE49-F238E27FC236}">
                <a16:creationId xmlns:a16="http://schemas.microsoft.com/office/drawing/2014/main" id="{DA7BD884-04A3-4373-8E09-BD2ABA0FE9E9}"/>
              </a:ext>
            </a:extLst>
          </p:cNvPr>
          <p:cNvSpPr>
            <a:spLocks xmlns:a="http://schemas.openxmlformats.org/drawingml/2006/main" noGrp="1"/>
          </p:cNvSpPr>
          <p:nvPr/>
        </p:nvSpPr>
        <p:spPr>
          <a:xfrm xmlns:a="http://schemas.openxmlformats.org/drawingml/2006/main">
            <a:off x="8477250" y="4276725"/>
            <a:ext cx="14287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30" name="">
            <a:extLst xmlns:a="http://schemas.openxmlformats.org/drawingml/2006/main">
              <a:ext uri="{FF2B5EF4-FFF2-40B4-BE49-F238E27FC236}">
                <a16:creationId xmlns:a16="http://schemas.microsoft.com/office/drawing/2014/main" id="{A6C6C650-9496-47B8-9A4F-FF9C4035AC38}"/>
              </a:ext>
            </a:extLst>
          </p:cNvPr>
          <p:cNvSpPr>
            <a:spLocks xmlns:a="http://schemas.openxmlformats.org/drawingml/2006/main" noGrp="1"/>
          </p:cNvSpPr>
          <p:nvPr/>
        </p:nvSpPr>
        <p:spPr>
          <a:xfrm xmlns:a="http://schemas.openxmlformats.org/drawingml/2006/main">
            <a:off x="8553450" y="432435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answer_verifier</a:t>
            </a:r>
          </a:p>
        </p:txBody>
      </p:sp>
      <p:sp>
        <p:nvSpPr>
          <p:cNvPr id="131" name="">
            <a:extLst xmlns:a="http://schemas.openxmlformats.org/drawingml/2006/main">
              <a:ext uri="{FF2B5EF4-FFF2-40B4-BE49-F238E27FC236}">
                <a16:creationId xmlns:a16="http://schemas.microsoft.com/office/drawing/2014/main" id="{54973FE4-E7F9-4270-B9C1-12B8EEA22B33}"/>
              </a:ext>
            </a:extLst>
          </p:cNvPr>
          <p:cNvSpPr>
            <a:spLocks xmlns:a="http://schemas.openxmlformats.org/drawingml/2006/main" noGrp="1"/>
          </p:cNvSpPr>
          <p:nvPr/>
        </p:nvSpPr>
        <p:spPr>
          <a:xfrm xmlns:a="http://schemas.openxmlformats.org/drawingml/2006/main">
            <a:off x="9906000" y="4276725"/>
            <a:ext cx="2381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32" name="">
            <a:extLst xmlns:a="http://schemas.openxmlformats.org/drawingml/2006/main">
              <a:ext uri="{FF2B5EF4-FFF2-40B4-BE49-F238E27FC236}">
                <a16:creationId xmlns:a16="http://schemas.microsoft.com/office/drawing/2014/main" id="{A88C1F2D-2D91-411C-BB17-A3A2A004D5BC}"/>
              </a:ext>
            </a:extLst>
          </p:cNvPr>
          <p:cNvSpPr>
            <a:spLocks xmlns:a="http://schemas.openxmlformats.org/drawingml/2006/main" noGrp="1"/>
          </p:cNvSpPr>
          <p:nvPr/>
        </p:nvSpPr>
        <p:spPr>
          <a:xfrm xmlns:a="http://schemas.openxmlformats.org/drawingml/2006/main">
            <a:off x="9982200" y="432435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Answer fact-checking — verify claims against evidence.</a:t>
            </a:r>
          </a:p>
        </p:txBody>
      </p:sp>
      <p:sp>
        <p:nvSpPr>
          <p:cNvPr id="133" name="">
            <a:extLst xmlns:a="http://schemas.openxmlformats.org/drawingml/2006/main">
              <a:ext uri="{FF2B5EF4-FFF2-40B4-BE49-F238E27FC236}">
                <a16:creationId xmlns:a16="http://schemas.microsoft.com/office/drawing/2014/main" id="{0C33D516-B512-47D1-993D-A764BBEA6CC2}"/>
              </a:ext>
            </a:extLst>
          </p:cNvPr>
          <p:cNvSpPr>
            <a:spLocks xmlns:a="http://schemas.openxmlformats.org/drawingml/2006/main" noGrp="1"/>
          </p:cNvSpPr>
          <p:nvPr/>
        </p:nvSpPr>
        <p:spPr>
          <a:xfrm xmlns:a="http://schemas.openxmlformats.org/drawingml/2006/main">
            <a:off x="12287250" y="4276725"/>
            <a:ext cx="2762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34" name="">
            <a:extLst xmlns:a="http://schemas.openxmlformats.org/drawingml/2006/main">
              <a:ext uri="{FF2B5EF4-FFF2-40B4-BE49-F238E27FC236}">
                <a16:creationId xmlns:a16="http://schemas.microsoft.com/office/drawing/2014/main" id="{84227F59-ED38-49E7-A553-A56C3EC3F909}"/>
              </a:ext>
            </a:extLst>
          </p:cNvPr>
          <p:cNvSpPr>
            <a:spLocks xmlns:a="http://schemas.openxmlformats.org/drawingml/2006/main" noGrp="1"/>
          </p:cNvSpPr>
          <p:nvPr/>
        </p:nvSpPr>
        <p:spPr>
          <a:xfrm xmlns:a="http://schemas.openxmlformats.org/drawingml/2006/main">
            <a:off x="12363450" y="4324350"/>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Checks that the answer is supported by evidence.</a:t>
            </a:r>
          </a:p>
        </p:txBody>
      </p:sp>
      <p:sp>
        <p:nvSpPr>
          <p:cNvPr id="135" name="">
            <a:extLst xmlns:a="http://schemas.openxmlformats.org/drawingml/2006/main">
              <a:ext uri="{FF2B5EF4-FFF2-40B4-BE49-F238E27FC236}">
                <a16:creationId xmlns:a16="http://schemas.microsoft.com/office/drawing/2014/main" id="{18EEE357-714C-4AB4-AC99-ED43A2D8CA78}"/>
              </a:ext>
            </a:extLst>
          </p:cNvPr>
          <p:cNvSpPr>
            <a:spLocks xmlns:a="http://schemas.openxmlformats.org/drawingml/2006/main" noGrp="1"/>
          </p:cNvSpPr>
          <p:nvPr/>
        </p:nvSpPr>
        <p:spPr>
          <a:xfrm xmlns:a="http://schemas.openxmlformats.org/drawingml/2006/main">
            <a:off x="8477250" y="4610100"/>
            <a:ext cx="14287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36" name="">
            <a:extLst xmlns:a="http://schemas.openxmlformats.org/drawingml/2006/main">
              <a:ext uri="{FF2B5EF4-FFF2-40B4-BE49-F238E27FC236}">
                <a16:creationId xmlns:a16="http://schemas.microsoft.com/office/drawing/2014/main" id="{02A398FE-1CBF-4878-9259-61EDF1D471E5}"/>
              </a:ext>
            </a:extLst>
          </p:cNvPr>
          <p:cNvSpPr>
            <a:spLocks xmlns:a="http://schemas.openxmlformats.org/drawingml/2006/main" noGrp="1"/>
          </p:cNvSpPr>
          <p:nvPr/>
        </p:nvSpPr>
        <p:spPr>
          <a:xfrm xmlns:a="http://schemas.openxmlformats.org/drawingml/2006/main">
            <a:off x="8553450" y="4657725"/>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answer_reranker</a:t>
            </a:r>
          </a:p>
        </p:txBody>
      </p:sp>
      <p:sp>
        <p:nvSpPr>
          <p:cNvPr id="137" name="">
            <a:extLst xmlns:a="http://schemas.openxmlformats.org/drawingml/2006/main">
              <a:ext uri="{FF2B5EF4-FFF2-40B4-BE49-F238E27FC236}">
                <a16:creationId xmlns:a16="http://schemas.microsoft.com/office/drawing/2014/main" id="{193CF2BC-3AC4-4C57-A1A0-623352A0DA59}"/>
              </a:ext>
            </a:extLst>
          </p:cNvPr>
          <p:cNvSpPr>
            <a:spLocks xmlns:a="http://schemas.openxmlformats.org/drawingml/2006/main" noGrp="1"/>
          </p:cNvSpPr>
          <p:nvPr/>
        </p:nvSpPr>
        <p:spPr>
          <a:xfrm xmlns:a="http://schemas.openxmlformats.org/drawingml/2006/main">
            <a:off x="9906000" y="4610100"/>
            <a:ext cx="2381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38" name="">
            <a:extLst xmlns:a="http://schemas.openxmlformats.org/drawingml/2006/main">
              <a:ext uri="{FF2B5EF4-FFF2-40B4-BE49-F238E27FC236}">
                <a16:creationId xmlns:a16="http://schemas.microsoft.com/office/drawing/2014/main" id="{23574275-3D05-4AB0-BB34-BDFAB280FAA5}"/>
              </a:ext>
            </a:extLst>
          </p:cNvPr>
          <p:cNvSpPr>
            <a:spLocks xmlns:a="http://schemas.openxmlformats.org/drawingml/2006/main" noGrp="1"/>
          </p:cNvSpPr>
          <p:nvPr/>
        </p:nvSpPr>
        <p:spPr>
          <a:xfrm xmlns:a="http://schemas.openxmlformats.org/drawingml/2006/main">
            <a:off x="9982200" y="4657725"/>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Safe answer selection — choose the best supported answer.</a:t>
            </a:r>
          </a:p>
        </p:txBody>
      </p:sp>
      <p:sp>
        <p:nvSpPr>
          <p:cNvPr id="139" name="">
            <a:extLst xmlns:a="http://schemas.openxmlformats.org/drawingml/2006/main">
              <a:ext uri="{FF2B5EF4-FFF2-40B4-BE49-F238E27FC236}">
                <a16:creationId xmlns:a16="http://schemas.microsoft.com/office/drawing/2014/main" id="{9C0DF8E1-4C6F-44D1-A8F6-92472A40F156}"/>
              </a:ext>
            </a:extLst>
          </p:cNvPr>
          <p:cNvSpPr>
            <a:spLocks xmlns:a="http://schemas.openxmlformats.org/drawingml/2006/main" noGrp="1"/>
          </p:cNvSpPr>
          <p:nvPr/>
        </p:nvSpPr>
        <p:spPr>
          <a:xfrm xmlns:a="http://schemas.openxmlformats.org/drawingml/2006/main">
            <a:off x="12287250" y="4610100"/>
            <a:ext cx="2762250" cy="333375"/>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140" name="">
            <a:extLst xmlns:a="http://schemas.openxmlformats.org/drawingml/2006/main">
              <a:ext uri="{FF2B5EF4-FFF2-40B4-BE49-F238E27FC236}">
                <a16:creationId xmlns:a16="http://schemas.microsoft.com/office/drawing/2014/main" id="{697E1FD0-CDC5-43FF-A768-907D4A5D9B5E}"/>
              </a:ext>
            </a:extLst>
          </p:cNvPr>
          <p:cNvSpPr>
            <a:spLocks xmlns:a="http://schemas.openxmlformats.org/drawingml/2006/main" noGrp="1"/>
          </p:cNvSpPr>
          <p:nvPr/>
        </p:nvSpPr>
        <p:spPr>
          <a:xfrm xmlns:a="http://schemas.openxmlformats.org/drawingml/2006/main">
            <a:off x="12363450" y="4657725"/>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Chooses the best safe answer.</a:t>
            </a:r>
          </a:p>
        </p:txBody>
      </p:sp>
      <p:sp>
        <p:nvSpPr>
          <p:cNvPr id="141" name="">
            <a:extLst xmlns:a="http://schemas.openxmlformats.org/drawingml/2006/main">
              <a:ext uri="{FF2B5EF4-FFF2-40B4-BE49-F238E27FC236}">
                <a16:creationId xmlns:a16="http://schemas.microsoft.com/office/drawing/2014/main" id="{0E2380F4-6330-4A58-8B08-FC371F7CD755}"/>
              </a:ext>
            </a:extLst>
          </p:cNvPr>
          <p:cNvSpPr>
            <a:spLocks xmlns:a="http://schemas.openxmlformats.org/drawingml/2006/main" noGrp="1"/>
          </p:cNvSpPr>
          <p:nvPr/>
        </p:nvSpPr>
        <p:spPr>
          <a:xfrm xmlns:a="http://schemas.openxmlformats.org/drawingml/2006/main">
            <a:off x="8477250" y="4943475"/>
            <a:ext cx="14287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42" name="">
            <a:extLst xmlns:a="http://schemas.openxmlformats.org/drawingml/2006/main">
              <a:ext uri="{FF2B5EF4-FFF2-40B4-BE49-F238E27FC236}">
                <a16:creationId xmlns:a16="http://schemas.microsoft.com/office/drawing/2014/main" id="{6CC7B797-72FC-4AA9-AAE4-E3F5D072C60C}"/>
              </a:ext>
            </a:extLst>
          </p:cNvPr>
          <p:cNvSpPr>
            <a:spLocks xmlns:a="http://schemas.openxmlformats.org/drawingml/2006/main" noGrp="1"/>
          </p:cNvSpPr>
          <p:nvPr/>
        </p:nvSpPr>
        <p:spPr>
          <a:xfrm xmlns:a="http://schemas.openxmlformats.org/drawingml/2006/main">
            <a:off x="8553450" y="499110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1">
                <a:solidFill>
                  <a:srgbClr val="172033"/>
                </a:solidFill>
                <a:latin typeface="Aptos"/>
                <a:ea typeface="Aptos"/>
                <a:cs typeface="Aptos"/>
              </a:defRPr>
            </a:pPr>
            <a:r>
              <a:rPr sz="630" b="1">
                <a:solidFill>
                  <a:srgbClr val="172033"/>
                </a:solidFill>
                <a:latin typeface="Aptos"/>
                <a:ea typeface="Aptos"/>
                <a:cs typeface="Aptos"/>
              </a:rPr>
              <a:t>answer_diagnostics</a:t>
            </a:r>
          </a:p>
        </p:txBody>
      </p:sp>
      <p:sp>
        <p:nvSpPr>
          <p:cNvPr id="143" name="">
            <a:extLst xmlns:a="http://schemas.openxmlformats.org/drawingml/2006/main">
              <a:ext uri="{FF2B5EF4-FFF2-40B4-BE49-F238E27FC236}">
                <a16:creationId xmlns:a16="http://schemas.microsoft.com/office/drawing/2014/main" id="{2ED2EF2B-4442-420D-A3E5-838FC2EEACB2}"/>
              </a:ext>
            </a:extLst>
          </p:cNvPr>
          <p:cNvSpPr>
            <a:spLocks xmlns:a="http://schemas.openxmlformats.org/drawingml/2006/main" noGrp="1"/>
          </p:cNvSpPr>
          <p:nvPr/>
        </p:nvSpPr>
        <p:spPr>
          <a:xfrm xmlns:a="http://schemas.openxmlformats.org/drawingml/2006/main">
            <a:off x="9906000" y="4943475"/>
            <a:ext cx="2381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44" name="">
            <a:extLst xmlns:a="http://schemas.openxmlformats.org/drawingml/2006/main">
              <a:ext uri="{FF2B5EF4-FFF2-40B4-BE49-F238E27FC236}">
                <a16:creationId xmlns:a16="http://schemas.microsoft.com/office/drawing/2014/main" id="{466BF3A4-2E07-4CB3-B511-BEEB233A7F25}"/>
              </a:ext>
            </a:extLst>
          </p:cNvPr>
          <p:cNvSpPr>
            <a:spLocks xmlns:a="http://schemas.openxmlformats.org/drawingml/2006/main" noGrp="1"/>
          </p:cNvSpPr>
          <p:nvPr/>
        </p:nvSpPr>
        <p:spPr>
          <a:xfrm xmlns:a="http://schemas.openxmlformats.org/drawingml/2006/main">
            <a:off x="9982200" y="499110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Answer diagnostics — log why answers pass or fail.</a:t>
            </a:r>
          </a:p>
        </p:txBody>
      </p:sp>
      <p:sp>
        <p:nvSpPr>
          <p:cNvPr id="145" name="">
            <a:extLst xmlns:a="http://schemas.openxmlformats.org/drawingml/2006/main">
              <a:ext uri="{FF2B5EF4-FFF2-40B4-BE49-F238E27FC236}">
                <a16:creationId xmlns:a16="http://schemas.microsoft.com/office/drawing/2014/main" id="{D1718192-59F9-457F-832C-DF3371723AB7}"/>
              </a:ext>
            </a:extLst>
          </p:cNvPr>
          <p:cNvSpPr>
            <a:spLocks xmlns:a="http://schemas.openxmlformats.org/drawingml/2006/main" noGrp="1"/>
          </p:cNvSpPr>
          <p:nvPr/>
        </p:nvSpPr>
        <p:spPr>
          <a:xfrm xmlns:a="http://schemas.openxmlformats.org/drawingml/2006/main">
            <a:off x="12287250" y="4943475"/>
            <a:ext cx="2762250" cy="333375"/>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146" name="">
            <a:extLst xmlns:a="http://schemas.openxmlformats.org/drawingml/2006/main">
              <a:ext uri="{FF2B5EF4-FFF2-40B4-BE49-F238E27FC236}">
                <a16:creationId xmlns:a16="http://schemas.microsoft.com/office/drawing/2014/main" id="{5B82FECD-EF10-4000-B12B-D43DF7B2C831}"/>
              </a:ext>
            </a:extLst>
          </p:cNvPr>
          <p:cNvSpPr>
            <a:spLocks xmlns:a="http://schemas.openxmlformats.org/drawingml/2006/main" noGrp="1"/>
          </p:cNvSpPr>
          <p:nvPr/>
        </p:nvSpPr>
        <p:spPr>
          <a:xfrm xmlns:a="http://schemas.openxmlformats.org/drawingml/2006/main">
            <a:off x="12363450" y="4991100"/>
            <a:ext cx="2609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5F6B7A"/>
                </a:solidFill>
                <a:latin typeface="Aptos"/>
                <a:ea typeface="Aptos"/>
                <a:cs typeface="Aptos"/>
              </a:defRPr>
            </a:pPr>
            <a:r>
              <a:rPr sz="630" b="0">
                <a:solidFill>
                  <a:srgbClr val="5F6B7A"/>
                </a:solidFill>
                <a:latin typeface="Aptos"/>
                <a:ea typeface="Aptos"/>
                <a:cs typeface="Aptos"/>
              </a:rPr>
              <a:t>Logs why an answer passed or failed.</a:t>
            </a:r>
          </a:p>
        </p:txBody>
      </p:sp>
      <p:sp>
        <p:nvSpPr>
          <p:cNvPr id="147" name="">
            <a:extLst xmlns:a="http://schemas.openxmlformats.org/drawingml/2006/main">
              <a:ext uri="{FF2B5EF4-FFF2-40B4-BE49-F238E27FC236}">
                <a16:creationId xmlns:a16="http://schemas.microsoft.com/office/drawing/2014/main" id="{00338BA4-A56D-4383-A350-D03BB05ABDEF}"/>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05</a:t>
            </a:r>
          </a:p>
        </p:txBody>
      </p:sp>
    </p:spTree>
    <p:extLst>
      <p:ext uri="{BB962C8B-B14F-4D97-AF65-F5344CB8AC3E}">
        <p14:creationId xmlns:p14="http://schemas.microsoft.com/office/powerpoint/2010/main" val="1837420722"/>
      </p:ext>
    </p:extLst>
  </p:cSld>
</p:sld>
</file>

<file path=ppt/slides/slide6.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1337B33B-3ACA-4299-9EE7-16CDE80EE648}"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B8B13CE6-CA63-47FB-AED1-7FCCE846F323}"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BC3E553B-03A9-44FA-BD67-4E2B5A1B7543}"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Schema-guided planning: SQL/API templates</a:t></a:r></a:p></p:txBody></p:sp><p:sp><p:nvSpPr><p:cNvPr id="4" name=""><a:extLst xmlns:a="http://schemas.openxmlformats.org/drawingml/2006/main"><a:ext uri="{FF2B5EF4-FFF2-40B4-BE49-F238E27FC236}"><a16:creationId id="{011AADBD-33BA-42AB-A630-15CC38527643}"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6AE8A17F-2D53-447C-956D-1E7BF3928C4A}"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7AA3271D-85C8-436F-9A58-D3A12DF85E87}"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73FEB6AE-0EAC-4B4E-96F4-A069ABFC4AE6}"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59AB1BFD-105E-418E-988A-5D420C52927F}"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Templates are safe forms for SQL and API calls; they keep the system from inventing random joins, columns, or endpoints.</a:t></a:r></a:p></p:txBody></p:sp><p:sp><p:nvSpPr><p:cNvPr id="9" name=""><a:extLst xmlns:a="http://schemas.openxmlformats.org/drawingml/2006/main"><a:ext uri="{FF2B5EF4-FFF2-40B4-BE49-F238E27FC236}"><a16:creationId id="{2EC969FF-EE3C-4131-8D30-2896627FDE21}"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8C7E75D1-8A5C-4945-91DD-93FDA840744A}"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Schema-guided planning — safe SQL/API patterns.</a:t></a:r></a:p></p:txBody></p:sp><p:sp><p:nvSpPr><p:cNvPr id="11" name=""><a:extLst xmlns:a="http://schemas.openxmlformats.org/drawingml/2006/main"><a:ext uri="{FF2B5EF4-FFF2-40B4-BE49-F238E27FC236}"><a16:creationId id="{6C627DF1-10FC-40A9-933E-E3E9DA357DEE}"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037ABC8A-E725-48D9-9114-41A1C01D252A}"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51b3e11f4c1445cf" xmlns:r="http://schemas.openxmlformats.org/officeDocument/2006/relationships" xmlns:a="http://schemas.openxmlformats.org/drawingml/2006/main" /><a:stretch xmlns:a="http://schemas.openxmlformats.org/drawingml/2006/main" /></p:blipFill><p:spPr><a:xfrm xmlns:a="http://schemas.openxmlformats.org/drawingml/2006/main"><a:off x="781050" y="2868418" /><a:ext cx="10629900" cy="930665" /></a:xfrm><a:prstGeom prst="rect" xmlns:a="http://schemas.openxmlformats.org/drawingml/2006/main"><a:avLst /></a:prstGeom></p:spPr></p:pic><p:sp><p:nvSpPr><p:cNvPr id="14" name=""><a:extLst xmlns:a="http://schemas.openxmlformats.org/drawingml/2006/main"><a:ext uri="{FF2B5EF4-FFF2-40B4-BE49-F238E27FC236}"><a16:creationId id="{6B3AF65C-7069-4E9F-9F49-B2FED090EE4B}"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E515009A-8C37-4D09-8FA7-7A08FE83794D}"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D9D469DB-6622-4B41-B4D9-4CDBDCA4A7B0}"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41B17735-8D15-42AA-8794-D76A005B84C0}"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DF38A795-0DAF-4A39-8886-82557873277B}"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3ABC7C49-A5F4-4280-8F90-011CB81CEC35}"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Read the question type.</a:t></a:r></a:p></p:txBody></p:sp><p:sp><p:nvSpPr><p:cNvPr id="20" name=""><a:extLst xmlns:a="http://schemas.openxmlformats.org/drawingml/2006/main"><a:ext uri="{FF2B5EF4-FFF2-40B4-BE49-F238E27FC236}"><a16:creationId id="{F8072F99-83D3-430D-8E5E-72FAE1088BB2}"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918E4E53-6289-4F79-867F-1514282AAB37}"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297E19C3-C0AB-4ABD-B4E2-A6FE0C1C5D93}"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Pick the matching SQL/API template.</a:t></a:r></a:p></p:txBody></p:sp><p:sp><p:nvSpPr><p:cNvPr id="23" name=""><a:extLst xmlns:a="http://schemas.openxmlformats.org/drawingml/2006/main"><a:ext uri="{FF2B5EF4-FFF2-40B4-BE49-F238E27FC236}"><a16:creationId id="{C0C94B63-A2E4-4E62-BB92-B8D69ADF5C59}"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418A8792-05BF-47B5-90E5-421763486FE1}"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8A5C31BC-DCD9-4663-95F4-BF8C89988409}"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Fill in known table, column, endpoint, and parameter names.</a:t></a:r></a:p></p:txBody></p:sp><p:sp><p:nvSpPr><p:cNvPr id="26" name=""><a:extLst xmlns:a="http://schemas.openxmlformats.org/drawingml/2006/main"><a:ext uri="{FF2B5EF4-FFF2-40B4-BE49-F238E27FC236}"><a16:creationId id="{129E673B-A1FF-454F-BC46-BE7A0B30B629}"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85D57E59-5E35-463F-8332-F7D8FCB8069F}"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14FE539F-E47B-4AB4-8A47-42BF9073F44C}"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Validate the SQL/API call.</a:t></a:r></a:p></p:txBody></p:sp><p:sp><p:nvSpPr><p:cNvPr id="29" name=""><a:extLst xmlns:a="http://schemas.openxmlformats.org/drawingml/2006/main"><a:ext uri="{FF2B5EF4-FFF2-40B4-BE49-F238E27FC236}"><a16:creationId id="{1F0EF5CB-FC16-4AB2-9D14-223EA6BD60F7}"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7DF1319F-D462-4D3F-859E-8F29F947C64E}"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C5E4F87C-BB27-4105-979C-4C5394DF2DA0}"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Send a safe structured plan forward.</a:t></a:r></a:p></p:txBody></p:sp><p:sp><p:nvSpPr><p:cNvPr id="32" name=""><a:extLst xmlns:a="http://schemas.openxmlformats.org/drawingml/2006/main"><a:ext uri="{FF2B5EF4-FFF2-40B4-BE49-F238E27FC236}"><a16:creationId id="{29BA53EC-02C3-4B2B-B581-A2F75F1D192B}"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18899AB6-2ECE-4610-9405-AE5B5927ADC7}"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6C451C50-2FA6-413D-BE95-F26FD88D97B8}"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SQL/API templates</a:t></a:r></a:p></p:txBody></p:sp><p:sp><p:nvSpPr><p:cNvPr id="35" name=""><a:extLst xmlns:a="http://schemas.openxmlformats.org/drawingml/2006/main"><a:ext uri="{FF2B5EF4-FFF2-40B4-BE49-F238E27FC236}"><a16:creationId id="{9EF47CCC-9B3E-4730-BFFD-20A70C84ED6A}"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92F2F901-FE7C-4369-AEC4-D83D68B6CA09}"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AB889471-DB95-406F-A36C-36A57929CD44}"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Schema-guided planning — safe SQL/API patterns.</a:t></a:r></a:p></p:txBody></p:sp><p:sp><p:nvSpPr><p:cNvPr id="38" name=""><a:extLst xmlns:a="http://schemas.openxmlformats.org/drawingml/2006/main"><a:ext uri="{FF2B5EF4-FFF2-40B4-BE49-F238E27FC236}"><a16:creationId id="{39F6D45B-9BA5-4B10-A480-7A15AF2BF68B}"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3ABE6708-6FBF-4B0C-825B-1AF1C749291D}"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sql_templates.py"><a:hlinkClick xmlns:a="http://schemas.openxmlformats.org/drawingml/2006/main" r:id="rIdModuleLink4" tooltip="Open /Users/tanqinyang/Desktop/dashsys-workshop-vldb/dashagent/sql_templates.py"/><a:extLst xmlns:a="http://schemas.openxmlformats.org/drawingml/2006/main"><a:ext uri="{FF2B5EF4-FFF2-40B4-BE49-F238E27FC236}"><a16:creationId id="{EE0BE599-8D91-4769-BC6E-D52609CC6EA4}" xmlns:a16="http://schemas.microsoft.com/office/drawing/2014/main" /></a:ext></a:extLst></p:cNvPr><p:cNvSpPr><a:spLocks noGrp="1" xmlns:a="http://schemas.openxmlformats.org/drawingml/2006/main" /></p:cNvSpPr><p:nvPr /></p:nvSpPr><p:spPr><a:xfrm xmlns:a="http://schemas.openxmlformats.org/drawingml/2006/main"><a:off x="5810250" y="5638800" /><a:ext cx="1228725"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sql_templates.py</a:t></a:r></a:p></p:txBody></p:sp><p:sp><p:nvSpPr><p:cNvPr id="41" name="module-link-api_templates.py"><a:hlinkClick xmlns:a="http://schemas.openxmlformats.org/drawingml/2006/main" r:id="rIdModuleLink5" tooltip="Open /Users/tanqinyang/Desktop/dashsys-workshop-vldb/dashagent/api_templates.py"/><a:extLst xmlns:a="http://schemas.openxmlformats.org/drawingml/2006/main"><a:ext uri="{FF2B5EF4-FFF2-40B4-BE49-F238E27FC236}"><a16:creationId id="{3A501B87-FBEC-408E-9C6B-D4B9266AD8C9}" xmlns:a16="http://schemas.microsoft.com/office/drawing/2014/main" /></a:ext></a:extLst></p:cNvPr><p:cNvSpPr><a:spLocks noGrp="1" xmlns:a="http://schemas.openxmlformats.org/drawingml/2006/main" /></p:cNvSpPr><p:nvPr /></p:nvSpPr><p:spPr><a:xfrm xmlns:a="http://schemas.openxmlformats.org/drawingml/2006/main"><a:off x="7077075" y="5638800" /><a:ext cx="1228725"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api_templates.py</a:t></a:r></a:p></p:txBody></p:sp><p:sp><p:nvSpPr><p:cNvPr id="42" name="module-link-planner.py"><a:hlinkClick xmlns:a="http://schemas.openxmlformats.org/drawingml/2006/main" r:id="rIdModuleLink6" tooltip="Open /Users/tanqinyang/Desktop/dashsys-workshop-vldb/dashagent/planner.py"/><a:extLst xmlns:a="http://schemas.openxmlformats.org/drawingml/2006/main"><a:ext uri="{FF2B5EF4-FFF2-40B4-BE49-F238E27FC236}"><a16:creationId id="{9B912C88-A790-4902-A254-3651F9F8580F}" xmlns:a16="http://schemas.microsoft.com/office/drawing/2014/main" /></a:ext></a:extLst></p:cNvPr><p:cNvSpPr><a:spLocks noGrp="1" xmlns:a="http://schemas.openxmlformats.org/drawingml/2006/main" /></p:cNvSpPr><p:nvPr /></p:nvSpPr><p:spPr><a:xfrm xmlns:a="http://schemas.openxmlformats.org/drawingml/2006/main"><a:off x="5810250" y="5895975" /><a:ext cx="1228725"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planner.py</a:t></a:r></a:p></p:txBody></p:sp><p:sp><p:nvSpPr><p:cNvPr id="43" name=""><a:extLst xmlns:a="http://schemas.openxmlformats.org/drawingml/2006/main"><a:ext uri="{FF2B5EF4-FFF2-40B4-BE49-F238E27FC236}"><a16:creationId id="{F0B0CF40-6A32-4BE5-9949-65F165FC7CAB}"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4" name=""><a:extLst xmlns:a="http://schemas.openxmlformats.org/drawingml/2006/main"><a:ext uri="{FF2B5EF4-FFF2-40B4-BE49-F238E27FC236}"><a16:creationId id="{9F5EA4AC-4896-4401-80EA-160A8CE62A78}"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5" name=""><a:extLst xmlns:a="http://schemas.openxmlformats.org/drawingml/2006/main"><a:ext uri="{FF2B5EF4-FFF2-40B4-BE49-F238E27FC236}"><a16:creationId id="{CB4429A4-BD95-4B21-B521-21D8C183D549}"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Gives the system safe SQL/API patterns instead of letting it guess.</a:t></a:r></a:p></p:txBody></p:sp><p:sp><p:nvSpPr><p:cNvPr id="46" name=""><a:extLst xmlns:a="http://schemas.openxmlformats.org/drawingml/2006/main"><a:ext uri="{FF2B5EF4-FFF2-40B4-BE49-F238E27FC236}"><a16:creationId id="{D32B8034-B7C0-4B17-8F73-1C6E7C00FBBD}"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06</a:t></a:r></a:p></p:txBody></p:sp></p:spTree><p:extLst><p:ext uri="{BB962C8B-B14F-4D97-AF65-F5344CB8AC3E}"><p14:creationId val="1544831599" xmlns:p14="http://schemas.microsoft.com/office/powerpoint/2010/main" /></p:ext></p:extLst></p:cSld></p:sld>
</file>

<file path=ppt/slides/slide7.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1CFC6D8C-F35B-4185-B826-DFDA8E63E210}"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948068A0-749C-4086-82AE-0E631DB4CDDD}"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43FABCE6-9481-4CF5-B634-FED04794733C}"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Error-driven optimization: failure_analysis</a:t></a:r></a:p></p:txBody></p:sp><p:sp><p:nvSpPr><p:cNvPr id="4" name=""><a:extLst xmlns:a="http://schemas.openxmlformats.org/drawingml/2006/main"><a:ext uri="{FF2B5EF4-FFF2-40B4-BE49-F238E27FC236}"><a16:creationId id="{B098269B-8E8D-44DA-B170-3A6E3AEE8378}"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697C792C-1099-4AF9-AF96-15F6437840F6}"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66B45321-2865-431B-AFF2-B239D7BEFF7B}"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1CC2E303-A11C-442C-AE92-7A5D6D9A0899}"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C3C6D501-4722-4EA8-83BE-B0AEE369469B}"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Failure analysis is the debugging loop: find the lowest-scoring examples and fix those reusable patterns first.</a:t></a:r></a:p></p:txBody></p:sp><p:sp><p:nvSpPr><p:cNvPr id="9" name=""><a:extLst xmlns:a="http://schemas.openxmlformats.org/drawingml/2006/main"><a:ext uri="{FF2B5EF4-FFF2-40B4-BE49-F238E27FC236}"><a16:creationId id="{5060B8E0-3292-4E3F-9FC6-438680954861}"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8F697679-9E17-476A-82D0-0A30BAA7B144}"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Benchmark-guided debugging — fix weakest examples first.</a:t></a:r></a:p></p:txBody></p:sp><p:sp><p:nvSpPr><p:cNvPr id="11" name=""><a:extLst xmlns:a="http://schemas.openxmlformats.org/drawingml/2006/main"><a:ext uri="{FF2B5EF4-FFF2-40B4-BE49-F238E27FC236}"><a16:creationId id="{42B78534-362F-449D-B9FF-2C7E8AD35914}"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5794CE56-784C-4B4C-BBFB-075082B80042}"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9dfc895f9f0e4983" xmlns:r="http://schemas.openxmlformats.org/officeDocument/2006/relationships" xmlns:a="http://schemas.openxmlformats.org/drawingml/2006/main" /><a:stretch xmlns:a="http://schemas.openxmlformats.org/drawingml/2006/main" /></p:blipFill><p:spPr><a:xfrm xmlns:a="http://schemas.openxmlformats.org/drawingml/2006/main"><a:off x="781050" y="2617310" /><a:ext cx="10629900" cy="1432879" /></a:xfrm><a:prstGeom prst="rect" xmlns:a="http://schemas.openxmlformats.org/drawingml/2006/main"><a:avLst /></a:prstGeom></p:spPr></p:pic><p:sp><p:nvSpPr><p:cNvPr id="14" name=""><a:extLst xmlns:a="http://schemas.openxmlformats.org/drawingml/2006/main"><a:ext uri="{FF2B5EF4-FFF2-40B4-BE49-F238E27FC236}"><a16:creationId id="{E9C74CB6-6E29-4EDD-94C7-23D6A7D34FDD}"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B185B4B6-DC4A-4FA0-A754-11C94D7B775C}"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6C20DA74-1686-4844-B2FF-7D75B1959207}"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D1F03C44-04D5-4E28-AC73-E76DB5F2893D}"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FCEF153A-B2B6-4F1D-AE0C-6E5B5EECD68F}"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14252E33-1B70-4021-BF4C-DE399C8BDC59}"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Run evaluation.</a:t></a:r></a:p></p:txBody></p:sp><p:sp><p:nvSpPr><p:cNvPr id="20" name=""><a:extLst xmlns:a="http://schemas.openxmlformats.org/drawingml/2006/main"><a:ext uri="{FF2B5EF4-FFF2-40B4-BE49-F238E27FC236}"><a16:creationId id="{68A37DF3-1A89-4617-80E1-91A603DB1675}"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5B634DA7-4F8F-4607-A7C7-6533806025DD}"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A23EB346-5F4C-44F2-8559-59C7509CE05A}"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Find low-scoring examples.</a:t></a:r></a:p></p:txBody></p:sp><p:sp><p:nvSpPr><p:cNvPr id="23" name=""><a:extLst xmlns:a="http://schemas.openxmlformats.org/drawingml/2006/main"><a:ext uri="{FF2B5EF4-FFF2-40B4-BE49-F238E27FC236}"><a16:creationId id="{09529317-3C4B-473C-B5F1-033542F2AD6E}"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DE985461-5A30-48F3-9D17-BA10D23E4629}"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91A16990-54A8-4F03-861C-BC230743EED3}"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Label the failure type.</a:t></a:r></a:p></p:txBody></p:sp><p:sp><p:nvSpPr><p:cNvPr id="26" name=""><a:extLst xmlns:a="http://schemas.openxmlformats.org/drawingml/2006/main"><a:ext uri="{FF2B5EF4-FFF2-40B4-BE49-F238E27FC236}"><a16:creationId id="{DEDF58CE-EA48-4C39-92EF-2CF7FC26DD58}"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08D6C096-054F-449A-8FA8-9E2961F0B4C4}"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00E567D0-D215-4AD7-9D36-8F970B6F540F}"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Fix the reusable rule or template.</a:t></a:r></a:p></p:txBody></p:sp><p:sp><p:nvSpPr><p:cNvPr id="29" name=""><a:extLst xmlns:a="http://schemas.openxmlformats.org/drawingml/2006/main"><a:ext uri="{FF2B5EF4-FFF2-40B4-BE49-F238E27FC236}"><a16:creationId id="{DF5831B5-12EC-461B-B166-7C3FE6DFA996}"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4CC55074-8696-4946-BF76-CD5DDE3AA2B6}"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03D890AA-7C53-46E9-949F-9D7675D3C0E5}"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Add a test so the same failure does not come back.</a:t></a:r></a:p></p:txBody></p:sp><p:sp><p:nvSpPr><p:cNvPr id="32" name=""><a:extLst xmlns:a="http://schemas.openxmlformats.org/drawingml/2006/main"><a:ext uri="{FF2B5EF4-FFF2-40B4-BE49-F238E27FC236}"><a16:creationId id="{03D44FCD-B5C8-4886-91CA-3FCE9CB70A32}"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9B84DA43-9D4D-48EA-8279-831063A8428F}"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5179776C-19D9-4F74-BB52-2B767775C6D7}"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failure_analysis</a:t></a:r></a:p></p:txBody></p:sp><p:sp><p:nvSpPr><p:cNvPr id="35" name=""><a:extLst xmlns:a="http://schemas.openxmlformats.org/drawingml/2006/main"><a:ext uri="{FF2B5EF4-FFF2-40B4-BE49-F238E27FC236}"><a16:creationId id="{EFBD3C93-1376-4303-A432-52196E46DBAE}"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ED300550-FBC4-4619-A050-C939E56A892A}"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7F6800FA-EC39-40F4-9E3A-DD635716F27D}"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Benchmark-guided debugging — fix weakest examples first.</a:t></a:r></a:p></p:txBody></p:sp><p:sp><p:nvSpPr><p:cNvPr id="38" name=""><a:extLst xmlns:a="http://schemas.openxmlformats.org/drawingml/2006/main"><a:ext uri="{FF2B5EF4-FFF2-40B4-BE49-F238E27FC236}"><a16:creationId id="{5F932128-5CBF-41BB-8624-A907309CC5F3}"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D279D770-7CE5-4380-A4C9-C9022219C31D}"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failure_analysis.py"><a:hlinkClick xmlns:a="http://schemas.openxmlformats.org/drawingml/2006/main" r:id="rIdModuleLink4" tooltip="Open /Users/tanqinyang/Desktop/dashsys-workshop-vldb/dashagent/failure_analysis.py"/><a:extLst xmlns:a="http://schemas.openxmlformats.org/drawingml/2006/main"><a:ext uri="{FF2B5EF4-FFF2-40B4-BE49-F238E27FC236}"><a16:creationId id="{A14D0FA4-1A93-4CF1-BA58-448BA9726761}"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failure_analysis.py</a:t></a:r></a:p></p:txBody></p:sp><p:sp><p:nvSpPr><p:cNvPr id="41" name="module-link-generate_failure_analysis.py"><a:hlinkClick xmlns:a="http://schemas.openxmlformats.org/drawingml/2006/main" r:id="rIdModuleLink5" tooltip="Open /Users/tanqinyang/Desktop/dashsys-workshop-vldb/scripts/generate_failure_analysis.py"/><a:extLst xmlns:a="http://schemas.openxmlformats.org/drawingml/2006/main"><a:ext uri="{FF2B5EF4-FFF2-40B4-BE49-F238E27FC236}"><a16:creationId id="{450CC672-5874-405B-A03B-21A4E0995C61}" xmlns:a16="http://schemas.microsoft.com/office/drawing/2014/main" /></a:ext></a:extLst></p:cNvPr><p:cNvSpPr><a:spLocks noGrp="1" xmlns:a="http://schemas.openxmlformats.org/drawingml/2006/main" /></p:cNvSpPr><p:nvPr /></p:nvSpPr><p:spPr><a:xfrm xmlns:a="http://schemas.openxmlformats.org/drawingml/2006/main"><a:off x="5810250" y="5895975"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555" b="1" u="sng"><a:solidFill><a:srgbClr val="1769AA" /></a:solidFill><a:latin typeface="Aptos" /><a:ea typeface="Aptos" /><a:cs typeface="Aptos" /></a:defRPr></a:pPr><a:r><a:rPr sz="555" b="1" u="sng"><a:solidFill><a:srgbClr val="1769AA" /></a:solidFill><a:latin typeface="Aptos" /><a:ea typeface="Aptos" /><a:cs typeface="Aptos" /></a:rPr><a:t>Open generate_failure_analysis.py</a:t></a:r></a:p></p:txBody></p:sp><p:sp><p:nvSpPr><p:cNvPr id="42" name=""><a:extLst xmlns:a="http://schemas.openxmlformats.org/drawingml/2006/main"><a:ext uri="{FF2B5EF4-FFF2-40B4-BE49-F238E27FC236}"><a16:creationId id="{3D79C50B-AF48-4801-9185-4D6BB6E52822}"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3" name=""><a:extLst xmlns:a="http://schemas.openxmlformats.org/drawingml/2006/main"><a:ext uri="{FF2B5EF4-FFF2-40B4-BE49-F238E27FC236}"><a16:creationId id="{9C697CA5-5C98-429F-879C-D3E09DCD1810}"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4" name=""><a:extLst xmlns:a="http://schemas.openxmlformats.org/drawingml/2006/main"><a:ext uri="{FF2B5EF4-FFF2-40B4-BE49-F238E27FC236}"><a16:creationId id="{D620A31B-01B0-4C96-809F-B2E2FA56C9DF}"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Shows which examples failed and what to fix next.</a:t></a:r></a:p></p:txBody></p:sp><p:sp><p:nvSpPr><p:cNvPr id="45" name=""><a:extLst xmlns:a="http://schemas.openxmlformats.org/drawingml/2006/main"><a:ext uri="{FF2B5EF4-FFF2-40B4-BE49-F238E27FC236}"><a16:creationId id="{8392D484-93CE-46A4-ACDF-47CBC0502CBB}"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07</a:t></a:r></a:p></p:txBody></p:sp></p:spTree><p:extLst><p:ext uri="{BB962C8B-B14F-4D97-AF65-F5344CB8AC3E}"><p14:creationId val="689621552" xmlns:p14="http://schemas.microsoft.com/office/powerpoint/2010/main" /></p:ext></p:extLst></p:cSld></p:sld>
</file>

<file path=ppt/slides/slide8.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AE17A797-87EE-4187-9934-22C47823928C}"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12A1073D-59A1-4868-8D7A-C0D70E367DC6}"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704A30FD-55A0-4182-929B-6FE149DDFD39}"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Structured generation: answer_templates</a:t></a:r></a:p></p:txBody></p:sp><p:sp><p:nvSpPr><p:cNvPr id="4" name=""><a:extLst xmlns:a="http://schemas.openxmlformats.org/drawingml/2006/main"><a:ext uri="{FF2B5EF4-FFF2-40B4-BE49-F238E27FC236}"><a16:creationId id="{949DA97D-02FF-4035-9560-4074A731C32B}"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6CB4B8FD-F4A3-456E-B2D9-F08D3E40BFFB}"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80BBDAA6-0E47-426B-8451-875966E951A3}"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669DA02D-CA90-4296-AB48-A4AE610A940F}"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5964F3C4-DB72-4BD3-8763-710903D87519}"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Answer templates make responses less vague by matching the answer format to the question.</a:t></a:r></a:p></p:txBody></p:sp><p:sp><p:nvSpPr><p:cNvPr id="9" name=""><a:extLst xmlns:a="http://schemas.openxmlformats.org/drawingml/2006/main"><a:ext uri="{FF2B5EF4-FFF2-40B4-BE49-F238E27FC236}"><a16:creationId id="{4DEE4E4C-76F4-4731-B127-F12002CF4C42}"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2DAD08CF-2057-40BA-9A47-8CBFA0729C0C}"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Structured generation — use the right answer format.</a:t></a:r></a:p></p:txBody></p:sp><p:sp><p:nvSpPr><p:cNvPr id="11" name=""><a:extLst xmlns:a="http://schemas.openxmlformats.org/drawingml/2006/main"><a:ext uri="{FF2B5EF4-FFF2-40B4-BE49-F238E27FC236}"><a16:creationId id="{B8A52051-30AD-4763-8065-AEAFB0F0F991}"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1B57B800-9273-405D-A33D-A1AD2EC02391}"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d3363309924646b2" xmlns:r="http://schemas.openxmlformats.org/officeDocument/2006/relationships" xmlns:a="http://schemas.openxmlformats.org/drawingml/2006/main" /><a:stretch xmlns:a="http://schemas.openxmlformats.org/drawingml/2006/main" /></p:blipFill><p:spPr><a:xfrm xmlns:a="http://schemas.openxmlformats.org/drawingml/2006/main"><a:off x="781050" y="2701115" /><a:ext cx="10629900" cy="1265270" /></a:xfrm><a:prstGeom prst="rect" xmlns:a="http://schemas.openxmlformats.org/drawingml/2006/main"><a:avLst /></a:prstGeom></p:spPr></p:pic><p:sp><p:nvSpPr><p:cNvPr id="14" name=""><a:extLst xmlns:a="http://schemas.openxmlformats.org/drawingml/2006/main"><a:ext uri="{FF2B5EF4-FFF2-40B4-BE49-F238E27FC236}"><a16:creationId id="{5E7D9B43-1B7C-4AE2-8D7D-462A793DC99A}"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96BAF890-6E6B-4A7C-BA11-9D4631403C53}"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9682DE43-87B4-4009-A428-30976E14BA80}"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274B43C8-8267-471F-B662-B984B68D55CB}"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083A172D-5920-4D40-9ED7-72C14F734989}"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C57F1380-1BA2-4169-9E8A-CD3FC0BC06F1}"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Collect SQL/API evidence.</a:t></a:r></a:p></p:txBody></p:sp><p:sp><p:nvSpPr><p:cNvPr id="20" name=""><a:extLst xmlns:a="http://schemas.openxmlformats.org/drawingml/2006/main"><a:ext uri="{FF2B5EF4-FFF2-40B4-BE49-F238E27FC236}"><a16:creationId id="{97D5112C-2876-482B-BEE1-1401407A7C5D}"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922CF987-C60C-46F2-808A-A1943326DDAC}"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E4048134-B016-438F-8C30-D41D2EED8EA8}"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Identify the answer type.</a:t></a:r></a:p></p:txBody></p:sp><p:sp><p:nvSpPr><p:cNvPr id="23" name=""><a:extLst xmlns:a="http://schemas.openxmlformats.org/drawingml/2006/main"><a:ext uri="{FF2B5EF4-FFF2-40B4-BE49-F238E27FC236}"><a16:creationId id="{14BC405B-9BA5-49F5-A36F-757EA0D3015A}"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623C91C2-E99D-434B-9EAF-71368AF1628C}"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E133FF05-4484-4513-888D-62375B054533}"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Choose the matching answer format.</a:t></a:r></a:p></p:txBody></p:sp><p:sp><p:nvSpPr><p:cNvPr id="26" name=""><a:extLst xmlns:a="http://schemas.openxmlformats.org/drawingml/2006/main"><a:ext uri="{FF2B5EF4-FFF2-40B4-BE49-F238E27FC236}"><a16:creationId id="{F28BAAFF-257B-43C4-9283-F1D33E9A74BB}"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7672C192-BBE1-4855-AE3C-B8747C043E43}"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39522F44-CC4E-42A5-808E-1E0724EAAA6E}"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Fill the answer with evidence.</a:t></a:r></a:p></p:txBody></p:sp><p:sp><p:nvSpPr><p:cNvPr id="29" name=""><a:extLst xmlns:a="http://schemas.openxmlformats.org/drawingml/2006/main"><a:ext uri="{FF2B5EF4-FFF2-40B4-BE49-F238E27FC236}"><a16:creationId id="{70AE7EF1-674C-4B34-9BE2-7D6039512F51}"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93F7277B-790B-46CC-B3BB-0D27068B0996}"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DD48A2D2-DDD3-4913-A200-F810E296148B}"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Return a concise response.</a:t></a:r></a:p></p:txBody></p:sp><p:sp><p:nvSpPr><p:cNvPr id="32" name=""><a:extLst xmlns:a="http://schemas.openxmlformats.org/drawingml/2006/main"><a:ext uri="{FF2B5EF4-FFF2-40B4-BE49-F238E27FC236}"><a16:creationId id="{E260D63B-5A3D-4305-A8C2-18C1F7853CDD}"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AA2953EF-F801-4631-BA83-63A665E7F9D6}"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2A8B1B58-B9B0-46A7-A90F-8CF46A3F62BE}"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answer_templates</a:t></a:r></a:p></p:txBody></p:sp><p:sp><p:nvSpPr><p:cNvPr id="35" name=""><a:extLst xmlns:a="http://schemas.openxmlformats.org/drawingml/2006/main"><a:ext uri="{FF2B5EF4-FFF2-40B4-BE49-F238E27FC236}"><a16:creationId id="{1B66FB87-1AE0-4E45-A90B-F037A3A8EEDF}"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F883910D-7FED-4D29-BB5F-2AA55E00D248}"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33416FE4-D064-48B2-B008-F5671AA173FF}"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Structured generation — use the right answer format.</a:t></a:r></a:p></p:txBody></p:sp><p:sp><p:nvSpPr><p:cNvPr id="38" name=""><a:extLst xmlns:a="http://schemas.openxmlformats.org/drawingml/2006/main"><a:ext uri="{FF2B5EF4-FFF2-40B4-BE49-F238E27FC236}"><a16:creationId id="{A03ADB9E-D95F-4E45-BCD7-FC4C41E331C2}"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88289677-6B5E-44FB-BF63-A91A37D4BAE2}"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answer_templates.py"><a:hlinkClick xmlns:a="http://schemas.openxmlformats.org/drawingml/2006/main" r:id="rIdModuleLink4" tooltip="Open /Users/tanqinyang/Desktop/dashsys-workshop-vldb/dashagent/answer_templates.py"/><a:extLst xmlns:a="http://schemas.openxmlformats.org/drawingml/2006/main"><a:ext uri="{FF2B5EF4-FFF2-40B4-BE49-F238E27FC236}"><a16:creationId id="{6BD1694D-E507-4FCA-BC08-D5E29ED8769F}"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answer_templates.py</a:t></a:r></a:p></p:txBody></p:sp><p:sp><p:nvSpPr><p:cNvPr id="41" name=""><a:extLst xmlns:a="http://schemas.openxmlformats.org/drawingml/2006/main"><a:ext uri="{FF2B5EF4-FFF2-40B4-BE49-F238E27FC236}"><a16:creationId id="{3D163951-4B70-40E4-A67A-9424ADC8BBB0}"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8DEA6DA4-267F-48CA-B8CF-39E743A1F77E}"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D276A1E9-E338-4B3C-B1E1-0ECAF03FB89E}"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Uses the right answer format for count, list, status, and detail questions.</a:t></a:r></a:p></p:txBody></p:sp><p:sp><p:nvSpPr><p:cNvPr id="44" name=""><a:extLst xmlns:a="http://schemas.openxmlformats.org/drawingml/2006/main"><a:ext uri="{FF2B5EF4-FFF2-40B4-BE49-F238E27FC236}"><a16:creationId id="{0AFA39A2-994E-47D8-8857-7E779C100EA1}"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08</a:t></a:r></a:p></p:txBody></p:sp></p:spTree><p:extLst><p:ext uri="{BB962C8B-B14F-4D97-AF65-F5344CB8AC3E}"><p14:creationId val="1511860317" xmlns:p14="http://schemas.microsoft.com/office/powerpoint/2010/main" /></p:ext></p:extLst></p:cSld></p:sld>
</file>

<file path=ppt/slides/slide9.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04F01300-887C-46AA-A9E4-EFDA0547192C}"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E08AEAAE-511D-426B-9B7E-D1AA56E082E6}"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624C40D9-C77C-4835-AF08-49F45D950CBF}"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Conditional execution: evidence_policy</a:t></a:r></a:p></p:txBody></p:sp><p:sp><p:nvSpPr><p:cNvPr id="4" name=""><a:extLst xmlns:a="http://schemas.openxmlformats.org/drawingml/2006/main"><a:ext uri="{FF2B5EF4-FFF2-40B4-BE49-F238E27FC236}"><a16:creationId id="{76865A78-8E8B-47CC-97CE-1742FFBEE3F7}"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435DA4CC-4762-4E7B-9156-31AF39895328}"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BCA01D6A-C634-4CFD-A5C4-B4F15EA0F0B1}"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CFD3E9B9-23DD-4839-896F-58FD79877837}"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49D214A3-6883-4396-8ED3-B9E8EF437402}"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evidence_policy decides whether the system should call the API or whether SQL evidence is already enough.</a:t></a:r></a:p></p:txBody></p:sp><p:sp><p:nvSpPr><p:cNvPr id="9" name=""><a:extLst xmlns:a="http://schemas.openxmlformats.org/drawingml/2006/main"><a:ext uri="{FF2B5EF4-FFF2-40B4-BE49-F238E27FC236}"><a16:creationId id="{9B685276-4684-42C3-A3EF-1074F2A42B18}"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63F64970-106A-4E3E-942C-2A28D2FB6BCB}"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Conditional execution — decide if API is needed.</a:t></a:r></a:p></p:txBody></p:sp><p:sp><p:nvSpPr><p:cNvPr id="11" name=""><a:extLst xmlns:a="http://schemas.openxmlformats.org/drawingml/2006/main"><a:ext uri="{FF2B5EF4-FFF2-40B4-BE49-F238E27FC236}"><a16:creationId id="{8F4F9142-E2C3-4FE6-B9D3-89AD78B4E634}"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B9A82A9D-2654-4D14-B07A-195B012AA62B}"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79467e32509e4c2e" xmlns:r="http://schemas.openxmlformats.org/officeDocument/2006/relationships" xmlns:a="http://schemas.openxmlformats.org/drawingml/2006/main" /><a:stretch xmlns:a="http://schemas.openxmlformats.org/drawingml/2006/main" /></p:blipFill><p:spPr><a:xfrm xmlns:a="http://schemas.openxmlformats.org/drawingml/2006/main"><a:off x="4676527" y="2286000" /><a:ext cx="2838947" cy="2095500" /></a:xfrm><a:prstGeom prst="rect" xmlns:a="http://schemas.openxmlformats.org/drawingml/2006/main"><a:avLst /></a:prstGeom></p:spPr></p:pic><p:sp><p:nvSpPr><p:cNvPr id="14" name=""><a:extLst xmlns:a="http://schemas.openxmlformats.org/drawingml/2006/main"><a:ext uri="{FF2B5EF4-FFF2-40B4-BE49-F238E27FC236}"><a16:creationId id="{64999380-F2B5-4E7F-B1FD-422BF722836C}"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92CA0B3D-5617-4AE4-91FA-C0D6617E17A9}"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9F0DC402-55A4-4FE5-9EA0-5235BF6134CE}"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B20B821B-C255-4B07-B023-3525744A9DB5}"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D7FEC4BE-B3E1-4878-A40B-50B1FF2B7D86}"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777BAF27-312D-47D2-984D-C6F76035BE71}"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Check the query type.</a:t></a:r></a:p></p:txBody></p:sp><p:sp><p:nvSpPr><p:cNvPr id="20" name=""><a:extLst xmlns:a="http://schemas.openxmlformats.org/drawingml/2006/main"><a:ext uri="{FF2B5EF4-FFF2-40B4-BE49-F238E27FC236}"><a16:creationId id="{FAF20559-EF7A-408B-901D-DFBBF8A54185}"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1A7ED704-7CA8-4C26-8AD7-922321FA3847}"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06E74DCF-E585-4BA3-819C-9012DCD8D303}"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Decide API_REQUIRED, API_OPTIONAL, or API_SKIP.</a:t></a:r></a:p></p:txBody></p:sp><p:sp><p:nvSpPr><p:cNvPr id="23" name=""><a:extLst xmlns:a="http://schemas.openxmlformats.org/drawingml/2006/main"><a:ext uri="{FF2B5EF4-FFF2-40B4-BE49-F238E27FC236}"><a16:creationId id="{04968901-B86B-42D0-968B-C0DB91275FC3}"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8EB7DEB8-D9CD-4590-AC57-7AE360407D6A}"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58370F17-2663-4EF2-9CCC-4082BB0EE30F}"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Keep required API calls.</a:t></a:r></a:p></p:txBody></p:sp><p:sp><p:nvSpPr><p:cNvPr id="26" name=""><a:extLst xmlns:a="http://schemas.openxmlformats.org/drawingml/2006/main"><a:ext uri="{FF2B5EF4-FFF2-40B4-BE49-F238E27FC236}"><a16:creationId id="{4E1D6283-3952-4AF8-9D3B-8E5D0F863978}"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A7B252DE-4EB5-4848-80A5-BE293F290DB8}"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24ECB57E-423B-4F84-A59C-298B8236BA53}"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Limit optional API calls.</a:t></a:r></a:p></p:txBody></p:sp><p:sp><p:nvSpPr><p:cNvPr id="29" name=""><a:extLst xmlns:a="http://schemas.openxmlformats.org/drawingml/2006/main"><a:ext uri="{FF2B5EF4-FFF2-40B4-BE49-F238E27FC236}"><a16:creationId id="{568064DC-22BF-4292-97B5-FE7195C220F3}"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02B58E0E-F799-44C8-BEC6-2937D591577C}"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B4AE1DCC-B13A-4408-94A2-C159CD65DD14}"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Remove API calls that are not needed.</a:t></a:r></a:p></p:txBody></p:sp><p:sp><p:nvSpPr><p:cNvPr id="32" name=""><a:extLst xmlns:a="http://schemas.openxmlformats.org/drawingml/2006/main"><a:ext uri="{FF2B5EF4-FFF2-40B4-BE49-F238E27FC236}"><a16:creationId id="{5AC1E3CB-02E7-4F77-BB09-563FB752C06E}"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5CA0AB14-5454-424F-8870-A37A447A9C83}"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2DDC8A37-3D24-43D3-8FAC-DEFF84DBC3A0}"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evidence_policy</a:t></a:r></a:p></p:txBody></p:sp><p:sp><p:nvSpPr><p:cNvPr id="35" name=""><a:extLst xmlns:a="http://schemas.openxmlformats.org/drawingml/2006/main"><a:ext uri="{FF2B5EF4-FFF2-40B4-BE49-F238E27FC236}"><a16:creationId id="{CC18B99F-43DE-45E6-829B-13BDE0E74196}"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082BB2D7-C3A0-4FB7-91C6-D223DF331496}"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9E91B53A-891F-45C7-9EF0-E48C071FE4ED}"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Conditional execution — decide if API is needed.</a:t></a:r></a:p></p:txBody></p:sp><p:sp><p:nvSpPr><p:cNvPr id="38" name=""><a:extLst xmlns:a="http://schemas.openxmlformats.org/drawingml/2006/main"><a:ext uri="{FF2B5EF4-FFF2-40B4-BE49-F238E27FC236}"><a16:creationId id="{A0260F6E-296E-4F61-892A-EBEDE64BE129}"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365B39CB-198A-4809-B384-017F12852431}"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evidence_policy.py"><a:hlinkClick xmlns:a="http://schemas.openxmlformats.org/drawingml/2006/main" r:id="rIdModuleLink4" tooltip="Open /Users/tanqinyang/Desktop/dashsys-workshop-vldb/dashagent/evidence_policy.py"/><a:extLst xmlns:a="http://schemas.openxmlformats.org/drawingml/2006/main"><a:ext uri="{FF2B5EF4-FFF2-40B4-BE49-F238E27FC236}"><a16:creationId id="{DC5FCF24-D376-4A2E-82BE-925327E57948}"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evidence_policy.py</a:t></a:r></a:p></p:txBody></p:sp><p:sp><p:nvSpPr><p:cNvPr id="41" name=""><a:extLst xmlns:a="http://schemas.openxmlformats.org/drawingml/2006/main"><a:ext uri="{FF2B5EF4-FFF2-40B4-BE49-F238E27FC236}"><a16:creationId id="{F9262E53-BA9D-4513-89F7-0FA03C1A04A3}"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97951268-AFC5-487C-92EA-0042AF3A37B4}"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59FCC36F-115B-45EB-9002-38BC650C2B65}"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Decides whether an API call is needed or can be skipped.</a:t></a:r></a:p></p:txBody></p:sp><p:sp><p:nvSpPr><p:cNvPr id="44" name=""><a:extLst xmlns:a="http://schemas.openxmlformats.org/drawingml/2006/main"><a:ext uri="{FF2B5EF4-FFF2-40B4-BE49-F238E27FC236}"><a16:creationId id="{6EAB9FE7-27D8-470A-A29F-0744E3F4C033}"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09</a:t></a:r></a:p></p:txBody></p:sp></p:spTree><p:extLst><p:ext uri="{BB962C8B-B14F-4D97-AF65-F5344CB8AC3E}"><p14:creationId val="525499096" xmlns:p14="http://schemas.microsoft.com/office/powerpoint/2010/main" /></p:ext></p:extLst></p:cSld></p:sld>
</file>

<file path=ppt/slides/slide10.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C6509F38-D3CF-4424-ACE7-E78DE5983B19}"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D0B6FC83-5076-40E0-A3FC-075B350CB179}"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B2F5AB21-148B-4E93-B262-47458AEA74E7}"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Resource scheduling: call_budget</a:t></a:r></a:p></p:txBody></p:sp><p:sp><p:nvSpPr><p:cNvPr id="4" name=""><a:extLst xmlns:a="http://schemas.openxmlformats.org/drawingml/2006/main"><a:ext uri="{FF2B5EF4-FFF2-40B4-BE49-F238E27FC236}"><a16:creationId id="{402DCC4F-100C-4033-A14C-DF721C91B1D0}"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BA17B978-F040-407C-B46A-660BFE082B23}"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87B369D3-807F-4544-B029-E2D98497707D}"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12477EA4-B268-43B7-9C07-230D74756ABB}"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63A2CE96-1C89-4B5E-91DC-4674CAAF4758}"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call_budget is a spending limit for tool calls, so the agent cannot keep calling SQL/API tools unnecessarily.</a:t></a:r></a:p></p:txBody></p:sp><p:sp><p:nvSpPr><p:cNvPr id="9" name=""><a:extLst xmlns:a="http://schemas.openxmlformats.org/drawingml/2006/main"><a:ext uri="{FF2B5EF4-FFF2-40B4-BE49-F238E27FC236}"><a16:creationId id="{C8A9EDD9-3B3C-4F21-B4AE-D6B94A50B621}"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B6C14BB0-99B3-4FA7-B573-BCA28E4BBC0D}"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Tool-call budget — limit SQL/API spending.</a:t></a:r></a:p></p:txBody></p:sp><p:sp><p:nvSpPr><p:cNvPr id="11" name=""><a:extLst xmlns:a="http://schemas.openxmlformats.org/drawingml/2006/main"><a:ext uri="{FF2B5EF4-FFF2-40B4-BE49-F238E27FC236}"><a16:creationId id="{183D5EE4-0344-4CA0-B026-347D1EB870BB}"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CA951737-9D5D-4977-8608-8C1234646974}"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2be55f49f86e436b" xmlns:r="http://schemas.openxmlformats.org/officeDocument/2006/relationships" xmlns:a="http://schemas.openxmlformats.org/drawingml/2006/main" /><a:stretch xmlns:a="http://schemas.openxmlformats.org/drawingml/2006/main" /></p:blipFill><p:spPr><a:xfrm xmlns:a="http://schemas.openxmlformats.org/drawingml/2006/main"><a:off x="2798821" y="2286000" /><a:ext cx="6594357" cy="2095500" /></a:xfrm><a:prstGeom prst="rect" xmlns:a="http://schemas.openxmlformats.org/drawingml/2006/main"><a:avLst /></a:prstGeom></p:spPr></p:pic><p:sp><p:nvSpPr><p:cNvPr id="14" name=""><a:extLst xmlns:a="http://schemas.openxmlformats.org/drawingml/2006/main"><a:ext uri="{FF2B5EF4-FFF2-40B4-BE49-F238E27FC236}"><a16:creationId id="{A69037CE-C73F-4F46-9953-2CEDF70688F4}"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7D58CD51-5BD0-470F-AE01-920149244B3F}"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235DE19C-579F-4D94-902C-E8876DFB4772}"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E0477A5E-B5F8-4A0F-9726-28FA1AB359E1}"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F612CB1D-964E-43B0-A220-D65682F11127}"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179525B9-B082-4CCF-B955-EC278C78CE25}"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Look at the draft plan.</a:t></a:r></a:p></p:txBody></p:sp><p:sp><p:nvSpPr><p:cNvPr id="20" name=""><a:extLst xmlns:a="http://schemas.openxmlformats.org/drawingml/2006/main"><a:ext uri="{FF2B5EF4-FFF2-40B4-BE49-F238E27FC236}"><a16:creationId id="{C0D9C544-4C5D-4BED-8C78-5216B34C033C}"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60DBD91C-3F93-4C7F-8E65-C8A387172174}"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52A40D19-C290-4B43-8994-66C6CE520910}"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Count SQL and API calls.</a:t></a:r></a:p></p:txBody></p:sp><p:sp><p:nvSpPr><p:cNvPr id="23" name=""><a:extLst xmlns:a="http://schemas.openxmlformats.org/drawingml/2006/main"><a:ext uri="{FF2B5EF4-FFF2-40B4-BE49-F238E27FC236}"><a16:creationId id="{98956B72-EDFE-4CFE-A845-51ABC0C93DE4}"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B3A584E2-B553-4B7C-90AC-6007A195B918}"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C9E163FA-B322-4FD5-96E8-63D135F0AAB2}"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Apply the tool-call limit.</a:t></a:r></a:p></p:txBody></p:sp><p:sp><p:nvSpPr><p:cNvPr id="26" name=""><a:extLst xmlns:a="http://schemas.openxmlformats.org/drawingml/2006/main"><a:ext uri="{FF2B5EF4-FFF2-40B4-BE49-F238E27FC236}"><a16:creationId id="{DCD8CA8E-6D01-434E-A57D-8588AD1CDDB0}"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0F5A6B3E-CA8C-4108-85DD-95A443071D90}"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427DF223-52A6-4D53-A097-4FFF1635B0E7}"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Remove optional extra calls.</a:t></a:r></a:p></p:txBody></p:sp><p:sp><p:nvSpPr><p:cNvPr id="29" name=""><a:extLst xmlns:a="http://schemas.openxmlformats.org/drawingml/2006/main"><a:ext uri="{FF2B5EF4-FFF2-40B4-BE49-F238E27FC236}"><a16:creationId id="{F0ECF594-0E73-4876-A778-5364711068F6}"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D22E6463-7B3D-414F-83A9-15DB992B49B4}"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2F04965A-F346-4214-A81B-EBA9A2B0EE2D}"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Send a bounded plan forward.</a:t></a:r></a:p></p:txBody></p:sp><p:sp><p:nvSpPr><p:cNvPr id="32" name=""><a:extLst xmlns:a="http://schemas.openxmlformats.org/drawingml/2006/main"><a:ext uri="{FF2B5EF4-FFF2-40B4-BE49-F238E27FC236}"><a16:creationId id="{B9684393-0523-45EF-8732-9341B1AE231C}"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CB35B721-E777-4F8A-A166-70B44401D5FF}"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5F0170BC-D401-4B42-8A0F-2D63504A20F0}"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call_budget</a:t></a:r></a:p></p:txBody></p:sp><p:sp><p:nvSpPr><p:cNvPr id="35" name=""><a:extLst xmlns:a="http://schemas.openxmlformats.org/drawingml/2006/main"><a:ext uri="{FF2B5EF4-FFF2-40B4-BE49-F238E27FC236}"><a16:creationId id="{6840818C-C37C-42B3-BB76-01CDD5C880F3}"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4D553364-541A-4C00-BA5F-F0B1381D85A4}"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1E636AAA-6C40-44BA-973A-0AA4A0028315}"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Tool-call budget — limit SQL/API spending.</a:t></a:r></a:p></p:txBody></p:sp><p:sp><p:nvSpPr><p:cNvPr id="38" name=""><a:extLst xmlns:a="http://schemas.openxmlformats.org/drawingml/2006/main"><a:ext uri="{FF2B5EF4-FFF2-40B4-BE49-F238E27FC236}"><a16:creationId id="{06CD605A-A25C-4FE8-8B87-7D1736D5B529}"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8AE2DE77-0EDE-4E7E-8D8B-F8251FC4D07F}"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call_budget.py"><a:hlinkClick xmlns:a="http://schemas.openxmlformats.org/drawingml/2006/main" r:id="rIdModuleLink4" tooltip="Open /Users/tanqinyang/Desktop/dashsys-workshop-vldb/dashagent/call_budget.py"/><a:extLst xmlns:a="http://schemas.openxmlformats.org/drawingml/2006/main"><a:ext uri="{FF2B5EF4-FFF2-40B4-BE49-F238E27FC236}"><a16:creationId id="{A41D06F6-76ED-49D0-A461-9EC57E7F1FFC}"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call_budget.py</a:t></a:r></a:p></p:txBody></p:sp><p:sp><p:nvSpPr><p:cNvPr id="41" name=""><a:extLst xmlns:a="http://schemas.openxmlformats.org/drawingml/2006/main"><a:ext uri="{FF2B5EF4-FFF2-40B4-BE49-F238E27FC236}"><a16:creationId id="{C719B44D-4490-4E51-AF3A-15D1B524A54A}"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79CC04D6-BD85-4033-B3E3-49A59765E1D4}"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E447CCCC-6CC9-4F3F-B00C-922AF27F38C7}"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Limits how many SQL/API calls the system can make.</a:t></a:r></a:p></p:txBody></p:sp><p:sp><p:nvSpPr><p:cNvPr id="44" name=""><a:extLst xmlns:a="http://schemas.openxmlformats.org/drawingml/2006/main"><a:ext uri="{FF2B5EF4-FFF2-40B4-BE49-F238E27FC236}"><a16:creationId id="{BF93E61A-5F1F-4518-BDB3-4DE54A9D43AF}"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10</a:t></a:r></a:p></p:txBody></p:sp></p:spTree><p:extLst><p:ext uri="{BB962C8B-B14F-4D97-AF65-F5344CB8AC3E}"><p14:creationId val="1880714601" xmlns:p14="http://schemas.microsoft.com/office/powerpoint/2010/main" /></p:ext></p:extLst></p:cSld></p:sld>
</file>

<file path=ppt/slides/slide11.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7AFF5182-2923-4611-AA6A-55B7905A8397}"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59C61C11-A90E-4D7D-837E-912A13E47002}"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C8D0E3C6-1428-48AA-9776-51A7AB9DA983}"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Operand forwarding: EvidenceBus</a:t></a:r></a:p></p:txBody></p:sp><p:sp><p:nvSpPr><p:cNvPr id="4" name=""><a:extLst xmlns:a="http://schemas.openxmlformats.org/drawingml/2006/main"><a:ext uri="{FF2B5EF4-FFF2-40B4-BE49-F238E27FC236}"><a16:creationId id="{11B06D91-6DEE-413C-BAD0-BF635096EE3A}"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E5C51C5F-2650-4D7F-9343-B8B1F8FABBF5}"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FC801B53-7084-4461-9ED2-93D95F0DF908}"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90892EA6-2D40-428F-A284-D52EC9BC4C25}"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4EADFBCE-AD19-4AD1-AC40-F83E05AFEA45}"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EvidenceBus passes exact results, such as IDs and counts, directly to later steps.</a:t></a:r></a:p></p:txBody></p:sp><p:sp><p:nvSpPr><p:cNvPr id="9" name=""><a:extLst xmlns:a="http://schemas.openxmlformats.org/drawingml/2006/main"><a:ext uri="{FF2B5EF4-FFF2-40B4-BE49-F238E27FC236}"><a16:creationId id="{F702CB81-85DF-4581-A563-B640CB61D612}"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4ACF46B7-3B65-4CC4-AD54-1CA72EFD2295}"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Operand forwarding — pass exact results forward.</a:t></a:r></a:p></p:txBody></p:sp><p:sp><p:nvSpPr><p:cNvPr id="11" name=""><a:extLst xmlns:a="http://schemas.openxmlformats.org/drawingml/2006/main"><a:ext uri="{FF2B5EF4-FFF2-40B4-BE49-F238E27FC236}"><a16:creationId id="{0F659DB4-1ED0-47A1-A4FC-897B60D84EE3}"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6DE0ADEE-8D04-4F47-A9B9-FD19F8EFE0C4}"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704c6cd43e2e4731" xmlns:r="http://schemas.openxmlformats.org/officeDocument/2006/relationships" xmlns:a="http://schemas.openxmlformats.org/drawingml/2006/main" /><a:stretch xmlns:a="http://schemas.openxmlformats.org/drawingml/2006/main" /></p:blipFill><p:spPr><a:xfrm xmlns:a="http://schemas.openxmlformats.org/drawingml/2006/main"><a:off x="1801198" y="2286000" /><a:ext cx="8589604" cy="2095500" /></a:xfrm><a:prstGeom prst="rect" xmlns:a="http://schemas.openxmlformats.org/drawingml/2006/main"><a:avLst /></a:prstGeom></p:spPr></p:pic><p:sp><p:nvSpPr><p:cNvPr id="14" name=""><a:extLst xmlns:a="http://schemas.openxmlformats.org/drawingml/2006/main"><a:ext uri="{FF2B5EF4-FFF2-40B4-BE49-F238E27FC236}"><a16:creationId id="{3D9F660C-D7A4-4E6D-8EA7-8E030C63ABB3}"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C1700949-78F9-46DA-BD6E-B3BA5B0E1436}"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8E80D251-3318-4DA3-B64B-340E062A4A27}"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648735B6-FD66-4A80-9479-4C3C36E82D25}"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6EA6EF01-6116-4EEE-BB4D-8822F3AF7B77}"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DAADA284-4072-4F43-BD6D-78C0DA178629}"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Read SQL/API results.</a:t></a:r></a:p></p:txBody></p:sp><p:sp><p:nvSpPr><p:cNvPr id="20" name=""><a:extLst xmlns:a="http://schemas.openxmlformats.org/drawingml/2006/main"><a:ext uri="{FF2B5EF4-FFF2-40B4-BE49-F238E27FC236}"><a16:creationId id="{F883C712-A924-406E-9E39-42EEF64B5425}"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F63C47CF-6DF4-4521-915F-5025C89EC87B}"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543F44C4-46A9-4B67-886E-8DE2ADA53710}"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Extract names, IDs, counts, dates, and statuses.</a:t></a:r></a:p></p:txBody></p:sp><p:sp><p:nvSpPr><p:cNvPr id="23" name=""><a:extLst xmlns:a="http://schemas.openxmlformats.org/drawingml/2006/main"><a:ext uri="{FF2B5EF4-FFF2-40B4-BE49-F238E27FC236}"><a16:creationId id="{828A0511-0FE2-4B53-96F8-15B07D753E4C}"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C0E47ED0-8B82-437A-A28F-A4D94B3FE352}"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151E4550-F0D3-435B-9E06-782EB7331A0D}"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Store them as structured facts.</a:t></a:r></a:p></p:txBody></p:sp><p:sp><p:nvSpPr><p:cNvPr id="26" name=""><a:extLst xmlns:a="http://schemas.openxmlformats.org/drawingml/2006/main"><a:ext uri="{FF2B5EF4-FFF2-40B4-BE49-F238E27FC236}"><a16:creationId id="{06E3679B-0BDF-4520-852F-032FA195E956}"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EAA592A2-FB54-4A28-AB0A-585705FFDAE3}"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3B8BC1D3-5503-43AA-B7E6-E7EC26CBAC4B}"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Pass them to API templates or answer slots.</a:t></a:r></a:p></p:txBody></p:sp><p:sp><p:nvSpPr><p:cNvPr id="29" name=""><a:extLst xmlns:a="http://schemas.openxmlformats.org/drawingml/2006/main"><a:ext uri="{FF2B5EF4-FFF2-40B4-BE49-F238E27FC236}"><a16:creationId id="{FD400A64-2494-4438-BA7C-5CF539388BCD}"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B46B1901-FD6D-4198-BEB3-AC26A2E37A65}"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09CDC6FA-CFB8-4C80-8AEE-4A777CD74EE9}"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Avoid re-reading messy text.</a:t></a:r></a:p></p:txBody></p:sp><p:sp><p:nvSpPr><p:cNvPr id="32" name=""><a:extLst xmlns:a="http://schemas.openxmlformats.org/drawingml/2006/main"><a:ext uri="{FF2B5EF4-FFF2-40B4-BE49-F238E27FC236}"><a16:creationId id="{55529F1B-DFE2-4822-9835-9CAD51161AF1}"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3C7426CA-4A2E-4A7B-9BD9-682BE43A95E2}"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EDEC788B-34EA-4142-86AF-7210DF85EE0C}"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EvidenceBus</a:t></a:r></a:p></p:txBody></p:sp><p:sp><p:nvSpPr><p:cNvPr id="35" name=""><a:extLst xmlns:a="http://schemas.openxmlformats.org/drawingml/2006/main"><a:ext uri="{FF2B5EF4-FFF2-40B4-BE49-F238E27FC236}"><a16:creationId id="{F9CA77CE-3BE3-48D7-92D1-D7682F31213E}"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025E13D4-DCAA-4EBF-9F1F-CF64B31A51F2}"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8684020C-FD5F-4680-9D67-807CDD341A71}"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Operand forwarding — pass exact results forward.</a:t></a:r></a:p></p:txBody></p:sp><p:sp><p:nvSpPr><p:cNvPr id="38" name=""><a:extLst xmlns:a="http://schemas.openxmlformats.org/drawingml/2006/main"><a:ext uri="{FF2B5EF4-FFF2-40B4-BE49-F238E27FC236}"><a16:creationId id="{07DFED1B-98C6-40D6-A212-B54752880950}"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B8550B61-A99F-40F3-801C-894555587862}"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evidence_bus.py"><a:hlinkClick xmlns:a="http://schemas.openxmlformats.org/drawingml/2006/main" r:id="rIdModuleLink4" tooltip="Open /Users/tanqinyang/Desktop/dashsys-workshop-vldb/dashagent/evidence_bus.py"/><a:extLst xmlns:a="http://schemas.openxmlformats.org/drawingml/2006/main"><a:ext uri="{FF2B5EF4-FFF2-40B4-BE49-F238E27FC236}"><a16:creationId id="{8318FB50-64E1-4621-8DD6-33C55E30DC76}"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evidence_bus.py</a:t></a:r></a:p></p:txBody></p:sp><p:sp><p:nvSpPr><p:cNvPr id="41" name="module-link-executor.py"><a:hlinkClick xmlns:a="http://schemas.openxmlformats.org/drawingml/2006/main" r:id="rIdModuleLink5" tooltip="Open /Users/tanqinyang/Desktop/dashsys-workshop-vldb/dashagent/executor.py"/><a:extLst xmlns:a="http://schemas.openxmlformats.org/drawingml/2006/main"><a:ext uri="{FF2B5EF4-FFF2-40B4-BE49-F238E27FC236}"><a16:creationId id="{AED788FE-35EB-4A5C-B3A1-CE30B92F3B3D}" xmlns:a16="http://schemas.microsoft.com/office/drawing/2014/main" /></a:ext></a:extLst></p:cNvPr><p:cNvSpPr><a:spLocks noGrp="1" xmlns:a="http://schemas.openxmlformats.org/drawingml/2006/main" /></p:cNvSpPr><p:nvPr /></p:nvSpPr><p:spPr><a:xfrm xmlns:a="http://schemas.openxmlformats.org/drawingml/2006/main"><a:off x="5810250" y="5895975"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executor.py</a:t></a:r></a:p></p:txBody></p:sp><p:sp><p:nvSpPr><p:cNvPr id="42" name=""><a:extLst xmlns:a="http://schemas.openxmlformats.org/drawingml/2006/main"><a:ext uri="{FF2B5EF4-FFF2-40B4-BE49-F238E27FC236}"><a16:creationId id="{5D89C28E-6583-4A1D-BEC0-9C965C2ED73C}"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3" name=""><a:extLst xmlns:a="http://schemas.openxmlformats.org/drawingml/2006/main"><a:ext uri="{FF2B5EF4-FFF2-40B4-BE49-F238E27FC236}"><a16:creationId id="{FAAFC6FB-19CC-46DB-B395-C6759FBCF0EC}"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4" name=""><a:extLst xmlns:a="http://schemas.openxmlformats.org/drawingml/2006/main"><a:ext uri="{FF2B5EF4-FFF2-40B4-BE49-F238E27FC236}"><a16:creationId id="{6FD8A845-AD0B-463A-8BDD-759219BF1A22}"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Carries useful facts from SQL/API results to later steps.</a:t></a:r></a:p></p:txBody></p:sp><p:sp><p:nvSpPr><p:cNvPr id="45" name=""><a:extLst xmlns:a="http://schemas.openxmlformats.org/drawingml/2006/main"><a:ext uri="{FF2B5EF4-FFF2-40B4-BE49-F238E27FC236}"><a16:creationId id="{56B84F82-2416-4FD9-A5C5-44AF430A1EB5}"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11</a:t></a:r></a:p></p:txBody></p:sp></p:spTree><p:extLst><p:ext uri="{BB962C8B-B14F-4D97-AF65-F5344CB8AC3E}"><p14:creationId val="2035479339" xmlns:p14="http://schemas.microsoft.com/office/powerpoint/2010/main" /></p:ext></p:extLst></p:cSld></p:sld>
</file>

<file path=ppt/slides/slide12.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DE9221E2-886C-49C9-B3CD-5DFE27D0F3C7}"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CD466EF1-97DA-4949-9EF6-4A59F7D1E13C}"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69CD6FC2-1FD3-4DC5-94B1-D0CE0EA6D45C}"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Shared decode: QueryAnalysis</a:t></a:r></a:p></p:txBody></p:sp><p:sp><p:nvSpPr><p:cNvPr id="4" name=""><a:extLst xmlns:a="http://schemas.openxmlformats.org/drawingml/2006/main"><a:ext uri="{FF2B5EF4-FFF2-40B4-BE49-F238E27FC236}"><a16:creationId id="{32365CFD-3D88-474F-B56B-538CCA919FA8}"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B30FAF15-2D05-415B-84F3-664F0DE3F6E9}"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468B82C9-ED45-4767-B5D9-E4D8A895BC18}"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CC5A9250-A5C2-43B6-A11B-BDB3660EBF38}"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67778852-CA38-4FA0-9E27-A64B0B2ADAA6}"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QueryAnalysis is the first serious understanding step: it decides what kind of question this is.</a:t></a:r></a:p></p:txBody></p:sp><p:sp><p:nvSpPr><p:cNvPr id="9" name=""><a:extLst xmlns:a="http://schemas.openxmlformats.org/drawingml/2006/main"><a:ext uri="{FF2B5EF4-FFF2-40B4-BE49-F238E27FC236}"><a16:creationId id="{92AD8E06-6318-46EC-8022-38E3C467F671}"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7542AA62-2FD8-4FB4-BFE5-9C5313C8BE11}"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Shared query understanding — decide once and reuse.</a:t></a:r></a:p></p:txBody></p:sp><p:sp><p:nvSpPr><p:cNvPr id="11" name=""><a:extLst xmlns:a="http://schemas.openxmlformats.org/drawingml/2006/main"><a:ext uri="{FF2B5EF4-FFF2-40B4-BE49-F238E27FC236}"><a16:creationId id="{50736F0D-D0B3-4DD7-8D62-A29A1667FC41}"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7C7A3BBD-1445-4C12-A551-02E050C1CF34}"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8afef477e972449c" xmlns:r="http://schemas.openxmlformats.org/officeDocument/2006/relationships" xmlns:a="http://schemas.openxmlformats.org/drawingml/2006/main" /><a:stretch xmlns:a="http://schemas.openxmlformats.org/drawingml/2006/main" /></p:blipFill><p:spPr><a:xfrm xmlns:a="http://schemas.openxmlformats.org/drawingml/2006/main"><a:off x="781050" y="2581997" /><a:ext cx="10629900" cy="1503506" /></a:xfrm><a:prstGeom prst="rect" xmlns:a="http://schemas.openxmlformats.org/drawingml/2006/main"><a:avLst /></a:prstGeom></p:spPr></p:pic><p:sp><p:nvSpPr><p:cNvPr id="14" name=""><a:extLst xmlns:a="http://schemas.openxmlformats.org/drawingml/2006/main"><a:ext uri="{FF2B5EF4-FFF2-40B4-BE49-F238E27FC236}"><a16:creationId id="{D297258D-4D12-4728-9791-4EA9B23ED35D}"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074F266F-661E-4B43-B0E7-149F0E796C79}"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2A0D70EF-FA43-4D6D-BF32-D1F646CBC202}"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84D865A4-9B3A-408C-97C9-BB73FC1C64F1}"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D7A3800C-A52B-4EB5-B8CB-23D15D268E8D}"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B0A328BB-D16D-4326-B47A-5BA418C4F622}"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Read the cleaned query and extracted tokens.</a:t></a:r></a:p></p:txBody></p:sp><p:sp><p:nvSpPr><p:cNvPr id="20" name=""><a:extLst xmlns:a="http://schemas.openxmlformats.org/drawingml/2006/main"><a:ext uri="{FF2B5EF4-FFF2-40B4-BE49-F238E27FC236}"><a16:creationId id="{B7B6D286-38A0-48D1-B85B-302873EF35A0}"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962A8365-4F57-4B78-843F-B14F22EEBE09}"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BAE1F58E-3481-466A-A2B2-3B8EBC6D7A50}"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Decide the domain and route type.</a:t></a:r></a:p></p:txBody></p:sp><p:sp><p:nvSpPr><p:cNvPr id="23" name=""><a:extLst xmlns:a="http://schemas.openxmlformats.org/drawingml/2006/main"><a:ext uri="{FF2B5EF4-FFF2-40B4-BE49-F238E27FC236}"><a16:creationId id="{DDEA7CE7-184C-4B02-85C6-C5BD80D3D413}"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01BA9498-8EE5-4EC0-A15E-A3F41BD2D2D2}"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F1379920-1F4F-441D-9507-26CCC229F5DA}"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Pick likely SQL/API templates.</a:t></a:r></a:p></p:txBody></p:sp><p:sp><p:nvSpPr><p:cNvPr id="26" name=""><a:extLst xmlns:a="http://schemas.openxmlformats.org/drawingml/2006/main"><a:ext uri="{FF2B5EF4-FFF2-40B4-BE49-F238E27FC236}"><a16:creationId id="{B491D0E1-0EB8-4CD1-9082-12341BC2D5AE}"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E39EA84D-908E-4960-AA35-09EE22EDA695}"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39B7C1DA-C8ED-4A1B-BD1C-AA3F324CA4C5}"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Estimate confidence.</a:t></a:r></a:p></p:txBody></p:sp><p:sp><p:nvSpPr><p:cNvPr id="29" name=""><a:extLst xmlns:a="http://schemas.openxmlformats.org/drawingml/2006/main"><a:ext uri="{FF2B5EF4-FFF2-40B4-BE49-F238E27FC236}"><a16:creationId id="{FA335D7B-DCD9-4A52-97D6-47C8F385FE81}"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A8AA31C2-DA44-44FC-AB4D-65FA25ECD9B0}"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7705D305-937A-4933-968D-9A674E9ECCCF}"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Share this analysis with planning and reporting.</a:t></a:r></a:p></p:txBody></p:sp><p:sp><p:nvSpPr><p:cNvPr id="32" name=""><a:extLst xmlns:a="http://schemas.openxmlformats.org/drawingml/2006/main"><a:ext uri="{FF2B5EF4-FFF2-40B4-BE49-F238E27FC236}"><a16:creationId id="{C79FB582-A893-4629-A7A5-8BD0DD10F66D}"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36DAA8C3-9806-4593-A12B-D35256084D13}"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A237D382-5086-424B-B842-95FFC4908078}"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QueryAnalysis</a:t></a:r></a:p></p:txBody></p:sp><p:sp><p:nvSpPr><p:cNvPr id="35" name=""><a:extLst xmlns:a="http://schemas.openxmlformats.org/drawingml/2006/main"><a:ext uri="{FF2B5EF4-FFF2-40B4-BE49-F238E27FC236}"><a16:creationId id="{032F8FB8-052C-49D6-B33F-9E0BB01EF3C8}"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10662B8E-D517-46B8-BA40-37BE9AEAA904}"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8B725C25-15D4-42A9-9313-B0EE48CC3680}"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Shared query understanding — decide once and reuse.</a:t></a:r></a:p></p:txBody></p:sp><p:sp><p:nvSpPr><p:cNvPr id="38" name=""><a:extLst xmlns:a="http://schemas.openxmlformats.org/drawingml/2006/main"><a:ext uri="{FF2B5EF4-FFF2-40B4-BE49-F238E27FC236}"><a16:creationId id="{4ADD5884-10DE-4992-BFA7-81C43403A41F}"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C54C221A-C0DF-4913-842F-044B3A530D2A}"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query_analysis.py"><a:hlinkClick xmlns:a="http://schemas.openxmlformats.org/drawingml/2006/main" r:id="rIdModuleLink4" tooltip="Open /Users/tanqinyang/Desktop/dashsys-workshop-vldb/dashagent/query_analysis.py"/><a:extLst xmlns:a="http://schemas.openxmlformats.org/drawingml/2006/main"><a:ext uri="{FF2B5EF4-FFF2-40B4-BE49-F238E27FC236}"><a16:creationId id="{7A8F34A0-56E6-4F21-964E-75B564135FD8}"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query_analysis.py</a:t></a:r></a:p></p:txBody></p:sp><p:sp><p:nvSpPr><p:cNvPr id="41" name=""><a:extLst xmlns:a="http://schemas.openxmlformats.org/drawingml/2006/main"><a:ext uri="{FF2B5EF4-FFF2-40B4-BE49-F238E27FC236}"><a16:creationId id="{BCAA47C7-BAD8-4A06-9E26-0B24EA141A8E}"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1A1F611C-4F0A-46DA-A577-7D5E9FDC2BC1}"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DC87B295-DEBA-46D1-949D-A01A53222CE8}"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Understands the question once and shares that decision.</a:t></a:r></a:p></p:txBody></p:sp><p:sp><p:nvSpPr><p:cNvPr id="44" name=""><a:extLst xmlns:a="http://schemas.openxmlformats.org/drawingml/2006/main"><a:ext uri="{FF2B5EF4-FFF2-40B4-BE49-F238E27FC236}"><a16:creationId id="{9E9B6EA5-4BF2-46C9-826C-2034373E3BC8}"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12</a:t></a:r></a:p></p:txBody></p:sp></p:spTree><p:extLst><p:ext uri="{BB962C8B-B14F-4D97-AF65-F5344CB8AC3E}"><p14:creationId val="1345811890" xmlns:p14="http://schemas.microsoft.com/office/powerpoint/2010/main" /></p:ext></p:extLst></p:cSld></p:sld>
</file>

<file path=ppt/slides/slide13.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7F4941A9-FA20-4284-990E-A0F61F18163F}"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6EB5F385-17CE-4C91-8BE8-26C981B98C8D}"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F664B445-4FBD-4778-B267-D1E91131950A}"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Lookup-path prediction: LookupPathPredictor</a:t></a:r></a:p></p:txBody></p:sp><p:sp><p:nvSpPr><p:cNvPr id="4" name=""><a:extLst xmlns:a="http://schemas.openxmlformats.org/drawingml/2006/main"><a:ext uri="{FF2B5EF4-FFF2-40B4-BE49-F238E27FC236}"><a16:creationId id="{BB75620E-3A84-4815-ACEA-A622D88B48C1}"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0D20081E-F0A2-4859-B376-DAEF163D8BF1}"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698979AB-B86B-430B-B61F-3F472012B56A}"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F8CB3CFA-9744-492B-9AB7-33A8399E32CB}"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1A2020A5-17A7-4373-933A-F2A86CB8E4EA}"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LookupPathPredictor is a map for the database and API, especially for relationship questions.</a:t></a:r></a:p></p:txBody></p:sp><p:sp><p:nvSpPr><p:cNvPr id="9" name=""><a:extLst xmlns:a="http://schemas.openxmlformats.org/drawingml/2006/main"><a:ext uri="{FF2B5EF4-FFF2-40B4-BE49-F238E27FC236}"><a16:creationId id="{217416BA-7EE3-4DCC-8667-CD8E6F56C8D7}"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C38E47B7-F8E7-4A36-91CA-13EE87B33249}"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Lookup-path prediction — like using a map for tables/APIs.</a:t></a:r></a:p></p:txBody></p:sp><p:sp><p:nvSpPr><p:cNvPr id="11" name=""><a:extLst xmlns:a="http://schemas.openxmlformats.org/drawingml/2006/main"><a:ext uri="{FF2B5EF4-FFF2-40B4-BE49-F238E27FC236}"><a16:creationId id="{E441017D-762E-4CF4-8DB6-2EB962D4D880}"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5B5E6CF4-5EE7-4987-B459-C927AF8F5C73}"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7a924f874c904344" xmlns:r="http://schemas.openxmlformats.org/officeDocument/2006/relationships" xmlns:a="http://schemas.openxmlformats.org/drawingml/2006/main" /><a:stretch xmlns:a="http://schemas.openxmlformats.org/drawingml/2006/main" /></p:blipFill><p:spPr><a:xfrm xmlns:a="http://schemas.openxmlformats.org/drawingml/2006/main"><a:off x="1308682" y="2286000" /><a:ext cx="9574635" cy="2095500" /></a:xfrm><a:prstGeom prst="rect" xmlns:a="http://schemas.openxmlformats.org/drawingml/2006/main"><a:avLst /></a:prstGeom></p:spPr></p:pic><p:sp><p:nvSpPr><p:cNvPr id="14" name=""><a:extLst xmlns:a="http://schemas.openxmlformats.org/drawingml/2006/main"><a:ext uri="{FF2B5EF4-FFF2-40B4-BE49-F238E27FC236}"><a16:creationId id="{9513CCF7-338D-4871-B290-2D65BC408364}"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2345C634-6E25-445A-BA77-89DF3781724C}"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A00284B1-8480-44AF-98F7-DAC8DCC68C5C}"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808CFE25-8EC0-4373-BDFA-C8037A41EE55}"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1F89BB18-38FB-4323-9CFE-E86A277A8266}"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5A7682C2-B279-47B4-943B-65B68CE78E8D}"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Identify the query family.</a:t></a:r></a:p></p:txBody></p:sp><p:sp><p:nvSpPr><p:cNvPr id="20" name=""><a:extLst xmlns:a="http://schemas.openxmlformats.org/drawingml/2006/main"><a:ext uri="{FF2B5EF4-FFF2-40B4-BE49-F238E27FC236}"><a16:creationId id="{C91E0513-AC02-45DF-993C-F8373E1E8975}"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ACC266FE-820B-4865-A8BE-6CEE8B8D6AA7}"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8538CDC7-D58E-46C9-B449-EB49C36FBE4E}"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Pick the matching lookup path.</a:t></a:r></a:p></p:txBody></p:sp><p:sp><p:nvSpPr><p:cNvPr id="23" name=""><a:extLst xmlns:a="http://schemas.openxmlformats.org/drawingml/2006/main"><a:ext uri="{FF2B5EF4-FFF2-40B4-BE49-F238E27FC236}"><a16:creationId id="{39B88ECE-E25D-4EBD-A517-7849CB199F85}"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6C8440BC-6D73-4BA5-87B8-8C849C70E9EF}"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1922E3CE-2E2D-48B9-A194-B992B6CEC009}"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List needed tables, joins, APIs, and IDs.</a:t></a:r></a:p></p:txBody></p:sp><p:sp><p:nvSpPr><p:cNvPr id="26" name=""><a:extLst xmlns:a="http://schemas.openxmlformats.org/drawingml/2006/main"><a:ext uri="{FF2B5EF4-FFF2-40B4-BE49-F238E27FC236}"><a16:creationId id="{811C9EC8-9029-4968-89B4-4C798A93C13C}"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EB5C8AE2-8A3D-438D-BCC0-D9DBFC945FA5}"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C492FFAF-1E07-4103-B3F3-A523DE3DF46D}"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Guide metadata selection.</a:t></a:r></a:p></p:txBody></p:sp><p:sp><p:nvSpPr><p:cNvPr id="29" name=""><a:extLst xmlns:a="http://schemas.openxmlformats.org/drawingml/2006/main"><a:ext uri="{FF2B5EF4-FFF2-40B4-BE49-F238E27FC236}"><a16:creationId id="{B4F03440-6E6A-4F50-9B32-D0F4299FA3D1}"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1CB05E3C-5C90-444B-AC08-22EE6BB8E879}"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EF9D60D6-5008-400F-A674-291937584CCB}"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Avoid unrelated tables and endpoints.</a:t></a:r></a:p></p:txBody></p:sp><p:sp><p:nvSpPr><p:cNvPr id="32" name=""><a:extLst xmlns:a="http://schemas.openxmlformats.org/drawingml/2006/main"><a:ext uri="{FF2B5EF4-FFF2-40B4-BE49-F238E27FC236}"><a16:creationId id="{38B8DF5E-D975-48CF-AD68-4197514F0400}"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D0A26EC1-5B5B-4C24-A0BC-30A6C021C028}"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E8A975D4-0795-4653-9E56-6B9FFE69D784}"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LookupPathPredictor</a:t></a:r></a:p></p:txBody></p:sp><p:sp><p:nvSpPr><p:cNvPr id="35" name=""><a:extLst xmlns:a="http://schemas.openxmlformats.org/drawingml/2006/main"><a:ext uri="{FF2B5EF4-FFF2-40B4-BE49-F238E27FC236}"><a16:creationId id="{A4430A44-4219-4D91-BBD8-63C8F35AFFA2}"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CD240296-23CA-44AB-90A2-BD5E33AF3FC7}"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D468952D-5685-40D6-823F-0522A261101E}"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Lookup-path prediction — like using a map for tables/APIs.</a:t></a:r></a:p></p:txBody></p:sp><p:sp><p:nvSpPr><p:cNvPr id="38" name=""><a:extLst xmlns:a="http://schemas.openxmlformats.org/drawingml/2006/main"><a:ext uri="{FF2B5EF4-FFF2-40B4-BE49-F238E27FC236}"><a16:creationId id="{71575985-7C44-4FEF-97A3-5D6A8F5ECF16}"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85AE08BB-DD9C-43FC-BB13-EC05A0294886}"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lookup_paths.py"><a:hlinkClick xmlns:a="http://schemas.openxmlformats.org/drawingml/2006/main" r:id="rIdModuleLink4" tooltip="Open /Users/tanqinyang/Desktop/dashsys-workshop-vldb/dashagent/lookup_paths.py"/><a:extLst xmlns:a="http://schemas.openxmlformats.org/drawingml/2006/main"><a:ext uri="{FF2B5EF4-FFF2-40B4-BE49-F238E27FC236}"><a16:creationId id="{25D08C58-5FDE-4D60-BAB2-98F931AED0A1}"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lookup_paths.py</a:t></a:r></a:p></p:txBody></p:sp><p:sp><p:nvSpPr><p:cNvPr id="41" name=""><a:extLst xmlns:a="http://schemas.openxmlformats.org/drawingml/2006/main"><a:ext uri="{FF2B5EF4-FFF2-40B4-BE49-F238E27FC236}"><a16:creationId id="{6878CEFA-BFC7-494F-9898-2DE463C5DE00}"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E822214A-2CDD-446F-811C-F1CEF536ABE3}"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CFA44D0C-AC2D-4F8B-A23D-5E176E4CE297}"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Acts like a map for finding the right tables and APIs.</a:t></a:r></a:p></p:txBody></p:sp><p:sp><p:nvSpPr><p:cNvPr id="44" name=""><a:extLst xmlns:a="http://schemas.openxmlformats.org/drawingml/2006/main"><a:ext uri="{FF2B5EF4-FFF2-40B4-BE49-F238E27FC236}"><a16:creationId id="{63838692-C1C7-4BE5-9B51-3CAFA2CD3542}"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13</a:t></a:r></a:p></p:txBody></p:sp></p:spTree><p:extLst><p:ext uri="{BB962C8B-B14F-4D97-AF65-F5344CB8AC3E}"><p14:creationId val="1538584292" xmlns:p14="http://schemas.microsoft.com/office/powerpoint/2010/main" /></p:ext></p:extLst></p:cSld></p:sld>
</file>

<file path=ppt/slides/slide14.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34400774-A809-4D4C-9CC1-159F97E551CC}"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8690C3EE-6977-442B-92F9-B7F7D15C6F7D}"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7363AB33-2A11-4E58-ADFC-552BFA8A5A2A}"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Compiler optimization: PlanOptimizer</a:t></a:r></a:p></p:txBody></p:sp><p:sp><p:nvSpPr><p:cNvPr id="4" name=""><a:extLst xmlns:a="http://schemas.openxmlformats.org/drawingml/2006/main"><a:ext uri="{FF2B5EF4-FFF2-40B4-BE49-F238E27FC236}"><a16:creationId id="{F343740F-77C2-4E12-AAC8-C491D9E60EA9}"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13FE8DF2-2FB5-42EA-A5A2-BA2213F81119}"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FAEF8249-0237-4004-B07B-74E6893E4DED}"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37E83F94-8A26-40AB-9064-582D3BCD3312}"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A313F082-B302-4D11-A58D-F6213C95A2FB}"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PlanOptimizer cleans the to-do list before execution.</a:t></a:r></a:p></p:txBody></p:sp><p:sp><p:nvSpPr><p:cNvPr id="9" name=""><a:extLst xmlns:a="http://schemas.openxmlformats.org/drawingml/2006/main"><a:ext uri="{FF2B5EF4-FFF2-40B4-BE49-F238E27FC236}"><a16:creationId id="{752A46E0-949B-4DDA-8563-6090F6785D53}"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59045C59-90E4-49AF-B322-81973E142A1B}"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Plan cleanup — remove duplicate or unsafe calls.</a:t></a:r></a:p></p:txBody></p:sp><p:sp><p:nvSpPr><p:cNvPr id="11" name=""><a:extLst xmlns:a="http://schemas.openxmlformats.org/drawingml/2006/main"><a:ext uri="{FF2B5EF4-FFF2-40B4-BE49-F238E27FC236}"><a16:creationId id="{67981C0C-CF62-496F-8974-59C4A45B171C}"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B7396F00-432E-4312-9CE3-675495701647}"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afe6fd96b978469d" xmlns:r="http://schemas.openxmlformats.org/officeDocument/2006/relationships" xmlns:a="http://schemas.openxmlformats.org/drawingml/2006/main" /><a:stretch xmlns:a="http://schemas.openxmlformats.org/drawingml/2006/main" /></p:blipFill><p:spPr><a:xfrm xmlns:a="http://schemas.openxmlformats.org/drawingml/2006/main"><a:off x="781050" y="2691494" /><a:ext cx="10629900" cy="1284513" /></a:xfrm><a:prstGeom prst="rect" xmlns:a="http://schemas.openxmlformats.org/drawingml/2006/main"><a:avLst /></a:prstGeom></p:spPr></p:pic><p:sp><p:nvSpPr><p:cNvPr id="14" name=""><a:extLst xmlns:a="http://schemas.openxmlformats.org/drawingml/2006/main"><a:ext uri="{FF2B5EF4-FFF2-40B4-BE49-F238E27FC236}"><a16:creationId id="{66197AD9-DA8B-4F71-958F-D36C5570D592}"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27BD03BB-2E58-48FC-BBCE-48C2292AAE1B}"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AE9C8851-16FB-4B1D-9C53-1A1891639073}"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91E03B42-75E4-4C1E-B778-9B4CF219E7CD}"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99363064-4C4D-41EC-B337-4930B4047D3F}"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A6E87A1D-7BDD-4975-BF31-704E162FA5C5}"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Receive the draft plan.</a:t></a:r></a:p></p:txBody></p:sp><p:sp><p:nvSpPr><p:cNvPr id="20" name=""><a:extLst xmlns:a="http://schemas.openxmlformats.org/drawingml/2006/main"><a:ext uri="{FF2B5EF4-FFF2-40B4-BE49-F238E27FC236}"><a16:creationId id="{699F210E-7A64-432B-9C66-4A69033B769A}"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F6BE5087-B4D0-486A-AB2B-A9F70C642E8F}"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3CDF9E43-625D-494F-B47F-77EB3C6E6515}"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Remove duplicate calls.</a:t></a:r></a:p></p:txBody></p:sp><p:sp><p:nvSpPr><p:cNvPr id="23" name=""><a:extLst xmlns:a="http://schemas.openxmlformats.org/drawingml/2006/main"><a:ext uri="{FF2B5EF4-FFF2-40B4-BE49-F238E27FC236}"><a16:creationId id="{B64C2888-D9E6-4811-96B4-E0C7D911A404}"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7C429D29-3B97-48E9-B04C-953562A8C6A8}"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8F8A8F66-1B89-471A-BDD3-A44855FF3106}"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Remove API calls marked as skippable.</a:t></a:r></a:p></p:txBody></p:sp><p:sp><p:nvSpPr><p:cNvPr id="26" name=""><a:extLst xmlns:a="http://schemas.openxmlformats.org/drawingml/2006/main"><a:ext uri="{FF2B5EF4-FFF2-40B4-BE49-F238E27FC236}"><a16:creationId id="{AB9F8D71-C2A9-49D4-9104-D3087F463139}"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F6798D7D-21C5-4EBF-BC25-44812EA083A8}"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60F6D6C3-5E8F-4F74-B997-B1C2D7087500}"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Drop unresolved placeholders.</a:t></a:r></a:p></p:txBody></p:sp><p:sp><p:nvSpPr><p:cNvPr id="29" name=""><a:extLst xmlns:a="http://schemas.openxmlformats.org/drawingml/2006/main"><a:ext uri="{FF2B5EF4-FFF2-40B4-BE49-F238E27FC236}"><a16:creationId id="{169D2E5A-0C29-4283-9C78-F49616655094}"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754E19DB-1062-474B-B5FA-A766E4403A09}"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591B7658-28B5-4BB1-A87D-F98BA492A06A}"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Enforce the call budget.</a:t></a:r></a:p></p:txBody></p:sp><p:sp><p:nvSpPr><p:cNvPr id="32" name=""><a:extLst xmlns:a="http://schemas.openxmlformats.org/drawingml/2006/main"><a:ext uri="{FF2B5EF4-FFF2-40B4-BE49-F238E27FC236}"><a16:creationId id="{D4EA79D8-0348-4D30-8BDB-A4C9898B0816}" xmlns:a16="http://schemas.microsoft.com/office/drawing/2014/main" /></a:ext></a:extLst></p:cNvPr><p:cNvSpPr><a:spLocks noGrp="1" xmlns:a="http://schemas.openxmlformats.org/drawingml/2006/main" /></p:cNvSpPr><p:nvPr /></p:nvSpPr><p:spPr><a:xfrm xmlns:a="http://schemas.openxmlformats.org/drawingml/2006/main"><a:off x="7994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3" name=""><a:extLst xmlns:a="http://schemas.openxmlformats.org/drawingml/2006/main"><a:ext uri="{FF2B5EF4-FFF2-40B4-BE49-F238E27FC236}"><a16:creationId id="{3723E5A7-428D-436F-ADC0-91DDCBC61139}" xmlns:a16="http://schemas.microsoft.com/office/drawing/2014/main" /></a:ext></a:extLst></p:cNvPr><p:cNvSpPr><a:spLocks noGrp="1" xmlns:a="http://schemas.openxmlformats.org/drawingml/2006/main" /></p:cNvSpPr><p:nvPr /></p:nvSpPr><p:spPr><a:xfrm xmlns:a="http://schemas.openxmlformats.org/drawingml/2006/main"><a:off x="7994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6</a:t></a:r></a:p></p:txBody></p:sp><p:sp><p:nvSpPr><p:cNvPr id="34" name=""><a:extLst xmlns:a="http://schemas.openxmlformats.org/drawingml/2006/main"><a:ext uri="{FF2B5EF4-FFF2-40B4-BE49-F238E27FC236}"><a16:creationId id="{1C5C1907-8D92-4E5C-8877-43FB7DE6803E}" xmlns:a16="http://schemas.microsoft.com/office/drawing/2014/main" /></a:ext></a:extLst></p:cNvPr><p:cNvSpPr><a:spLocks noGrp="1" xmlns:a="http://schemas.openxmlformats.org/drawingml/2006/main" /></p:cNvSpPr><p:nvPr /></p:nvSpPr><p:spPr><a:xfrm xmlns:a="http://schemas.openxmlformats.org/drawingml/2006/main"><a:off x="8261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Output the cleaned plan.</a:t></a:r></a:p></p:txBody></p:sp><p:sp><p:nvSpPr><p:cNvPr id="35" name=""><a:extLst xmlns:a="http://schemas.openxmlformats.org/drawingml/2006/main"><a:ext uri="{FF2B5EF4-FFF2-40B4-BE49-F238E27FC236}"><a16:creationId id="{A98A8DBE-0B6B-4E39-BEE4-D5F73F1FFE05}"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FC7154BA-1302-4F1B-902E-09925495CFE3}"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7" name=""><a:extLst xmlns:a="http://schemas.openxmlformats.org/drawingml/2006/main"><a:ext uri="{FF2B5EF4-FFF2-40B4-BE49-F238E27FC236}"><a16:creationId id="{C6433095-9D0D-42D8-9150-B6D6A21C5A62}"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PlanOptimizer</a:t></a:r></a:p></p:txBody></p:sp><p:sp><p:nvSpPr><p:cNvPr id="38" name=""><a:extLst xmlns:a="http://schemas.openxmlformats.org/drawingml/2006/main"><a:ext uri="{FF2B5EF4-FFF2-40B4-BE49-F238E27FC236}"><a16:creationId id="{04138A7F-3ACD-4D56-82D1-5C05BC6DB84D}"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0C89B1C0-3C63-4815-AAE3-8E1AF3F465F3}"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40" name=""><a:extLst xmlns:a="http://schemas.openxmlformats.org/drawingml/2006/main"><a:ext uri="{FF2B5EF4-FFF2-40B4-BE49-F238E27FC236}"><a16:creationId id="{C72D7C08-5DA1-464B-958B-81E87BD8612A}"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Plan cleanup — remove duplicate or unsafe calls.</a:t></a:r></a:p></p:txBody></p:sp><p:sp><p:nvSpPr><p:cNvPr id="41" name=""><a:extLst xmlns:a="http://schemas.openxmlformats.org/drawingml/2006/main"><a:ext uri="{FF2B5EF4-FFF2-40B4-BE49-F238E27FC236}"><a16:creationId id="{6DC24AF2-CBFC-4636-AD2F-B91919D67771}"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C26ADD0E-E698-4F72-A05D-7966FDC1922F}"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3" name="module-link-plan_optimizer.py"><a:hlinkClick xmlns:a="http://schemas.openxmlformats.org/drawingml/2006/main" r:id="rIdModuleLink4" tooltip="Open /Users/tanqinyang/Desktop/dashsys-workshop-vldb/dashagent/plan_optimizer.py"/><a:extLst xmlns:a="http://schemas.openxmlformats.org/drawingml/2006/main"><a:ext uri="{FF2B5EF4-FFF2-40B4-BE49-F238E27FC236}"><a16:creationId id="{8AB0BA6B-E400-487E-8B83-8B6F50937C37}"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plan_optimizer.py</a:t></a:r></a:p></p:txBody></p:sp><p:sp><p:nvSpPr><p:cNvPr id="44" name=""><a:extLst xmlns:a="http://schemas.openxmlformats.org/drawingml/2006/main"><a:ext uri="{FF2B5EF4-FFF2-40B4-BE49-F238E27FC236}"><a16:creationId id="{0FC8BCBB-E4B2-4FAC-BFCA-19E64685BCB8}"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5" name=""><a:extLst xmlns:a="http://schemas.openxmlformats.org/drawingml/2006/main"><a:ext uri="{FF2B5EF4-FFF2-40B4-BE49-F238E27FC236}"><a16:creationId id="{AB41E168-5EFD-4160-AE35-0AA249394B26}"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6" name=""><a:extLst xmlns:a="http://schemas.openxmlformats.org/drawingml/2006/main"><a:ext uri="{FF2B5EF4-FFF2-40B4-BE49-F238E27FC236}"><a16:creationId id="{013CCE63-E1E8-4CBD-A3F2-87F58BED9F8D}"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Cleans the plan before running it.</a:t></a:r></a:p></p:txBody></p:sp><p:sp><p:nvSpPr><p:cNvPr id="47" name=""><a:extLst xmlns:a="http://schemas.openxmlformats.org/drawingml/2006/main"><a:ext uri="{FF2B5EF4-FFF2-40B4-BE49-F238E27FC236}"><a16:creationId id="{AC8AC5CE-3C42-4368-8EAB-B8CC751E6799}"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14</a:t></a:r></a:p></p:txBody></p:sp></p:spTree><p:extLst><p:ext uri="{BB962C8B-B14F-4D97-AF65-F5344CB8AC3E}"><p14:creationId val="1676112080" xmlns:p14="http://schemas.microsoft.com/office/powerpoint/2010/main" /></p:ext></p:extLst></p:cSld></p:sld>
</file>

<file path=ppt/slides/slide15.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B8355C61-5480-4D3F-AD69-A3855713833F}"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B08B0092-59A5-489C-8488-8DC4A993EC3B}"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CE9C45AE-1F54-4305-98F8-221EEB9F5142}"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Multi-level caching: cache.py</a:t></a:r></a:p></p:txBody></p:sp><p:sp><p:nvSpPr><p:cNvPr id="4" name=""><a:extLst xmlns:a="http://schemas.openxmlformats.org/drawingml/2006/main"><a:ext uri="{FF2B5EF4-FFF2-40B4-BE49-F238E27FC236}"><a16:creationId id="{DDF32CD1-73F6-484C-926A-4BD9F7820595}"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816C533D-3454-4CA4-8EC7-0A18C36381BF}"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D430697A-FA78-43CF-B59E-2861A67CB42A}"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DC4EBB24-2D54-4D4B-929F-21A234FDD8B7}"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ACCB11DD-908A-4A72-B483-87596DF87910}"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cache.py saves schema and API information the system already learned.</a:t></a:r></a:p></p:txBody></p:sp><p:sp><p:nvSpPr><p:cNvPr id="9" name=""><a:extLst xmlns:a="http://schemas.openxmlformats.org/drawingml/2006/main"><a:ext uri="{FF2B5EF4-FFF2-40B4-BE49-F238E27FC236}"><a16:creationId id="{6564D58F-F071-4C15-987F-9DC7768C42E0}"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0B5506A1-E53D-4264-AE3F-EE40F8508D88}"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Multi-level cache — reuse saved schema/API notes.</a:t></a:r></a:p></p:txBody></p:sp><p:sp><p:nvSpPr><p:cNvPr id="11" name=""><a:extLst xmlns:a="http://schemas.openxmlformats.org/drawingml/2006/main"><a:ext uri="{FF2B5EF4-FFF2-40B4-BE49-F238E27FC236}"><a16:creationId id="{D4FED7C8-1309-4C5C-9044-FEF38B41B530}"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BD888A3F-170B-4A6E-A4B6-68B75732CEF9}"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d6ceeb9fff6d4c3e" xmlns:r="http://schemas.openxmlformats.org/officeDocument/2006/relationships" xmlns:a="http://schemas.openxmlformats.org/drawingml/2006/main" /><a:stretch xmlns:a="http://schemas.openxmlformats.org/drawingml/2006/main" /></p:blipFill><p:spPr><a:xfrm xmlns:a="http://schemas.openxmlformats.org/drawingml/2006/main"><a:off x="781050" y="2619930" /><a:ext cx="10629900" cy="1427640" /></a:xfrm><a:prstGeom prst="rect" xmlns:a="http://schemas.openxmlformats.org/drawingml/2006/main"><a:avLst /></a:prstGeom></p:spPr></p:pic><p:sp><p:nvSpPr><p:cNvPr id="14" name=""><a:extLst xmlns:a="http://schemas.openxmlformats.org/drawingml/2006/main"><a:ext uri="{FF2B5EF4-FFF2-40B4-BE49-F238E27FC236}"><a16:creationId id="{D6CDC4D0-8264-4F8B-BA0E-3C07FA1745CB}"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13EAF559-D6A8-4C05-9610-E1E673AC84A1}"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B082973A-1D36-4059-A33B-04A98E6B31C2}"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C8A695E3-2C5E-4ECB-8407-F138E69C1490}"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F87F185B-E92A-4D77-B336-45F4604B15B4}"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E1B640C1-059A-46A7-BF69-71DCDFB483D6}"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Check memory cache.</a:t></a:r></a:p></p:txBody></p:sp><p:sp><p:nvSpPr><p:cNvPr id="20" name=""><a:extLst xmlns:a="http://schemas.openxmlformats.org/drawingml/2006/main"><a:ext uri="{FF2B5EF4-FFF2-40B4-BE49-F238E27FC236}"><a16:creationId id="{893FF483-D1A1-4B68-8890-34CDCF8C8578}"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7DAC42E7-6A93-48D4-A28E-D8AFC71F1C8B}"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41F0DB47-41BE-4D4B-8344-06110A2011CF}"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Check disk cache.</a:t></a:r></a:p></p:txBody></p:sp><p:sp><p:nvSpPr><p:cNvPr id="23" name=""><a:extLst xmlns:a="http://schemas.openxmlformats.org/drawingml/2006/main"><a:ext uri="{FF2B5EF4-FFF2-40B4-BE49-F238E27FC236}"><a16:creationId id="{C8DEF545-B0F6-48C1-9E8C-25B41179295D}"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883123B9-BC69-493A-8D41-36CE869BF354}"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E273977C-F19B-4861-B920-E07C89CED6A4}"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Reuse fresh schema/API artifacts.</a:t></a:r></a:p></p:txBody></p:sp><p:sp><p:nvSpPr><p:cNvPr id="26" name=""><a:extLst xmlns:a="http://schemas.openxmlformats.org/drawingml/2006/main"><a:ext uri="{FF2B5EF4-FFF2-40B4-BE49-F238E27FC236}"><a16:creationId id="{9F6B4E10-67DB-4518-A2F7-208CF8AE7E8F}"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B5E290F7-6824-47DB-B91F-97B45282F5DF}"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9D86D72B-0AC1-4868-9D4B-664777380E3E}"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Rebuild only if stale.</a:t></a:r></a:p></p:txBody></p:sp><p:sp><p:nvSpPr><p:cNvPr id="29" name=""><a:extLst xmlns:a="http://schemas.openxmlformats.org/drawingml/2006/main"><a:ext uri="{FF2B5EF4-FFF2-40B4-BE49-F238E27FC236}"><a16:creationId id="{82C69982-DC6B-4BED-B0F6-833417036BB8}"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F5E90D06-F1EE-4481-A86E-28E7B3FB1A2B}"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03B05637-6CE7-49A4-9B4D-66B2890DDB01}"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Save time during query processing.</a:t></a:r></a:p></p:txBody></p:sp><p:sp><p:nvSpPr><p:cNvPr id="32" name=""><a:extLst xmlns:a="http://schemas.openxmlformats.org/drawingml/2006/main"><a:ext uri="{FF2B5EF4-FFF2-40B4-BE49-F238E27FC236}"><a16:creationId id="{16A6ECFB-14E3-4CEE-AA10-0A1D4FA0C3AE}"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EE58AD02-CCDC-4DC6-9F29-1123D23756A4}"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4AF99EF0-043B-4B4A-9103-EAF3873D3810}"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cache.py</a:t></a:r></a:p></p:txBody></p:sp><p:sp><p:nvSpPr><p:cNvPr id="35" name=""><a:extLst xmlns:a="http://schemas.openxmlformats.org/drawingml/2006/main"><a:ext uri="{FF2B5EF4-FFF2-40B4-BE49-F238E27FC236}"><a16:creationId id="{F99A72F2-6173-4AC9-A9B7-CB1C9477FFC1}"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D7C54FBA-1AEC-40FF-831B-AAC5CBB83F9D}"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75C9EAB7-D3FD-4274-B07B-D8C3AE39913D}"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Multi-level cache — reuse saved schema/API notes.</a:t></a:r></a:p></p:txBody></p:sp><p:sp><p:nvSpPr><p:cNvPr id="38" name=""><a:extLst xmlns:a="http://schemas.openxmlformats.org/drawingml/2006/main"><a:ext uri="{FF2B5EF4-FFF2-40B4-BE49-F238E27FC236}"><a16:creationId id="{BBD89214-5D4D-49BD-BF06-E6C8FB3239B7}"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6D4EE937-DA7C-4404-B7FA-5AA9186F707A}"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cache.py"><a:hlinkClick xmlns:a="http://schemas.openxmlformats.org/drawingml/2006/main" r:id="rIdModuleLink4" tooltip="Open /Users/tanqinyang/Desktop/dashsys-workshop-vldb/dashagent/cache.py"/><a:extLst xmlns:a="http://schemas.openxmlformats.org/drawingml/2006/main"><a:ext uri="{FF2B5EF4-FFF2-40B4-BE49-F238E27FC236}"><a16:creationId id="{F83E30B1-9643-48BF-9A9E-C8909EBD8A07}"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cache.py</a:t></a:r></a:p></p:txBody></p:sp><p:sp><p:nvSpPr><p:cNvPr id="41" name=""><a:extLst xmlns:a="http://schemas.openxmlformats.org/drawingml/2006/main"><a:ext uri="{FF2B5EF4-FFF2-40B4-BE49-F238E27FC236}"><a16:creationId id="{74BF7709-2D03-42AC-AB4C-10792B591C4D}"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D1CFF87D-BC62-401A-A9CB-46001DD9F252}"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2A59F710-3E2E-479A-8200-F67380D6F936}"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Reuses saved schema/API information.</a:t></a:r></a:p></p:txBody></p:sp><p:sp><p:nvSpPr><p:cNvPr id="44" name=""><a:extLst xmlns:a="http://schemas.openxmlformats.org/drawingml/2006/main"><a:ext uri="{FF2B5EF4-FFF2-40B4-BE49-F238E27FC236}"><a16:creationId id="{2AF46C88-4BBD-4B07-B5FA-51106600F124}"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15</a:t></a:r></a:p></p:txBody></p:sp></p:spTree><p:extLst><p:ext uri="{BB962C8B-B14F-4D97-AF65-F5344CB8AC3E}"><p14:creationId val="2072510342" xmlns:p14="http://schemas.microsoft.com/office/powerpoint/2010/main" /></p:ext></p:extLst></p:cSld></p:sld>
</file>

<file path=ppt/slides/slide16.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EBDC64E4-C469-4C76-87EF-131955CCBB51}"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970FCCD6-EE25-4701-A846-3636031E0C9D}"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9D91783E-53E9-422B-BE13-2F5B7D02941D}"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Context packing: context_cards</a:t></a:r></a:p></p:txBody></p:sp><p:sp><p:nvSpPr><p:cNvPr id="4" name=""><a:extLst xmlns:a="http://schemas.openxmlformats.org/drawingml/2006/main"><a:ext uri="{FF2B5EF4-FFF2-40B4-BE49-F238E27FC236}"><a16:creationId id="{0D37F009-0837-4744-AA53-12058FAB2190}"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FECB7245-F13D-4011-B1E4-242EBA275134}"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CD23C984-2683-43F4-B7CE-C1BBB4BF7FBE}"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9DE98D7D-9716-4713-8657-93FCA5F78AB0}"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0A528571-3B64-423D-84D7-9C2CA1B8C2B0}"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context_cards give the system only the information needed for this question family.</a:t></a:r></a:p></p:txBody></p:sp><p:sp><p:nvSpPr><p:cNvPr id="9" name=""><a:extLst xmlns:a="http://schemas.openxmlformats.org/drawingml/2006/main"><a:ext uri="{FF2B5EF4-FFF2-40B4-BE49-F238E27FC236}"><a16:creationId id="{F9181D11-C9EE-483C-A7A1-5074B1C7B1B2}"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5DAD9956-B4A3-4291-97C0-21D7336670EA}"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Context packing — give only relevant context.</a:t></a:r></a:p></p:txBody></p:sp><p:sp><p:nvSpPr><p:cNvPr id="11" name=""><a:extLst xmlns:a="http://schemas.openxmlformats.org/drawingml/2006/main"><a:ext uri="{FF2B5EF4-FFF2-40B4-BE49-F238E27FC236}"><a16:creationId id="{ACE84D8C-736C-4C85-86E2-D440B6A58E8C}"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B7BA1C70-7218-4F47-8B57-247CA317CC22}"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2478548c87de4026" xmlns:r="http://schemas.openxmlformats.org/officeDocument/2006/relationships" xmlns:a="http://schemas.openxmlformats.org/drawingml/2006/main" /><a:stretch xmlns:a="http://schemas.openxmlformats.org/drawingml/2006/main" /></p:blipFill><p:spPr><a:xfrm xmlns:a="http://schemas.openxmlformats.org/drawingml/2006/main"><a:off x="781050" y="2289742" /><a:ext cx="10629900" cy="2088016" /></a:xfrm><a:prstGeom prst="rect" xmlns:a="http://schemas.openxmlformats.org/drawingml/2006/main"><a:avLst /></a:prstGeom></p:spPr></p:pic><p:sp><p:nvSpPr><p:cNvPr id="14" name=""><a:extLst xmlns:a="http://schemas.openxmlformats.org/drawingml/2006/main"><a:ext uri="{FF2B5EF4-FFF2-40B4-BE49-F238E27FC236}"><a16:creationId id="{D7CFA223-6E7B-4E9E-A5E5-61CCCBB492A4}"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098B269E-CCB1-4509-87D0-0BF33E414001}"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4383983B-D9AB-4223-9F97-2AE130EE2F68}"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7E522062-AFDF-42F0-B8FE-C68CE39FAABB}"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25BA281D-D0B6-4FFC-8230-17424AE90914}"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C8F6EA33-A326-432C-875E-A24C370CAF25}"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Identify the query family.</a:t></a:r></a:p></p:txBody></p:sp><p:sp><p:nvSpPr><p:cNvPr id="20" name=""><a:extLst xmlns:a="http://schemas.openxmlformats.org/drawingml/2006/main"><a:ext uri="{FF2B5EF4-FFF2-40B4-BE49-F238E27FC236}"><a16:creationId id="{0CB5F493-124A-46D4-8A01-F89056550E92}"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66BE2EBB-7E2B-41C8-AED8-CECEBDCB4288}"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DACD2387-63BE-47D0-B4A5-1923951B4353}"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Pick the matching context card.</a:t></a:r></a:p></p:txBody></p:sp><p:sp><p:nvSpPr><p:cNvPr id="23" name=""><a:extLst xmlns:a="http://schemas.openxmlformats.org/drawingml/2006/main"><a:ext uri="{FF2B5EF4-FFF2-40B4-BE49-F238E27FC236}"><a16:creationId id="{AE8BABE2-F520-4CB6-A2F2-1790E9BB26EE}"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C083421B-41DF-47C5-A54A-C08777F0FD08}"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C9ADA734-956A-402B-823A-08A37ED6D930}"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Include only relevant tables, columns, APIs, and rules.</a:t></a:r></a:p></p:txBody></p:sp><p:sp><p:nvSpPr><p:cNvPr id="26" name=""><a:extLst xmlns:a="http://schemas.openxmlformats.org/drawingml/2006/main"><a:ext uri="{FF2B5EF4-FFF2-40B4-BE49-F238E27FC236}"><a16:creationId id="{61D5574B-BA3F-46A2-B332-C6BD9BB141EA}"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E27184E0-F91B-45D2-8C9A-4425691D8150}"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0C92DDBF-CA47-4769-A1D5-36A75B755CC8}"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Build compact metadata.</a:t></a:r></a:p></p:txBody></p:sp><p:sp><p:nvSpPr><p:cNvPr id="29" name=""><a:extLst xmlns:a="http://schemas.openxmlformats.org/drawingml/2006/main"><a:ext uri="{FF2B5EF4-FFF2-40B4-BE49-F238E27FC236}"><a16:creationId id="{76C5EF54-15BF-4313-B19D-F71FE42DC170}"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6733D59A-2290-4FCC-B92D-D59730791A96}"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385FF89C-C261-456F-8603-18542EF5266C}"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Reduce prompt size.</a:t></a:r></a:p></p:txBody></p:sp><p:sp><p:nvSpPr><p:cNvPr id="32" name=""><a:extLst xmlns:a="http://schemas.openxmlformats.org/drawingml/2006/main"><a:ext uri="{FF2B5EF4-FFF2-40B4-BE49-F238E27FC236}"><a16:creationId id="{3757E80C-B5DD-443A-8AFE-1136014806AE}"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5E203D23-3B17-40D2-80BB-0F2333453E02}"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6E06E1EA-EE94-40DB-9E5E-2937073C9214}"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context_cards</a:t></a:r></a:p></p:txBody></p:sp><p:sp><p:nvSpPr><p:cNvPr id="35" name=""><a:extLst xmlns:a="http://schemas.openxmlformats.org/drawingml/2006/main"><a:ext uri="{FF2B5EF4-FFF2-40B4-BE49-F238E27FC236}"><a16:creationId id="{58FD3219-AC43-4E81-8D29-499AC8506CF5}"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4280850F-9ECF-4DA6-B758-41C847070C42}"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7F3CBE53-0236-4E20-8A55-FF2F2B20CD3B}"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Context packing — give only relevant context.</a:t></a:r></a:p></p:txBody></p:sp><p:sp><p:nvSpPr><p:cNvPr id="38" name=""><a:extLst xmlns:a="http://schemas.openxmlformats.org/drawingml/2006/main"><a:ext uri="{FF2B5EF4-FFF2-40B4-BE49-F238E27FC236}"><a16:creationId id="{24EC8926-5F08-47B8-9794-6D4B9CC9B910}"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81E2CF6E-6A23-4E5C-A96A-62547EF6F552}"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context_cards.py"><a:hlinkClick xmlns:a="http://schemas.openxmlformats.org/drawingml/2006/main" r:id="rIdModuleLink4" tooltip="Open /Users/tanqinyang/Desktop/dashsys-workshop-vldb/dashagent/context_cards.py"/><a:extLst xmlns:a="http://schemas.openxmlformats.org/drawingml/2006/main"><a:ext uri="{FF2B5EF4-FFF2-40B4-BE49-F238E27FC236}"><a16:creationId id="{12066B6F-E08A-43A6-8172-1563E6C6914F}"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context_cards.py</a:t></a:r></a:p></p:txBody></p:sp><p:sp><p:nvSpPr><p:cNvPr id="41" name="module-link-metadata_selector.py"><a:hlinkClick xmlns:a="http://schemas.openxmlformats.org/drawingml/2006/main" r:id="rIdModuleLink5" tooltip="Open /Users/tanqinyang/Desktop/dashsys-workshop-vldb/dashagent/metadata_selector.py"/><a:extLst xmlns:a="http://schemas.openxmlformats.org/drawingml/2006/main"><a:ext uri="{FF2B5EF4-FFF2-40B4-BE49-F238E27FC236}"><a16:creationId id="{2DAB05B5-902A-4EE0-B19C-6FC56458BF53}" xmlns:a16="http://schemas.microsoft.com/office/drawing/2014/main" /></a:ext></a:extLst></p:cNvPr><p:cNvSpPr><a:spLocks noGrp="1" xmlns:a="http://schemas.openxmlformats.org/drawingml/2006/main" /></p:cNvSpPr><p:nvPr /></p:nvSpPr><p:spPr><a:xfrm xmlns:a="http://schemas.openxmlformats.org/drawingml/2006/main"><a:off x="5810250" y="5895975"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metadata_selector.py</a:t></a:r></a:p></p:txBody></p:sp><p:sp><p:nvSpPr><p:cNvPr id="42" name=""><a:extLst xmlns:a="http://schemas.openxmlformats.org/drawingml/2006/main"><a:ext uri="{FF2B5EF4-FFF2-40B4-BE49-F238E27FC236}"><a16:creationId id="{6B22BF68-50CC-4514-B293-8C1CF53E2903}"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3" name=""><a:extLst xmlns:a="http://schemas.openxmlformats.org/drawingml/2006/main"><a:ext uri="{FF2B5EF4-FFF2-40B4-BE49-F238E27FC236}"><a16:creationId id="{6AD6EFF4-C117-4972-BBAA-111416052C18}"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4" name=""><a:extLst xmlns:a="http://schemas.openxmlformats.org/drawingml/2006/main"><a:ext uri="{FF2B5EF4-FFF2-40B4-BE49-F238E27FC236}"><a16:creationId id="{9CEBECEF-74A3-41F6-9B17-4E5551C2B27E}"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Gives only the relevant context, not the whole database.</a:t></a:r></a:p></p:txBody></p:sp><p:sp><p:nvSpPr><p:cNvPr id="45" name=""><a:extLst xmlns:a="http://schemas.openxmlformats.org/drawingml/2006/main"><a:ext uri="{FF2B5EF4-FFF2-40B4-BE49-F238E27FC236}"><a16:creationId id="{666A2A4E-9B5D-47C8-867D-E754479CE877}"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16</a:t></a:r></a:p></p:txBody></p:sp></p:spTree><p:extLst><p:ext uri="{BB962C8B-B14F-4D97-AF65-F5344CB8AC3E}"><p14:creationId val="516303708" xmlns:p14="http://schemas.microsoft.com/office/powerpoint/2010/main" /></p:ext></p:extLst></p:cSld></p:sld>
</file>

<file path=ppt/slides/slide17.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4A7A14F8-3DCE-41C7-A419-35A1B56D69E5}"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1504AEAF-171C-4C05-BB1D-62352AAE347A}"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4496DF91-84FF-4EE9-81C8-7369359B5209}"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Data cleaning: query_normalizer</a:t></a:r></a:p></p:txBody></p:sp><p:sp><p:nvSpPr><p:cNvPr id="4" name=""><a:extLst xmlns:a="http://schemas.openxmlformats.org/drawingml/2006/main"><a:ext uri="{FF2B5EF4-FFF2-40B4-BE49-F238E27FC236}"><a16:creationId id="{9421F2E8-C727-4888-A9F3-ADCA170620C7}"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22CC1002-EDFB-46FD-8402-FDD2F99F8E5E}"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5D8A11A6-57D3-4813-A200-19C61E0D9C34}"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6B0B559B-1B3F-4F4B-B5E7-0E9A0A95AF66}"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98E5DEB7-7F5C-443C-AFA5-CFC8ED5CC119}"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query_normalizer cleans the question text while keeping the original query for outputs.</a:t></a:r></a:p></p:txBody></p:sp><p:sp><p:nvSpPr><p:cNvPr id="9" name=""><a:extLst xmlns:a="http://schemas.openxmlformats.org/drawingml/2006/main"><a:ext uri="{FF2B5EF4-FFF2-40B4-BE49-F238E27FC236}"><a16:creationId id="{6A0E6B34-AD9B-4545-8810-65EBD05FBAA3}"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0D853934-D2A5-4B76-A7A7-AF2D009AC574}"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Query cleaning — make wording easier to match.</a:t></a:r></a:p></p:txBody></p:sp><p:sp><p:nvSpPr><p:cNvPr id="11" name=""><a:extLst xmlns:a="http://schemas.openxmlformats.org/drawingml/2006/main"><a:ext uri="{FF2B5EF4-FFF2-40B4-BE49-F238E27FC236}"><a16:creationId id="{27CA338D-7800-4526-ABB0-2323FD824838}"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AC8F0F9B-3FE6-4DFE-91D1-63BECE8B9CE8}"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16c7c370ec074935" xmlns:r="http://schemas.openxmlformats.org/officeDocument/2006/relationships" xmlns:a="http://schemas.openxmlformats.org/drawingml/2006/main" /><a:stretch xmlns:a="http://schemas.openxmlformats.org/drawingml/2006/main" /></p:blipFill><p:spPr><a:xfrm xmlns:a="http://schemas.openxmlformats.org/drawingml/2006/main"><a:off x="781050" y="2597440" /><a:ext cx="10629900" cy="1472619" /></a:xfrm><a:prstGeom prst="rect" xmlns:a="http://schemas.openxmlformats.org/drawingml/2006/main"><a:avLst /></a:prstGeom></p:spPr></p:pic><p:sp><p:nvSpPr><p:cNvPr id="14" name=""><a:extLst xmlns:a="http://schemas.openxmlformats.org/drawingml/2006/main"><a:ext uri="{FF2B5EF4-FFF2-40B4-BE49-F238E27FC236}"><a16:creationId id="{DD2EA003-0393-4591-AA80-1C8372D4ED1D}"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052B33BF-3ED1-4D2A-B1A5-3623D3C88807}"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F1410FCE-F35E-4707-B05A-85FC3E5B5660}"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2B1A3BA4-A12B-425D-BBCF-A3A3014A821F}"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1FB5BA4C-7D20-4617-AF75-420BFDA44550}"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32E9ED31-024B-41BE-89F4-127AC46AF345}"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Keep the original query.</a:t></a:r></a:p></p:txBody></p:sp><p:sp><p:nvSpPr><p:cNvPr id="20" name=""><a:extLst xmlns:a="http://schemas.openxmlformats.org/drawingml/2006/main"><a:ext uri="{FF2B5EF4-FFF2-40B4-BE49-F238E27FC236}"><a16:creationId id="{F9C7D3EB-415F-4502-9687-5928FBAA05D3}"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F89445D9-3FA1-43F5-9EAC-33D7142A28F9}"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2AB430ED-9ABD-4189-97F4-95FB1676B010}"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Make a cleaned copy.</a:t></a:r></a:p></p:txBody></p:sp><p:sp><p:nvSpPr><p:cNvPr id="23" name=""><a:extLst xmlns:a="http://schemas.openxmlformats.org/drawingml/2006/main"><a:ext uri="{FF2B5EF4-FFF2-40B4-BE49-F238E27FC236}"><a16:creationId id="{D7DD07C7-52EB-49A5-B3D6-8E85FA20C218}"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4D144779-4626-4567-9855-46AE7CEB4832}"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04FCDCFA-86EE-47C7-8BB9-08FD94D91CDA}"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Normalize spaces, quotes, hyphens, plurals, and synonyms.</a:t></a:r></a:p></p:txBody></p:sp><p:sp><p:nvSpPr><p:cNvPr id="26" name=""><a:extLst xmlns:a="http://schemas.openxmlformats.org/drawingml/2006/main"><a:ext uri="{FF2B5EF4-FFF2-40B4-BE49-F238E27FC236}"><a16:creationId id="{434BB2EC-9DBE-4DAE-9871-182BE7C5E854}"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CFF741B5-51FF-4CB8-9998-B111FD43FB90}"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0B88FA5A-E66C-4E37-BB81-B0A74442EF74}"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Use the cleaned version for matching.</a:t></a:r></a:p></p:txBody></p:sp><p:sp><p:nvSpPr><p:cNvPr id="29" name=""><a:extLst xmlns:a="http://schemas.openxmlformats.org/drawingml/2006/main"><a:ext uri="{FF2B5EF4-FFF2-40B4-BE49-F238E27FC236}"><a16:creationId id="{B9AC8027-1839-4A5C-9497-A774C996833B}"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65A55C6D-BD09-4F05-A527-782616FEE98B}"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B8A60DDE-D340-40F4-82C7-00EEDF174CBF}"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Improve robustness to wording differences.</a:t></a:r></a:p></p:txBody></p:sp><p:sp><p:nvSpPr><p:cNvPr id="32" name=""><a:extLst xmlns:a="http://schemas.openxmlformats.org/drawingml/2006/main"><a:ext uri="{FF2B5EF4-FFF2-40B4-BE49-F238E27FC236}"><a16:creationId id="{3E40589A-7F9A-4805-9312-139D513CB5F9}"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228D8781-F3E9-401B-B39D-4CE1D759B39B}"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150611C5-A24B-48A1-9822-E06286D7B231}"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query_normalizer</a:t></a:r></a:p></p:txBody></p:sp><p:sp><p:nvSpPr><p:cNvPr id="35" name=""><a:extLst xmlns:a="http://schemas.openxmlformats.org/drawingml/2006/main"><a:ext uri="{FF2B5EF4-FFF2-40B4-BE49-F238E27FC236}"><a16:creationId id="{01647463-D346-4840-97C7-8FF6E167B371}"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C1F99B93-35AB-44F3-B88C-DB8FE4AD4857}"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25488FBF-003E-4725-A9E9-F20C9DE0DBE1}"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Query cleaning — make wording easier to match.</a:t></a:r></a:p></p:txBody></p:sp><p:sp><p:nvSpPr><p:cNvPr id="38" name=""><a:extLst xmlns:a="http://schemas.openxmlformats.org/drawingml/2006/main"><a:ext uri="{FF2B5EF4-FFF2-40B4-BE49-F238E27FC236}"><a16:creationId id="{70CF052F-CC24-42CA-9AE8-A9870CC641D7}"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77DDCEEB-E6D1-47F7-932B-3C6C03903089}"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query_normalizer.py"><a:hlinkClick xmlns:a="http://schemas.openxmlformats.org/drawingml/2006/main" r:id="rIdModuleLink4" tooltip="Open /Users/tanqinyang/Desktop/dashsys-workshop-vldb/dashagent/query_normalizer.py"/><a:extLst xmlns:a="http://schemas.openxmlformats.org/drawingml/2006/main"><a:ext uri="{FF2B5EF4-FFF2-40B4-BE49-F238E27FC236}"><a16:creationId id="{F08260D8-8A65-4ABC-A4D0-6FCDA0164577}"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query_normalizer.py</a:t></a:r></a:p></p:txBody></p:sp><p:sp><p:nvSpPr><p:cNvPr id="41" name=""><a:extLst xmlns:a="http://schemas.openxmlformats.org/drawingml/2006/main"><a:ext uri="{FF2B5EF4-FFF2-40B4-BE49-F238E27FC236}"><a16:creationId id="{FFA7376E-58D9-4C34-A185-5B8F991DB07E}"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C6709CB1-140C-45AB-B11D-13F3776B3F51}"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2205AA7A-3682-43B9-8E05-7A996DE89B47}"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Cleans the wording of the question.</a:t></a:r></a:p></p:txBody></p:sp><p:sp><p:nvSpPr><p:cNvPr id="44" name=""><a:extLst xmlns:a="http://schemas.openxmlformats.org/drawingml/2006/main"><a:ext uri="{FF2B5EF4-FFF2-40B4-BE49-F238E27FC236}"><a16:creationId id="{D92CCBF4-DB65-4AFA-98B9-428B97BC4075}"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17</a:t></a:r></a:p></p:txBody></p:sp></p:spTree><p:extLst><p:ext uri="{BB962C8B-B14F-4D97-AF65-F5344CB8AC3E}"><p14:creationId val="1625159518" xmlns:p14="http://schemas.microsoft.com/office/powerpoint/2010/main" /></p:ext></p:extLst></p:cSld></p:sld>
</file>

<file path=ppt/slides/slide18.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67DB7328-416D-4AD9-94DB-215410CBD9BE}"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AA461DF4-328A-4F6E-81D0-249FDCC2D3DB}"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9B157400-7D5B-4BB6-B348-4969499D27F7}"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Tokenization and entity extraction: query_tokens</a:t></a:r></a:p></p:txBody></p:sp><p:sp><p:nvSpPr><p:cNvPr id="4" name=""><a:extLst xmlns:a="http://schemas.openxmlformats.org/drawingml/2006/main"><a:ext uri="{FF2B5EF4-FFF2-40B4-BE49-F238E27FC236}"><a16:creationId id="{86C76A99-4ACC-46D4-8C58-03B78D713053}"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4B824877-DAC5-452E-8AFB-0736F367187C}"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3528931C-121C-4DDF-9BE3-60649176F1CD}"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67A51637-4E89-41BA-9134-020932C96CEF}"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B865067B-5221-42B1-9ACA-C8ABD371E7DF}"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query_tokens highlights the important names, IDs, dates, metrics, and statuses in the question.</a:t></a:r></a:p></p:txBody></p:sp><p:sp><p:nvSpPr><p:cNvPr id="9" name=""><a:extLst xmlns:a="http://schemas.openxmlformats.org/drawingml/2006/main"><a:ext uri="{FF2B5EF4-FFF2-40B4-BE49-F238E27FC236}"><a16:creationId id="{43218DEC-E682-4412-98D4-0050EFCE41B3}"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509AB68D-FFDC-4138-AE5F-7DC40A09444F}"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Entity extraction — pull out names, IDs, dates, metrics.</a:t></a:r></a:p></p:txBody></p:sp><p:sp><p:nvSpPr><p:cNvPr id="11" name=""><a:extLst xmlns:a="http://schemas.openxmlformats.org/drawingml/2006/main"><a:ext uri="{FF2B5EF4-FFF2-40B4-BE49-F238E27FC236}"><a16:creationId id="{2F655EBD-98F0-4E1C-BE91-4F0626130919}"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44F59175-CDFC-4BB0-BD5C-B2904B88BAFE}"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6b2df64dd3404f22" xmlns:r="http://schemas.openxmlformats.org/officeDocument/2006/relationships" xmlns:a="http://schemas.openxmlformats.org/drawingml/2006/main" /><a:stretch xmlns:a="http://schemas.openxmlformats.org/drawingml/2006/main" /></p:blipFill><p:spPr><a:xfrm xmlns:a="http://schemas.openxmlformats.org/drawingml/2006/main"><a:off x="781050" y="2413654" /><a:ext cx="10629900" cy="1840193" /></a:xfrm><a:prstGeom prst="rect" xmlns:a="http://schemas.openxmlformats.org/drawingml/2006/main"><a:avLst /></a:prstGeom></p:spPr></p:pic><p:sp><p:nvSpPr><p:cNvPr id="14" name=""><a:extLst xmlns:a="http://schemas.openxmlformats.org/drawingml/2006/main"><a:ext uri="{FF2B5EF4-FFF2-40B4-BE49-F238E27FC236}"><a16:creationId id="{E8258A94-026A-4617-8BE6-1C944A067BBE}"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C5C5621F-89F6-4532-AB0E-ADF286A3C094}"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D120D7EE-3DB0-46BE-9FE2-0802330F858C}"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B5716ACD-7A00-4D99-98D9-BDD62CFE26A9}"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97F6AC2D-3A49-47FF-AA2B-843C51143F65}"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8E6A36E4-91FB-469A-B38A-06789B4B0AE7}"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Read the cleaned query.</a:t></a:r></a:p></p:txBody></p:sp><p:sp><p:nvSpPr><p:cNvPr id="20" name=""><a:extLst xmlns:a="http://schemas.openxmlformats.org/drawingml/2006/main"><a:ext uri="{FF2B5EF4-FFF2-40B4-BE49-F238E27FC236}"><a16:creationId id="{C4E53834-7F6F-4CC7-9A4F-38288E8BC966}"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8E3D6197-4D77-4C59-B909-44CA12DA3975}"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8021078F-52A7-4887-A4BC-D7A49F1AE3F6}"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Extract entity names.</a:t></a:r></a:p></p:txBody></p:sp><p:sp><p:nvSpPr><p:cNvPr id="23" name=""><a:extLst xmlns:a="http://schemas.openxmlformats.org/drawingml/2006/main"><a:ext uri="{FF2B5EF4-FFF2-40B4-BE49-F238E27FC236}"><a16:creationId id="{7EB3E210-6433-46B1-AFDF-A6B92D728A21}"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B0316502-5C7D-443D-BC37-EB4F360DC930}"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D29F5924-D8E6-4D35-A171-C35743199AEF}"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Extract IDs, dates, metrics, fields, and status words.</a:t></a:r></a:p></p:txBody></p:sp><p:sp><p:nvSpPr><p:cNvPr id="26" name=""><a:extLst xmlns:a="http://schemas.openxmlformats.org/drawingml/2006/main"><a:ext uri="{FF2B5EF4-FFF2-40B4-BE49-F238E27FC236}"><a16:creationId id="{A04210E2-FDFA-41F1-A43B-9759EA565F8A}"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F9321FBA-AE97-4A16-A3AA-CD6AF0ECA27B}"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CAE1D5AE-2835-4BA5-AE54-00D9A562E5D3}"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Send tokens to routing and templates.</a:t></a:r></a:p></p:txBody></p:sp><p:sp><p:nvSpPr><p:cNvPr id="29" name=""><a:extLst xmlns:a="http://schemas.openxmlformats.org/drawingml/2006/main"><a:ext uri="{FF2B5EF4-FFF2-40B4-BE49-F238E27FC236}"><a16:creationId id="{021079A1-4A4C-4843-978D-3B0E798C881E}"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3A0096E3-6E2F-4A87-82FD-38196B47C262}"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3217D2FC-EB5D-47B7-804E-1DD3095C7620}"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Fill plans more accurately.</a:t></a:r></a:p></p:txBody></p:sp><p:sp><p:nvSpPr><p:cNvPr id="32" name=""><a:extLst xmlns:a="http://schemas.openxmlformats.org/drawingml/2006/main"><a:ext uri="{FF2B5EF4-FFF2-40B4-BE49-F238E27FC236}"><a16:creationId id="{6A8BDF81-B20E-4654-8C37-B3750AAD0C08}"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32C474C3-D2A8-4E74-8F23-77DC9592E5F9}"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D828C31E-8942-45B3-A4EA-B8208CE2EAC4}"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query_tokens</a:t></a:r></a:p></p:txBody></p:sp><p:sp><p:nvSpPr><p:cNvPr id="35" name=""><a:extLst xmlns:a="http://schemas.openxmlformats.org/drawingml/2006/main"><a:ext uri="{FF2B5EF4-FFF2-40B4-BE49-F238E27FC236}"><a16:creationId id="{788C50E2-5364-4698-99E1-089A36554BCA}"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9C8F055E-A18F-45AF-8544-F410D80B7667}"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50D12C58-F0A7-425F-9165-5864FC58D6B3}"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Entity extraction — pull out names, IDs, dates, metrics.</a:t></a:r></a:p></p:txBody></p:sp><p:sp><p:nvSpPr><p:cNvPr id="38" name=""><a:extLst xmlns:a="http://schemas.openxmlformats.org/drawingml/2006/main"><a:ext uri="{FF2B5EF4-FFF2-40B4-BE49-F238E27FC236}"><a16:creationId id="{FAFF24D4-C557-47B7-9143-FA86B560E6BA}"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A5F62AAB-E650-4267-83C5-80E610ACBC42}"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query_tokens.py"><a:hlinkClick xmlns:a="http://schemas.openxmlformats.org/drawingml/2006/main" r:id="rIdModuleLink4" tooltip="Open /Users/tanqinyang/Desktop/dashsys-workshop-vldb/dashagent/query_tokens.py"/><a:extLst xmlns:a="http://schemas.openxmlformats.org/drawingml/2006/main"><a:ext uri="{FF2B5EF4-FFF2-40B4-BE49-F238E27FC236}"><a16:creationId id="{7D17F4E6-74DC-444D-A62B-F7B3698C6B2F}"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query_tokens.py</a:t></a:r></a:p></p:txBody></p:sp><p:sp><p:nvSpPr><p:cNvPr id="41" name=""><a:extLst xmlns:a="http://schemas.openxmlformats.org/drawingml/2006/main"><a:ext uri="{FF2B5EF4-FFF2-40B4-BE49-F238E27FC236}"><a16:creationId id="{517031FE-B673-4C9B-9337-41B6FA98D965}"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9F3D8761-BF95-498D-BE70-A2DF3AA2791F}"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A806522E-72A6-4FD5-A59F-098DA4B1B5E5}"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Pulls out names, IDs, dates, metrics, and statuses.</a:t></a:r></a:p></p:txBody></p:sp><p:sp><p:nvSpPr><p:cNvPr id="44" name=""><a:extLst xmlns:a="http://schemas.openxmlformats.org/drawingml/2006/main"><a:ext uri="{FF2B5EF4-FFF2-40B4-BE49-F238E27FC236}"><a16:creationId id="{902896E8-ED49-46A6-8E41-1FE94A8A2CEF}"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18</a:t></a:r></a:p></p:txBody></p:sp></p:spTree><p:extLst><p:ext uri="{BB962C8B-B14F-4D97-AF65-F5344CB8AC3E}"><p14:creationId val="967566222" xmlns:p14="http://schemas.microsoft.com/office/powerpoint/2010/main" /></p:ext></p:extLst></p:cSld></p:sld>
</file>

<file path=ppt/slides/slide19.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CB382AC5-C27B-4C64-90E2-D9510DA149B1}"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2A29BBA9-C754-4BCF-9101-6DA3598A1B0B}"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5103F497-9DD6-4BDF-88BF-A6957B853225}"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Attention-style selection: relevance_scorer</a:t></a:r></a:p></p:txBody></p:sp><p:sp><p:nvSpPr><p:cNvPr id="4" name=""><a:extLst xmlns:a="http://schemas.openxmlformats.org/drawingml/2006/main"><a:ext uri="{FF2B5EF4-FFF2-40B4-BE49-F238E27FC236}"><a16:creationId id="{D281AA3F-A87A-4BC5-8C0D-A4A5D7795804}"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1AE91350-E61A-43D5-98BD-1A9F8097037F}"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E49719A8-61A1-4A7C-B27F-3BA46A60C55F}"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7D8C6FEE-B913-4974-BBD0-7FA3F0CBD330}"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4F8E96A7-51CC-408E-8C6B-7CC54F1F52C7}"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relevance_scorer helps the system focus on the most useful tables, columns, joins, and APIs.</a:t></a:r></a:p></p:txBody></p:sp><p:sp><p:nvSpPr><p:cNvPr id="9" name=""><a:extLst xmlns:a="http://schemas.openxmlformats.org/drawingml/2006/main"><a:ext uri="{FF2B5EF4-FFF2-40B4-BE49-F238E27FC236}"><a16:creationId id="{A61A8070-6D47-4A4D-AA1B-B63FA1911336}"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500C1D1C-209F-4D2C-A05D-5E42555E9174}"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Relevance ranking — focus on useful tables/APIs.</a:t></a:r></a:p></p:txBody></p:sp><p:sp><p:nvSpPr><p:cNvPr id="11" name=""><a:extLst xmlns:a="http://schemas.openxmlformats.org/drawingml/2006/main"><a:ext uri="{FF2B5EF4-FFF2-40B4-BE49-F238E27FC236}"><a16:creationId id="{5ADDE10F-403F-469B-8128-F522DA56019F}"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0E5C13AD-5DEB-4C8D-95C9-C6776D829013}"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d8491cdb69c442ca" xmlns:r="http://schemas.openxmlformats.org/officeDocument/2006/relationships" xmlns:a="http://schemas.openxmlformats.org/drawingml/2006/main" /><a:stretch xmlns:a="http://schemas.openxmlformats.org/drawingml/2006/main" /></p:blipFill><p:spPr><a:xfrm xmlns:a="http://schemas.openxmlformats.org/drawingml/2006/main"><a:off x="781050" y="2559654" /><a:ext cx="10629900" cy="1548193" /></a:xfrm><a:prstGeom prst="rect" xmlns:a="http://schemas.openxmlformats.org/drawingml/2006/main"><a:avLst /></a:prstGeom></p:spPr></p:pic><p:sp><p:nvSpPr><p:cNvPr id="14" name=""><a:extLst xmlns:a="http://schemas.openxmlformats.org/drawingml/2006/main"><a:ext uri="{FF2B5EF4-FFF2-40B4-BE49-F238E27FC236}"><a16:creationId id="{AF945BD9-7384-451C-BEE7-9AFB5496F918}"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0EF1840A-1F80-499A-AA71-744D0375658E}"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88CB84D2-2CA0-442C-A265-5DE1A617DF43}"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7182FF77-CA53-47FB-8A09-9473C08692C0}"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26E2F658-B145-4986-94F9-1A7B21441619}"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60F1650F-BE40-4F1D-AE4F-5BFA953BDF63}"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Compare query tokens with schema/API candidates.</a:t></a:r></a:p></p:txBody></p:sp><p:sp><p:nvSpPr><p:cNvPr id="20" name=""><a:extLst xmlns:a="http://schemas.openxmlformats.org/drawingml/2006/main"><a:ext uri="{FF2B5EF4-FFF2-40B4-BE49-F238E27FC236}"><a16:creationId id="{E1D48E45-CC7D-4099-82F6-76435647B3B2}"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1CD30CBF-75DC-4EB2-9F0D-A42A42644767}"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0D4445C7-AA9C-4F13-9BAD-D2C969D8BFA2}"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Score each candidate.</a:t></a:r></a:p></p:txBody></p:sp><p:sp><p:nvSpPr><p:cNvPr id="23" name=""><a:extLst xmlns:a="http://schemas.openxmlformats.org/drawingml/2006/main"><a:ext uri="{FF2B5EF4-FFF2-40B4-BE49-F238E27FC236}"><a16:creationId id="{9D0469F5-7496-439C-9D23-C5BF46C860F9}"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750FACF5-43DA-4FB1-B780-F9774B240B86}"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52A5853F-EE27-4DE9-AC80-7BFC7D5C38E4}"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Keep the highest-ranked context.</a:t></a:r></a:p></p:txBody></p:sp><p:sp><p:nvSpPr><p:cNvPr id="26" name=""><a:extLst xmlns:a="http://schemas.openxmlformats.org/drawingml/2006/main"><a:ext uri="{FF2B5EF4-FFF2-40B4-BE49-F238E27FC236}"><a16:creationId id="{6B5C79E7-749B-4D6A-A5D1-ABDB35C2C35A}"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ED353018-3811-454F-BFA7-82EEF444E4A1}"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8732138B-D37A-46FE-BDCE-D6A3CF252B83}"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Drop low-relevance context.</a:t></a:r></a:p></p:txBody></p:sp><p:sp><p:nvSpPr><p:cNvPr id="29" name=""><a:extLst xmlns:a="http://schemas.openxmlformats.org/drawingml/2006/main"><a:ext uri="{FF2B5EF4-FFF2-40B4-BE49-F238E27FC236}"><a16:creationId id="{C1EAB3B2-362E-4D9D-8F2E-7235E9685DF7}"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6B78074A-42D9-4C3A-82EC-1A870326B175}"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C61CFB63-BED1-4EAE-B6E8-860CC24CCCAE}"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Reduce noise and tokens.</a:t></a:r></a:p></p:txBody></p:sp><p:sp><p:nvSpPr><p:cNvPr id="32" name=""><a:extLst xmlns:a="http://schemas.openxmlformats.org/drawingml/2006/main"><a:ext uri="{FF2B5EF4-FFF2-40B4-BE49-F238E27FC236}"><a16:creationId id="{EF84FDFC-5DE5-407A-9AEA-62F9A76CB44A}"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BE4C0C7F-D5C2-4731-BB73-F671C372DA49}"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697E4FEF-1C28-4FAE-81B6-FD100DC4C394}"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relevance_scorer</a:t></a:r></a:p></p:txBody></p:sp><p:sp><p:nvSpPr><p:cNvPr id="35" name=""><a:extLst xmlns:a="http://schemas.openxmlformats.org/drawingml/2006/main"><a:ext uri="{FF2B5EF4-FFF2-40B4-BE49-F238E27FC236}"><a16:creationId id="{7CCC6B3F-A2CE-4F9F-9D63-CFEF3EF2362C}"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2C6DD920-5D9F-468F-98D7-C6676A8260B1}"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428E0E18-707C-4635-92B2-AD2139F24E1D}"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Relevance ranking — focus on useful tables/APIs.</a:t></a:r></a:p></p:txBody></p:sp><p:sp><p:nvSpPr><p:cNvPr id="38" name=""><a:extLst xmlns:a="http://schemas.openxmlformats.org/drawingml/2006/main"><a:ext uri="{FF2B5EF4-FFF2-40B4-BE49-F238E27FC236}"><a16:creationId id="{491DED70-56DC-4BCF-91E7-A857D36A2623}"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256AE64D-054B-4A58-867B-1B9FCF6BF1E7}"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relevance_scorer.py"><a:hlinkClick xmlns:a="http://schemas.openxmlformats.org/drawingml/2006/main" r:id="rIdModuleLink4" tooltip="Open /Users/tanqinyang/Desktop/dashsys-workshop-vldb/dashagent/relevance_scorer.py"/><a:extLst xmlns:a="http://schemas.openxmlformats.org/drawingml/2006/main"><a:ext uri="{FF2B5EF4-FFF2-40B4-BE49-F238E27FC236}"><a16:creationId id="{E1722157-2189-4DFF-A07F-E8C0EC7F3606}"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relevance_scorer.py</a:t></a:r></a:p></p:txBody></p:sp><p:sp><p:nvSpPr><p:cNvPr id="41" name=""><a:extLst xmlns:a="http://schemas.openxmlformats.org/drawingml/2006/main"><a:ext uri="{FF2B5EF4-FFF2-40B4-BE49-F238E27FC236}"><a16:creationId id="{FBC40C54-8930-426E-952B-3A51B4165A5E}"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CBAE4347-807A-4CB8-993B-E297391FF790}"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83198D4B-D007-4664-AED0-6F8FE8C141CB}"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Ranks which tables/APIs are most likely useful.</a:t></a:r></a:p></p:txBody></p:sp><p:sp><p:nvSpPr><p:cNvPr id="44" name=""><a:extLst xmlns:a="http://schemas.openxmlformats.org/drawingml/2006/main"><a:ext uri="{FF2B5EF4-FFF2-40B4-BE49-F238E27FC236}"><a16:creationId id="{A985A6F8-0164-48DE-8D2F-4BB5CE96C3C5}"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19</a:t></a:r></a:p></p:txBody></p:sp></p:spTree><p:extLst><p:ext uri="{BB962C8B-B14F-4D97-AF65-F5344CB8AC3E}"><p14:creationId val="424825728" xmlns:p14="http://schemas.microsoft.com/office/powerpoint/2010/main" /></p:ext></p:extLst></p:cSld></p:sld>
</file>

<file path=ppt/slides/slide20.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2189BAE7-6121-49BD-BEF0-E44957CD6D0B}"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13CF50FD-D4BF-4AC1-8233-4AA4D10A9A71}"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1D347803-BD88-4321-84A9-3C2B410E5A09}"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Ensemble selection: plan_ensemble</a:t></a:r></a:p></p:txBody></p:sp><p:sp><p:nvSpPr><p:cNvPr id="4" name=""><a:extLst xmlns:a="http://schemas.openxmlformats.org/drawingml/2006/main"><a:ext uri="{FF2B5EF4-FFF2-40B4-BE49-F238E27FC236}"><a16:creationId id="{465729E1-43AB-4A84-8759-4CE4C9510AD2}"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2C4CD276-753E-4537-BAA9-3E89432F7E52}"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CFFFE042-C0CD-4305-8D46-6BBCA4E2BD53}"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9730DAF7-AF4C-48CA-9B4B-3EDEDA77F3DE}"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4BF287FF-FA64-4B5F-A97B-C7A23EFDAAC4}"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plan_ensemble checks a few possible routes, then runs only the best one.</a:t></a:r></a:p></p:txBody></p:sp><p:sp><p:nvSpPr><p:cNvPr id="9" name=""><a:extLst xmlns:a="http://schemas.openxmlformats.org/drawingml/2006/main"><a:ext uri="{FF2B5EF4-FFF2-40B4-BE49-F238E27FC236}"><a16:creationId id="{C9FBA842-EE72-4AD4-BAF6-7167B2F86AF3}"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BDE8CC50-9D24-4F19-8CA4-5C84C6473AF9}"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Plan reranking — compare plans and run one.</a:t></a:r></a:p></p:txBody></p:sp><p:sp><p:nvSpPr><p:cNvPr id="11" name=""><a:extLst xmlns:a="http://schemas.openxmlformats.org/drawingml/2006/main"><a:ext uri="{FF2B5EF4-FFF2-40B4-BE49-F238E27FC236}"><a16:creationId id="{B4102DDC-67C0-4829-B90A-56119DDC9170}"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0CA79F1C-5920-4471-908D-B90D2AFA0C6C}"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da0d8ae4bc8f4805" xmlns:r="http://schemas.openxmlformats.org/officeDocument/2006/relationships" xmlns:a="http://schemas.openxmlformats.org/drawingml/2006/main" /><a:stretch xmlns:a="http://schemas.openxmlformats.org/drawingml/2006/main" /></p:blipFill><p:spPr><a:xfrm xmlns:a="http://schemas.openxmlformats.org/drawingml/2006/main"><a:off x="781050" y="2768001" /><a:ext cx="10629900" cy="1131498" /></a:xfrm><a:prstGeom prst="rect" xmlns:a="http://schemas.openxmlformats.org/drawingml/2006/main"><a:avLst /></a:prstGeom></p:spPr></p:pic><p:sp><p:nvSpPr><p:cNvPr id="14" name=""><a:extLst xmlns:a="http://schemas.openxmlformats.org/drawingml/2006/main"><a:ext uri="{FF2B5EF4-FFF2-40B4-BE49-F238E27FC236}"><a16:creationId id="{A606AD8F-E57F-41A6-A93F-9735B8CB073A}"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79D54251-3BBB-47A1-87F0-9F02C6E6438B}"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1FCA54D3-ACDB-4CE9-B309-9EF45E107F5D}"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ACD0A127-BC34-40A4-A97E-C6267BD7B36A}"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2D62FFD0-94F1-4BC3-A7EE-3DFE1B4D1B89}"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7406B15C-F5C3-437A-92A8-4B9F5D3A720F}"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Generate cheap candidate plans.</a:t></a:r></a:p></p:txBody></p:sp><p:sp><p:nvSpPr><p:cNvPr id="20" name=""><a:extLst xmlns:a="http://schemas.openxmlformats.org/drawingml/2006/main"><a:ext uri="{FF2B5EF4-FFF2-40B4-BE49-F238E27FC236}"><a16:creationId id="{68DCC6DB-FD72-4359-AD19-F9C3DA447297}"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9158238A-E746-4017-9D64-0600EFF6CBC6}"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030F39C9-BF5E-460D-B3C6-0B8F6E846290}"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Score them before execution.</a:t></a:r></a:p></p:txBody></p:sp><p:sp><p:nvSpPr><p:cNvPr id="23" name=""><a:extLst xmlns:a="http://schemas.openxmlformats.org/drawingml/2006/main"><a:ext uri="{FF2B5EF4-FFF2-40B4-BE49-F238E27FC236}"><a16:creationId id="{930C7F0A-4550-4112-AEDD-62B450F2012A}"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86082320-E92F-471C-93F5-20ED20BC192D}"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AA7590CA-2844-43ED-B7D7-F463AC0C2745}"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Prefer valid, relevant, low-cost plans.</a:t></a:r></a:p></p:txBody></p:sp><p:sp><p:nvSpPr><p:cNvPr id="26" name=""><a:extLst xmlns:a="http://schemas.openxmlformats.org/drawingml/2006/main"><a:ext uri="{FF2B5EF4-FFF2-40B4-BE49-F238E27FC236}"><a16:creationId id="{68754AA7-40B7-4253-ADCF-A8E1B4EF7FF1}"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E8CC78C8-AD1D-4B1D-BA93-732AC5BCA5A0}"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6C9FCF1A-FFB6-43DD-B518-16F8AAD2B748}"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Pick one plan.</a:t></a:r></a:p></p:txBody></p:sp><p:sp><p:nvSpPr><p:cNvPr id="29" name=""><a:extLst xmlns:a="http://schemas.openxmlformats.org/drawingml/2006/main"><a:ext uri="{FF2B5EF4-FFF2-40B4-BE49-F238E27FC236}"><a16:creationId id="{18A90DB4-2724-4AB7-8B29-0692FD8724B5}"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C53B5518-3ABD-4966-8BBE-05161839FB9C}"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4900BEE6-2981-4DED-A30F-CA2B58423B6F}"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Execute only that plan.</a:t></a:r></a:p></p:txBody></p:sp><p:sp><p:nvSpPr><p:cNvPr id="32" name=""><a:extLst xmlns:a="http://schemas.openxmlformats.org/drawingml/2006/main"><a:ext uri="{FF2B5EF4-FFF2-40B4-BE49-F238E27FC236}"><a16:creationId id="{52BAF5D0-B907-43EE-9B2D-2C21C3593852}"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D4CB8E94-5379-4293-831D-6344BB9248A4}"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AA042B1F-D79B-40C5-807F-418388ACA019}"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plan_ensemble</a:t></a:r></a:p></p:txBody></p:sp><p:sp><p:nvSpPr><p:cNvPr id="35" name=""><a:extLst xmlns:a="http://schemas.openxmlformats.org/drawingml/2006/main"><a:ext uri="{FF2B5EF4-FFF2-40B4-BE49-F238E27FC236}"><a16:creationId id="{605FC46E-0A55-49CB-9333-26075F8693FC}"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2BF79316-4D24-4C5B-AC96-B3162C53C4A7}"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74E111FD-DBAB-482F-98DE-BF1BF01F93BC}"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Plan reranking — compare plans and run one.</a:t></a:r></a:p></p:txBody></p:sp><p:sp><p:nvSpPr><p:cNvPr id="38" name=""><a:extLst xmlns:a="http://schemas.openxmlformats.org/drawingml/2006/main"><a:ext uri="{FF2B5EF4-FFF2-40B4-BE49-F238E27FC236}"><a16:creationId id="{3B60337D-A857-46F7-BA52-FE829518BC05}"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E8A8E13D-4451-4D70-9E6C-403B1A367BD4}"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plan_ensemble.py"><a:hlinkClick xmlns:a="http://schemas.openxmlformats.org/drawingml/2006/main" r:id="rIdModuleLink4" tooltip="Open /Users/tanqinyang/Desktop/dashsys-workshop-vldb/dashagent/plan_ensemble.py"/><a:extLst xmlns:a="http://schemas.openxmlformats.org/drawingml/2006/main"><a:ext uri="{FF2B5EF4-FFF2-40B4-BE49-F238E27FC236}"><a16:creationId id="{2D2D3397-5124-4086-91AF-E1AA369F3253}"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plan_ensemble.py</a:t></a:r></a:p></p:txBody></p:sp><p:sp><p:nvSpPr><p:cNvPr id="41" name=""><a:extLst xmlns:a="http://schemas.openxmlformats.org/drawingml/2006/main"><a:ext uri="{FF2B5EF4-FFF2-40B4-BE49-F238E27FC236}"><a16:creationId id="{2A7CB58C-C69C-4FE3-9296-C8E6E5A1CA81}"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E3A7BE64-3F79-4A9D-84FB-72795ADAB0A9}"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9A8DE6BC-A8F2-4D9D-B381-A573E6093986}"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Compares possible plans and runs only the best one.</a:t></a:r></a:p></p:txBody></p:sp><p:sp><p:nvSpPr><p:cNvPr id="44" name=""><a:extLst xmlns:a="http://schemas.openxmlformats.org/drawingml/2006/main"><a:ext uri="{FF2B5EF4-FFF2-40B4-BE49-F238E27FC236}"><a16:creationId id="{0F1784BD-3C60-4FC9-AC56-4044C0FFB860}"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20</a:t></a:r></a:p></p:txBody></p:sp></p:spTree><p:extLst><p:ext uri="{BB962C8B-B14F-4D97-AF65-F5344CB8AC3E}"><p14:creationId val="693222418" xmlns:p14="http://schemas.microsoft.com/office/powerpoint/2010/main" /></p:ext></p:extLst></p:cSld></p:sld>
</file>

<file path=ppt/slides/slide21.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43D64435-E686-471E-AEF4-BF9AA66151A4}"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AE721C3D-7DBD-4494-9B3B-0FC7CECD6CC9}"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BB9C649F-8165-4041-816E-D84B02E3072C}"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Evidence slot extraction: answer_slots</a:t></a:r></a:p></p:txBody></p:sp><p:sp><p:nvSpPr><p:cNvPr id="4" name=""><a:extLst xmlns:a="http://schemas.openxmlformats.org/drawingml/2006/main"><a:ext uri="{FF2B5EF4-FFF2-40B4-BE49-F238E27FC236}"><a16:creationId id="{4C31D0EB-D132-40BE-8B63-8DAB095489B7}"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12789507-F3F6-4B36-9C55-CC0B5CBF230B}"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52DFED6B-C200-48F5-B908-3559527AB609}"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FEF0168C-9166-433D-B220-DA75BAA6303E}"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4647E380-DE06-4C18-B023-411FFEDA66AB}"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answer_slots turn raw SQL/API results into clean facts before writing the answer.</a:t></a:r></a:p></p:txBody></p:sp><p:sp><p:nvSpPr><p:cNvPr id="9" name=""><a:extLst xmlns:a="http://schemas.openxmlformats.org/drawingml/2006/main"><a:ext uri="{FF2B5EF4-FFF2-40B4-BE49-F238E27FC236}"><a16:creationId id="{47CCAC43-FFEB-4523-9BE9-1015EE04ACE5}"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F92AC837-10A4-4F15-88F2-5B90299B4F6F}"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Evidence slots — turn raw results into clean facts.</a:t></a:r></a:p></p:txBody></p:sp><p:sp><p:nvSpPr><p:cNvPr id="11" name=""><a:extLst xmlns:a="http://schemas.openxmlformats.org/drawingml/2006/main"><a:ext uri="{FF2B5EF4-FFF2-40B4-BE49-F238E27FC236}"><a16:creationId id="{B891B07F-59C7-4168-A6BB-AF9EFD792264}"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21111763-CAA7-4FA1-836C-7605F80C7DED}"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89fb6fe28bdf4049" xmlns:r="http://schemas.openxmlformats.org/officeDocument/2006/relationships" xmlns:a="http://schemas.openxmlformats.org/drawingml/2006/main" /><a:stretch xmlns:a="http://schemas.openxmlformats.org/drawingml/2006/main" /></p:blipFill><p:spPr><a:xfrm xmlns:a="http://schemas.openxmlformats.org/drawingml/2006/main"><a:off x="1698017" y="2286000" /><a:ext cx="8795966" cy="2095500" /></a:xfrm><a:prstGeom prst="rect" xmlns:a="http://schemas.openxmlformats.org/drawingml/2006/main"><a:avLst /></a:prstGeom></p:spPr></p:pic><p:sp><p:nvSpPr><p:cNvPr id="14" name=""><a:extLst xmlns:a="http://schemas.openxmlformats.org/drawingml/2006/main"><a:ext uri="{FF2B5EF4-FFF2-40B4-BE49-F238E27FC236}"><a16:creationId id="{D1CD3E92-0764-4D5E-A522-726165856122}"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CBE94CED-C43F-446D-AB35-33E606C5A2C0}"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57B4E771-CD84-469F-81C1-4030D50C8E2D}"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BAB7CC65-BC88-4DB0-981E-199CBBD72A3A}"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3AE2217F-232F-451B-AFA5-80A8DF45BB84}"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18FAE86D-F093-4115-A21A-CC40B30503D3}"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Read tool results.</a:t></a:r></a:p></p:txBody></p:sp><p:sp><p:nvSpPr><p:cNvPr id="20" name=""><a:extLst xmlns:a="http://schemas.openxmlformats.org/drawingml/2006/main"><a:ext uri="{FF2B5EF4-FFF2-40B4-BE49-F238E27FC236}"><a16:creationId id="{FD05AE7B-7D31-4D9A-A7DD-DD064DAB5FA2}"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814768DE-52B2-4226-9F27-2CDB7D2501D0}"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04537EE8-DDB0-4758-99D3-F5FDCB404625}"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Extract clean facts: name, ID, count, status, time, metric.</a:t></a:r></a:p></p:txBody></p:sp><p:sp><p:nvSpPr><p:cNvPr id="23" name=""><a:extLst xmlns:a="http://schemas.openxmlformats.org/drawingml/2006/main"><a:ext uri="{FF2B5EF4-FFF2-40B4-BE49-F238E27FC236}"><a16:creationId id="{3A8FB3D5-CF58-439A-A822-D890EFDA0186}"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617F9578-098B-4818-84B2-9EE8DCF0D283}"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B6F375C5-9377-43E6-A553-32D84A37F55E}"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Record dry-run and discrepancy flags.</a:t></a:r></a:p></p:txBody></p:sp><p:sp><p:nvSpPr><p:cNvPr id="26" name=""><a:extLst xmlns:a="http://schemas.openxmlformats.org/drawingml/2006/main"><a:ext uri="{FF2B5EF4-FFF2-40B4-BE49-F238E27FC236}"><a16:creationId id="{C2F22BE6-627C-4588-A501-AB161683F5BA}"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2363E24E-5F6B-43BE-868C-9646CE50B85E}"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3572194D-7F19-416B-B9F9-0F095E4911C3}"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Use these facts as the answer source.</a:t></a:r></a:p></p:txBody></p:sp><p:sp><p:nvSpPr><p:cNvPr id="29" name=""><a:extLst xmlns:a="http://schemas.openxmlformats.org/drawingml/2006/main"><a:ext uri="{FF2B5EF4-FFF2-40B4-BE49-F238E27FC236}"><a16:creationId id="{AC38D803-C2FC-4643-8B18-BE7926940AC6}"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71F9D25E-42FA-4EDA-8AB9-2F8A4E49A4E4}"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1E765836-C39F-4B2E-897E-A8119F9E2AF1}"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Avoid unsupported values.</a:t></a:r></a:p></p:txBody></p:sp><p:sp><p:nvSpPr><p:cNvPr id="32" name=""><a:extLst xmlns:a="http://schemas.openxmlformats.org/drawingml/2006/main"><a:ext uri="{FF2B5EF4-FFF2-40B4-BE49-F238E27FC236}"><a16:creationId id="{676E623D-C111-4723-8319-CA2246C250B8}"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6795D28C-0F4F-45A6-9138-51AC4E215165}"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90C01F5C-4F22-455E-99CB-6443EA412A63}"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answer_slots</a:t></a:r></a:p></p:txBody></p:sp><p:sp><p:nvSpPr><p:cNvPr id="35" name=""><a:extLst xmlns:a="http://schemas.openxmlformats.org/drawingml/2006/main"><a:ext uri="{FF2B5EF4-FFF2-40B4-BE49-F238E27FC236}"><a16:creationId id="{40C38CFA-2EA3-43F5-9C3C-283930902EBC}"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C71D1C15-16C9-4241-ABE6-A3C9CF9F6EBE}"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041AA218-3B18-4608-9CBE-9721EAE625FF}"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Evidence slots — turn raw results into clean facts.</a:t></a:r></a:p></p:txBody></p:sp><p:sp><p:nvSpPr><p:cNvPr id="38" name=""><a:extLst xmlns:a="http://schemas.openxmlformats.org/drawingml/2006/main"><a:ext uri="{FF2B5EF4-FFF2-40B4-BE49-F238E27FC236}"><a16:creationId id="{31D7CBC2-5899-4DBB-9C08-E7F921D5D0EA}"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625611DD-82A8-4A5C-BCA5-0FA685BB0A42}"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answer_slots.py"><a:hlinkClick xmlns:a="http://schemas.openxmlformats.org/drawingml/2006/main" r:id="rIdModuleLink4" tooltip="Open /Users/tanqinyang/Desktop/dashsys-workshop-vldb/dashagent/answer_slots.py"/><a:extLst xmlns:a="http://schemas.openxmlformats.org/drawingml/2006/main"><a:ext uri="{FF2B5EF4-FFF2-40B4-BE49-F238E27FC236}"><a16:creationId id="{D9F0915C-062A-40E4-AFE6-0BA0FA85917F}"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answer_slots.py</a:t></a:r></a:p></p:txBody></p:sp><p:sp><p:nvSpPr><p:cNvPr id="41" name=""><a:extLst xmlns:a="http://schemas.openxmlformats.org/drawingml/2006/main"><a:ext uri="{FF2B5EF4-FFF2-40B4-BE49-F238E27FC236}"><a16:creationId id="{B77E1A75-B39C-4E53-8E25-C1D5B3F9029D}"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2C88681D-EF81-4A5E-9C42-A5E85FE1B798}"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50797A76-ED86-413D-8E67-364FC6600FC7}"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Turns raw results into clean facts.</a:t></a:r></a:p></p:txBody></p:sp><p:sp><p:nvSpPr><p:cNvPr id="44" name=""><a:extLst xmlns:a="http://schemas.openxmlformats.org/drawingml/2006/main"><a:ext uri="{FF2B5EF4-FFF2-40B4-BE49-F238E27FC236}"><a16:creationId id="{52670D9C-1B52-44D6-A9A6-BE9FBC1AAB30}"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21</a:t></a:r></a:p></p:txBody></p:sp></p:spTree><p:extLst><p:ext uri="{BB962C8B-B14F-4D97-AF65-F5344CB8AC3E}"><p14:creationId val="1783615923" xmlns:p14="http://schemas.microsoft.com/office/powerpoint/2010/main" /></p:ext></p:extLst></p:cSld></p:sld>
</file>

<file path=ppt/slides/slide22.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F146BCD0-0A24-4D4B-BB6B-C9AC4AFBAB99}"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CFC7569D-8C22-474A-82DA-ACE36D678630}"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DA862853-9A0B-4501-B9FA-D9E039DF57DF}"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Intent-aware response shaping: answer_intent</a:t></a:r></a:p></p:txBody></p:sp><p:sp><p:nvSpPr><p:cNvPr id="4" name=""><a:extLst xmlns:a="http://schemas.openxmlformats.org/drawingml/2006/main"><a:ext uri="{FF2B5EF4-FFF2-40B4-BE49-F238E27FC236}"><a16:creationId id="{D553E03C-5B08-44D4-A116-2D45EF16C6A3}"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24B3C8BF-169F-41E1-BFC3-52410F6CA6B4}"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D2EB28D4-9403-4445-A9AE-824CADB33C07}"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3CAF5B14-3E2D-448A-BDDB-3C36352F990E}"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1EADC202-9724-4AD8-A787-106B17244D5D}"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answer_intent decides whether the answer should be a number, list, date, status, or details.</a:t></a:r></a:p></p:txBody></p:sp><p:sp><p:nvSpPr><p:cNvPr id="9" name=""><a:extLst xmlns:a="http://schemas.openxmlformats.org/drawingml/2006/main"><a:ext uri="{FF2B5EF4-FFF2-40B4-BE49-F238E27FC236}"><a16:creationId id="{5E001886-8AE4-4FEF-B6B8-F88C05A294EE}"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66627118-8E8A-4AD4-97D6-897C23C44DB6}"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Answer intent — choose count/list/date/status shape.</a:t></a:r></a:p></p:txBody></p:sp><p:sp><p:nvSpPr><p:cNvPr id="11" name=""><a:extLst xmlns:a="http://schemas.openxmlformats.org/drawingml/2006/main"><a:ext uri="{FF2B5EF4-FFF2-40B4-BE49-F238E27FC236}"><a16:creationId id="{143DB72F-9662-4A0E-9338-C71558F3F864}"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A046AC98-7E17-4BCA-B8F2-FBB5C24B7B9B}"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01d134cdf8534a68" xmlns:r="http://schemas.openxmlformats.org/officeDocument/2006/relationships" xmlns:a="http://schemas.openxmlformats.org/drawingml/2006/main" /><a:stretch xmlns:a="http://schemas.openxmlformats.org/drawingml/2006/main" /></p:blipFill><p:spPr><a:xfrm xmlns:a="http://schemas.openxmlformats.org/drawingml/2006/main"><a:off x="4747337" y="2286000" /><a:ext cx="2697326" cy="2095500" /></a:xfrm><a:prstGeom prst="rect" xmlns:a="http://schemas.openxmlformats.org/drawingml/2006/main"><a:avLst /></a:prstGeom></p:spPr></p:pic><p:sp><p:nvSpPr><p:cNvPr id="14" name=""><a:extLst xmlns:a="http://schemas.openxmlformats.org/drawingml/2006/main"><a:ext uri="{FF2B5EF4-FFF2-40B4-BE49-F238E27FC236}"><a16:creationId id="{C3B3A996-2A7F-4AD7-AACF-8B44CF17ED36}"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8961B595-02E6-4478-AE9A-291AD1A01A2F}"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DDA12388-383D-4516-A99C-773468848C1A}"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28E15E13-325B-4458-8FF8-C7CDE7679958}"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21FCF3ED-2D28-4BEB-8BFA-2770D0FC5FDB}"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85DA0547-897D-4498-8305-974742A0C173}"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Read the question.</a:t></a:r></a:p></p:txBody></p:sp><p:sp><p:nvSpPr><p:cNvPr id="20" name=""><a:extLst xmlns:a="http://schemas.openxmlformats.org/drawingml/2006/main"><a:ext uri="{FF2B5EF4-FFF2-40B4-BE49-F238E27FC236}"><a16:creationId id="{E67545A6-7E9C-4066-8DC5-897E5F1030E1}"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1CD6DCBD-7C48-4256-A0EC-D5B274E7CDCD}"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1BEA6B78-E962-4E67-B890-2C2ED2134C9E}"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Classify the expected answer type.</a:t></a:r></a:p></p:txBody></p:sp><p:sp><p:nvSpPr><p:cNvPr id="23" name=""><a:extLst xmlns:a="http://schemas.openxmlformats.org/drawingml/2006/main"><a:ext uri="{FF2B5EF4-FFF2-40B4-BE49-F238E27FC236}"><a16:creationId id="{C1844241-DE6C-4D2A-B1EC-B2F9AC06F26D}"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E6CB046A-DB70-4E4A-9374-A4C29A8E09E7}"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C3157061-BCBB-434D-A6B5-A14703A8A808}"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Choose the answer shape.</a:t></a:r></a:p></p:txBody></p:sp><p:sp><p:nvSpPr><p:cNvPr id="26" name=""><a:extLst xmlns:a="http://schemas.openxmlformats.org/drawingml/2006/main"><a:ext uri="{FF2B5EF4-FFF2-40B4-BE49-F238E27FC236}"><a16:creationId id="{9E561A5F-1AB4-4B70-B58B-D60E64F4B385}"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135A94D2-DEC4-4DA7-AB8B-711A389A5480}"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98033043-EBDD-4148-B349-E1792A64A4D0}"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Make count questions start with counts.</a:t></a:r></a:p></p:txBody></p:sp><p:sp><p:nvSpPr><p:cNvPr id="29" name=""><a:extLst xmlns:a="http://schemas.openxmlformats.org/drawingml/2006/main"><a:ext uri="{FF2B5EF4-FFF2-40B4-BE49-F238E27FC236}"><a16:creationId id="{7F4CF9CC-ACF8-4F86-A267-D902AB8284C9}"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1F9ADA89-9690-4417-BD51-C98B43F08C8F}"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BBA84392-1C85-4102-A95B-3F97338FF85B}"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Make date questions start with dates or unavailable statements.</a:t></a:r></a:p></p:txBody></p:sp><p:sp><p:nvSpPr><p:cNvPr id="32" name=""><a:extLst xmlns:a="http://schemas.openxmlformats.org/drawingml/2006/main"><a:ext uri="{FF2B5EF4-FFF2-40B4-BE49-F238E27FC236}"><a16:creationId id="{0E4BD025-2B58-4A00-ACF0-55535BAA6E9C}"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96A1639E-D72A-430E-BFED-949630683F9E}"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7618F019-0E1B-4055-AAC8-25244F453692}"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answer_intent</a:t></a:r></a:p></p:txBody></p:sp><p:sp><p:nvSpPr><p:cNvPr id="35" name=""><a:extLst xmlns:a="http://schemas.openxmlformats.org/drawingml/2006/main"><a:ext uri="{FF2B5EF4-FFF2-40B4-BE49-F238E27FC236}"><a16:creationId id="{758CF84B-2AE8-4530-A43B-E3E35DFC2A4F}"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6B92AE47-46D4-4687-AAD0-78974FDE71FD}"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836D6613-C6E5-4FD6-BD31-C7A39E3969B1}"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Answer intent — choose count/list/date/status shape.</a:t></a:r></a:p></p:txBody></p:sp><p:sp><p:nvSpPr><p:cNvPr id="38" name=""><a:extLst xmlns:a="http://schemas.openxmlformats.org/drawingml/2006/main"><a:ext uri="{FF2B5EF4-FFF2-40B4-BE49-F238E27FC236}"><a16:creationId id="{9368945E-77F2-4383-8787-933607232DA1}"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3114FD29-36FC-4198-B44F-B6DFE6AA072A}"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answer_intent.py"><a:hlinkClick xmlns:a="http://schemas.openxmlformats.org/drawingml/2006/main" r:id="rIdModuleLink4" tooltip="Open /Users/tanqinyang/Desktop/dashsys-workshop-vldb/dashagent/answer_intent.py"/><a:extLst xmlns:a="http://schemas.openxmlformats.org/drawingml/2006/main"><a:ext uri="{FF2B5EF4-FFF2-40B4-BE49-F238E27FC236}"><a16:creationId id="{283CF32E-139C-46EF-AA03-F257FB86A1ED}"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answer_intent.py</a:t></a:r></a:p></p:txBody></p:sp><p:sp><p:nvSpPr><p:cNvPr id="41" name=""><a:extLst xmlns:a="http://schemas.openxmlformats.org/drawingml/2006/main"><a:ext uri="{FF2B5EF4-FFF2-40B4-BE49-F238E27FC236}"><a16:creationId id="{DAB2E63D-1B4C-4782-B0BE-210EA9CA8874}"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2AB47FA7-847E-42ED-8746-4387CD0C08F2}"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6FD9536C-3F6C-47DA-9071-023BDF1CDD41}"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Decides whether the answer should be a count, list, date, or status.</a:t></a:r></a:p></p:txBody></p:sp><p:sp><p:nvSpPr><p:cNvPr id="44" name=""><a:extLst xmlns:a="http://schemas.openxmlformats.org/drawingml/2006/main"><a:ext uri="{FF2B5EF4-FFF2-40B4-BE49-F238E27FC236}"><a16:creationId id="{616A8EBE-72CC-40D2-A099-2EA161B8CBD7}"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22</a:t></a:r></a:p></p:txBody></p:sp></p:spTree><p:extLst><p:ext uri="{BB962C8B-B14F-4D97-AF65-F5344CB8AC3E}"><p14:creationId val="733184209" xmlns:p14="http://schemas.microsoft.com/office/powerpoint/2010/main" /></p:ext></p:extLst></p:cSld></p:sld>
</file>

<file path=ppt/slides/slide23.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CA0F12C6-8C27-4111-8ED2-C53616E9A377}"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59882FEE-D6A6-4197-8906-5947218E52E5}"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CA5328A9-96A2-4B43-8BCD-9843B0A825B1}"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Claim decomposition: answer_claims</a:t></a:r></a:p></p:txBody></p:sp><p:sp><p:nvSpPr><p:cNvPr id="4" name=""><a:extLst xmlns:a="http://schemas.openxmlformats.org/drawingml/2006/main"><a:ext uri="{FF2B5EF4-FFF2-40B4-BE49-F238E27FC236}"><a16:creationId id="{26AF321B-94B3-4CFA-9099-26F32A727B6C}"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7FB89BAB-464F-4DA8-B609-4BF28DE99888}"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025C5BC8-79A6-4B1F-9A0F-BFC2BFC8C6A4}"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FBBAC938-F1D1-4CEA-AB4A-1A6EE552E2FC}"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F1545A92-A711-496F-8E4E-9D19C124C7DB}"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answer_claims split an answer into small facts so each one can be checked.</a:t></a:r></a:p></p:txBody></p:sp><p:sp><p:nvSpPr><p:cNvPr id="9" name=""><a:extLst xmlns:a="http://schemas.openxmlformats.org/drawingml/2006/main"><a:ext uri="{FF2B5EF4-FFF2-40B4-BE49-F238E27FC236}"><a16:creationId id="{18CA1604-4749-48F0-9A1A-138036024CD1}"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8339792B-59D4-4C8C-A734-B293E4F6F0CF}"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Claim splitting — break answer into checkable facts.</a:t></a:r></a:p></p:txBody></p:sp><p:sp><p:nvSpPr><p:cNvPr id="11" name=""><a:extLst xmlns:a="http://schemas.openxmlformats.org/drawingml/2006/main"><a:ext uri="{FF2B5EF4-FFF2-40B4-BE49-F238E27FC236}"><a16:creationId id="{A6D6D72E-3B07-4825-87B6-363B8CFAA725}"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2C9D1AEA-0558-4A72-BBC8-B835B6CE523A}"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99afffc2aacf4e10" xmlns:r="http://schemas.openxmlformats.org/officeDocument/2006/relationships" xmlns:a="http://schemas.openxmlformats.org/drawingml/2006/main" /><a:stretch xmlns:a="http://schemas.openxmlformats.org/drawingml/2006/main" /></p:blipFill><p:spPr><a:xfrm xmlns:a="http://schemas.openxmlformats.org/drawingml/2006/main"><a:off x="781050" y="2802567" /><a:ext cx="10629900" cy="1062367" /></a:xfrm><a:prstGeom prst="rect" xmlns:a="http://schemas.openxmlformats.org/drawingml/2006/main"><a:avLst /></a:prstGeom></p:spPr></p:pic><p:sp><p:nvSpPr><p:cNvPr id="14" name=""><a:extLst xmlns:a="http://schemas.openxmlformats.org/drawingml/2006/main"><a:ext uri="{FF2B5EF4-FFF2-40B4-BE49-F238E27FC236}"><a16:creationId id="{F337368D-BBC9-45BF-8512-050C69B79086}"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80296037-BFB9-4354-BA31-D03571129532}"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BCF9FFE6-14BA-4707-B07A-9D5D8FC9DAF9}"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346DB879-BA1D-407B-9279-38861FEBE1BD}"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757BEC28-93B3-414D-8805-C4693DED6F8D}"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ADCBE404-C4B6-4A92-BC6F-85D03DB6AB9C}"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Read a candidate answer.</a:t></a:r></a:p></p:txBody></p:sp><p:sp><p:nvSpPr><p:cNvPr id="20" name=""><a:extLst xmlns:a="http://schemas.openxmlformats.org/drawingml/2006/main"><a:ext uri="{FF2B5EF4-FFF2-40B4-BE49-F238E27FC236}"><a16:creationId id="{1D79F87D-CF5C-46F6-9344-11CE1B48EF37}"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0DD109F3-A323-4F51-8C0B-948D215AE9F4}"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8BFD8003-C211-4B3E-A073-EB47839811DC}"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Break it into factual claims.</a:t></a:r></a:p></p:txBody></p:sp><p:sp><p:nvSpPr><p:cNvPr id="23" name=""><a:extLst xmlns:a="http://schemas.openxmlformats.org/drawingml/2006/main"><a:ext uri="{FF2B5EF4-FFF2-40B4-BE49-F238E27FC236}"><a16:creationId id="{7B106CDD-AD65-4E9A-8846-C8F8A656A3EB}"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0196EB64-20E1-4149-8076-813C18275F84}"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4C7D0A38-3D3F-42C3-9B14-CBD603BB0D19}"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Mark number, name, date, status, and API-confirmation claims.</a:t></a:r></a:p></p:txBody></p:sp><p:sp><p:nvSpPr><p:cNvPr id="26" name=""><a:extLst xmlns:a="http://schemas.openxmlformats.org/drawingml/2006/main"><a:ext uri="{FF2B5EF4-FFF2-40B4-BE49-F238E27FC236}"><a16:creationId id="{E8FAAED0-0316-42D3-AD3F-72D43875C60E}"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6DA10865-8E1B-43DD-A2B7-B4AE5752B640}"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778CE4E5-778A-475A-AC81-7AA5DC69E003}"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Send these claims to the verifier.</a:t></a:r></a:p></p:txBody></p:sp><p:sp><p:nvSpPr><p:cNvPr id="29" name=""><a:extLst xmlns:a="http://schemas.openxmlformats.org/drawingml/2006/main"><a:ext uri="{FF2B5EF4-FFF2-40B4-BE49-F238E27FC236}"><a16:creationId id="{6922BA46-B4FD-4FF2-BDB1-D9DC59C1BC11}"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13DC743C-B451-450E-937E-E3FB8B8AE794}"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8B5169E1-0455-4D99-ADA0-8DB6EE191623}"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Make the answer auditable.</a:t></a:r></a:p></p:txBody></p:sp><p:sp><p:nvSpPr><p:cNvPr id="32" name=""><a:extLst xmlns:a="http://schemas.openxmlformats.org/drawingml/2006/main"><a:ext uri="{FF2B5EF4-FFF2-40B4-BE49-F238E27FC236}"><a16:creationId id="{C41ABD70-155B-400B-960A-2336510DE100}"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89E2AE89-24CF-4B76-B96B-518E39CD2675}"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016815B1-D6BB-4271-B624-05095C6D8612}"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answer_claims</a:t></a:r></a:p></p:txBody></p:sp><p:sp><p:nvSpPr><p:cNvPr id="35" name=""><a:extLst xmlns:a="http://schemas.openxmlformats.org/drawingml/2006/main"><a:ext uri="{FF2B5EF4-FFF2-40B4-BE49-F238E27FC236}"><a16:creationId id="{C27A0B9A-33ED-46E4-8D73-3111E5C8E602}"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79BE92C6-763F-4687-857F-4F063B82665E}"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52D6C018-1814-4B6D-A198-D0A86DFDB7C0}"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Claim splitting — break answer into checkable facts.</a:t></a:r></a:p></p:txBody></p:sp><p:sp><p:nvSpPr><p:cNvPr id="38" name=""><a:extLst xmlns:a="http://schemas.openxmlformats.org/drawingml/2006/main"><a:ext uri="{FF2B5EF4-FFF2-40B4-BE49-F238E27FC236}"><a16:creationId id="{D37C2E18-1665-4BF3-833A-DFC05E0D62D7}"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E11DC7F6-7979-444F-B02F-FF7034A1703D}"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answer_claims.py"><a:hlinkClick xmlns:a="http://schemas.openxmlformats.org/drawingml/2006/main" r:id="rIdModuleLink4" tooltip="Open /Users/tanqinyang/Desktop/dashsys-workshop-vldb/dashagent/answer_claims.py"/><a:extLst xmlns:a="http://schemas.openxmlformats.org/drawingml/2006/main"><a:ext uri="{FF2B5EF4-FFF2-40B4-BE49-F238E27FC236}"><a16:creationId id="{CC9CE88B-C766-4DBA-AB6B-489333694E54}"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answer_claims.py</a:t></a:r></a:p></p:txBody></p:sp><p:sp><p:nvSpPr><p:cNvPr id="41" name=""><a:extLst xmlns:a="http://schemas.openxmlformats.org/drawingml/2006/main"><a:ext uri="{FF2B5EF4-FFF2-40B4-BE49-F238E27FC236}"><a16:creationId id="{97A19ACB-DE26-430F-A443-037F69E6D633}"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B10D8BCB-8B77-44D1-BF33-4B053A5083B0}"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2E89144F-7DFB-4B93-80B8-250CDB017C65}"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Breaks the answer into facts that can be checked.</a:t></a:r></a:p></p:txBody></p:sp><p:sp><p:nvSpPr><p:cNvPr id="44" name=""><a:extLst xmlns:a="http://schemas.openxmlformats.org/drawingml/2006/main"><a:ext uri="{FF2B5EF4-FFF2-40B4-BE49-F238E27FC236}"><a16:creationId id="{44CEEB9D-0B22-4B6B-90B1-3C3297FA848C}"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23</a:t></a:r></a:p></p:txBody></p:sp></p:spTree><p:extLst><p:ext uri="{BB962C8B-B14F-4D97-AF65-F5344CB8AC3E}"><p14:creationId val="1092161281" xmlns:p14="http://schemas.microsoft.com/office/powerpoint/2010/main" /></p:ext></p:extLst></p:cSld></p:sld>
</file>

<file path=ppt/slides/slide24.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5F1827E8-BAF1-44EB-91CF-B4346D6A067C}"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AE526B1E-4ED6-4617-B2B0-4B53C33F52C0}"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E6951F05-348E-42C4-9C55-40ABB7E127CD}"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Groundedness checking: answer_verifier</a:t></a:r></a:p></p:txBody></p:sp><p:sp><p:nvSpPr><p:cNvPr id="4" name=""><a:extLst xmlns:a="http://schemas.openxmlformats.org/drawingml/2006/main"><a:ext uri="{FF2B5EF4-FFF2-40B4-BE49-F238E27FC236}"><a16:creationId id="{D526ADC7-9255-48DD-AE99-655CDC2C6A86}"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5832BA3C-EC70-407E-A99A-9B982917B2B2}"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03A01DC4-75DA-4C97-A566-02D4AB6D0A1D}"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07A2884E-7F63-406F-A328-678573367089}"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F05DAB5C-AC1A-403F-856A-059A5613093E}"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answer_verifier is the fact-checker for the final answer.</a:t></a:r></a:p></p:txBody></p:sp><p:sp><p:nvSpPr><p:cNvPr id="9" name=""><a:extLst xmlns:a="http://schemas.openxmlformats.org/drawingml/2006/main"><a:ext uri="{FF2B5EF4-FFF2-40B4-BE49-F238E27FC236}"><a16:creationId id="{2A09792A-2598-4F8F-B92F-C9C85CD1AF9D}"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7D690005-22EC-4024-AC8E-0D330EF5FD0D}"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Answer fact-checking — verify claims against evidence.</a:t></a:r></a:p></p:txBody></p:sp><p:sp><p:nvSpPr><p:cNvPr id="11" name=""><a:extLst xmlns:a="http://schemas.openxmlformats.org/drawingml/2006/main"><a:ext uri="{FF2B5EF4-FFF2-40B4-BE49-F238E27FC236}"><a16:creationId id="{DFAD3E4A-CD14-45FF-9D98-161DADBBFD23}"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9562D1E2-3E0C-4778-8719-A63393CA1448}"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c7f3d7af85ac4a25" xmlns:r="http://schemas.openxmlformats.org/officeDocument/2006/relationships" xmlns:a="http://schemas.openxmlformats.org/drawingml/2006/main" /><a:stretch xmlns:a="http://schemas.openxmlformats.org/drawingml/2006/main" /></p:blipFill><p:spPr><a:xfrm xmlns:a="http://schemas.openxmlformats.org/drawingml/2006/main"><a:off x="781050" y="2653990" /><a:ext cx="10629900" cy="1359521" /></a:xfrm><a:prstGeom prst="rect" xmlns:a="http://schemas.openxmlformats.org/drawingml/2006/main"><a:avLst /></a:prstGeom></p:spPr></p:pic><p:sp><p:nvSpPr><p:cNvPr id="14" name=""><a:extLst xmlns:a="http://schemas.openxmlformats.org/drawingml/2006/main"><a:ext uri="{FF2B5EF4-FFF2-40B4-BE49-F238E27FC236}"><a16:creationId id="{34683C21-F1DC-4958-84E7-76ACF7DECCE5}"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E73BD975-8E6C-4C82-A4CC-A2E8C02FBCE2}"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B4ABC720-CB8F-447C-91A3-6FFC24721804}"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E1E36957-2734-45C0-ABDC-6C666101A38A}"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3AA6D2F5-7AEE-4DB5-B00E-DB4FDC77EA97}"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7CD7026B-4631-4964-B6EC-8FCA3A3F6C53}"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Compare claims with evidence slots.</a:t></a:r></a:p></p:txBody></p:sp><p:sp><p:nvSpPr><p:cNvPr id="20" name=""><a:extLst xmlns:a="http://schemas.openxmlformats.org/drawingml/2006/main"><a:ext uri="{FF2B5EF4-FFF2-40B4-BE49-F238E27FC236}"><a16:creationId id="{7496CABA-EE76-4202-B33E-6AF3EB40547C}"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12F4A3F7-0EFC-4613-B3B4-6AC832B1E197}"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0BBCE898-3A3E-4520-8081-017CBED723A8}"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Reject unsupported names, numbers, dates, and statuses.</a:t></a:r></a:p></p:txBody></p:sp><p:sp><p:nvSpPr><p:cNvPr id="23" name=""><a:extLst xmlns:a="http://schemas.openxmlformats.org/drawingml/2006/main"><a:ext uri="{FF2B5EF4-FFF2-40B4-BE49-F238E27FC236}"><a16:creationId id="{02D1B553-9159-480C-9C8F-9C9A5DA00E49}"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03E22C10-1506-4E11-8C17-EF13BA999BAA}"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D855DF01-9867-46D3-B3DB-1683D3E1B811}"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If API was dry-run, require a caveat.</a:t></a:r></a:p></p:txBody></p:sp><p:sp><p:nvSpPr><p:cNvPr id="26" name=""><a:extLst xmlns:a="http://schemas.openxmlformats.org/drawingml/2006/main"><a:ext uri="{FF2B5EF4-FFF2-40B4-BE49-F238E27FC236}"><a16:creationId id="{AAB974D9-1DCD-49B3-9D1E-2525E077917B}"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3AEF5174-A8CF-496B-A026-5E43521B3944}"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D2A9CD60-7F79-4E14-9D1F-60DEAFE5AD40}"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If SQL and API disagree, mention the conflict.</a:t></a:r></a:p></p:txBody></p:sp><p:sp><p:nvSpPr><p:cNvPr id="29" name=""><a:extLst xmlns:a="http://schemas.openxmlformats.org/drawingml/2006/main"><a:ext uri="{FF2B5EF4-FFF2-40B4-BE49-F238E27FC236}"><a16:creationId id="{946222FF-06AD-4DFB-AAB3-878F11BE3058}"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AD2D323B-D1E3-403C-8F6F-005011FAA571}"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DA87B236-50AA-4231-A5B5-0FED4D5B3012}"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Rewrite unsafe answers.</a:t></a:r></a:p></p:txBody></p:sp><p:sp><p:nvSpPr><p:cNvPr id="32" name=""><a:extLst xmlns:a="http://schemas.openxmlformats.org/drawingml/2006/main"><a:ext uri="{FF2B5EF4-FFF2-40B4-BE49-F238E27FC236}"><a16:creationId id="{A59ACAE9-B067-4783-9D45-C8DFD1251708}"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81347145-DC33-492C-8F75-FF133A96F6D6}"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AFBD2A42-D2B0-4D1A-A071-F22517C157D2}"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answer_verifier</a:t></a:r></a:p></p:txBody></p:sp><p:sp><p:nvSpPr><p:cNvPr id="35" name=""><a:extLst xmlns:a="http://schemas.openxmlformats.org/drawingml/2006/main"><a:ext uri="{FF2B5EF4-FFF2-40B4-BE49-F238E27FC236}"><a16:creationId id="{155CC55B-FEA3-4FCF-8FDB-E31885FC3728}"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4686F0D4-7062-47F4-8453-795FD6A9E955}"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052CE3C4-12B4-4BC8-A53C-670162532DE6}"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Answer fact-checking — verify claims against evidence.</a:t></a:r></a:p></p:txBody></p:sp><p:sp><p:nvSpPr><p:cNvPr id="38" name=""><a:extLst xmlns:a="http://schemas.openxmlformats.org/drawingml/2006/main"><a:ext uri="{FF2B5EF4-FFF2-40B4-BE49-F238E27FC236}"><a16:creationId id="{2C72FB21-03A5-462E-8049-6F4ACDA552B2}"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40C36540-B423-47F4-894D-F9499B72D546}"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answer_verifier.py"><a:hlinkClick xmlns:a="http://schemas.openxmlformats.org/drawingml/2006/main" r:id="rIdModuleLink4" tooltip="Open /Users/tanqinyang/Desktop/dashsys-workshop-vldb/dashagent/answer_verifier.py"/><a:extLst xmlns:a="http://schemas.openxmlformats.org/drawingml/2006/main"><a:ext uri="{FF2B5EF4-FFF2-40B4-BE49-F238E27FC236}"><a16:creationId id="{08847671-F429-4DC6-B608-ABC01C3077FF}"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answer_verifier.py</a:t></a:r></a:p></p:txBody></p:sp><p:sp><p:nvSpPr><p:cNvPr id="41" name=""><a:extLst xmlns:a="http://schemas.openxmlformats.org/drawingml/2006/main"><a:ext uri="{FF2B5EF4-FFF2-40B4-BE49-F238E27FC236}"><a16:creationId id="{34F72394-0CBD-45D8-B50D-A3853B178A11}"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F1D436D1-0EB2-4956-B350-C51525877CC5}"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22C876D3-4CB5-4CBA-A060-FA45FD1605D5}"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Checks that the answer is supported by evidence.</a:t></a:r></a:p></p:txBody></p:sp><p:sp><p:nvSpPr><p:cNvPr id="44" name=""><a:extLst xmlns:a="http://schemas.openxmlformats.org/drawingml/2006/main"><a:ext uri="{FF2B5EF4-FFF2-40B4-BE49-F238E27FC236}"><a16:creationId id="{E20EBF77-3823-4376-B41B-BC0B61AE20CA}"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24</a:t></a:r></a:p></p:txBody></p:sp></p:spTree><p:extLst><p:ext uri="{BB962C8B-B14F-4D97-AF65-F5344CB8AC3E}"><p14:creationId val="1489177700" xmlns:p14="http://schemas.microsoft.com/office/powerpoint/2010/main" /></p:ext></p:extLst></p:cSld></p:sld>
</file>

<file path=ppt/slides/slide25.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E4C994BD-7BF3-4F0D-B4E9-5902369644CF}"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2F560263-3F22-4659-959D-90E31856E7F1}"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CCC224E3-83FD-4BE5-8F70-09F3F703EA00}"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Deterministic reranking: answer_reranker</a:t></a:r></a:p></p:txBody></p:sp><p:sp><p:nvSpPr><p:cNvPr id="4" name=""><a:extLst xmlns:a="http://schemas.openxmlformats.org/drawingml/2006/main"><a:ext uri="{FF2B5EF4-FFF2-40B4-BE49-F238E27FC236}"><a16:creationId id="{2247C81A-7989-4232-81E9-8D950B1ECA61}"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048AA8BA-8DAC-4738-B170-0C15330A5E43}"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7D707A43-4140-49C0-A01F-6B3DE4CDA7D8}"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B8071538-91F5-446E-B3D2-FB8EF7DF27F7}"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AA3B7205-D48E-4057-B09E-9A8E4DC3AC75}"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answer_reranker chooses the best answer from safe options without calling more tools.</a:t></a:r></a:p></p:txBody></p:sp><p:sp><p:nvSpPr><p:cNvPr id="9" name=""><a:extLst xmlns:a="http://schemas.openxmlformats.org/drawingml/2006/main"><a:ext uri="{FF2B5EF4-FFF2-40B4-BE49-F238E27FC236}"><a16:creationId id="{7FFDD096-0C4B-4543-9807-5501DA4C5A80}"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921CA854-417F-42B0-9DE1-3F4BBF493D73}"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Safe answer selection — choose the best supported answer.</a:t></a:r></a:p></p:txBody></p:sp><p:sp><p:nvSpPr><p:cNvPr id="11" name=""><a:extLst xmlns:a="http://schemas.openxmlformats.org/drawingml/2006/main"><a:ext uri="{FF2B5EF4-FFF2-40B4-BE49-F238E27FC236}"><a16:creationId id="{784EA03A-EF86-4C60-BB88-7DADD7D7B639}"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962A49D7-C0CC-4854-8093-B9860E6EEBDD}"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447d8711631c42f8" xmlns:r="http://schemas.openxmlformats.org/officeDocument/2006/relationships" xmlns:a="http://schemas.openxmlformats.org/drawingml/2006/main" /><a:stretch xmlns:a="http://schemas.openxmlformats.org/drawingml/2006/main" /></p:blipFill><p:spPr><a:xfrm xmlns:a="http://schemas.openxmlformats.org/drawingml/2006/main"><a:off x="781050" y="2534226" /><a:ext cx="10629900" cy="1599048" /></a:xfrm><a:prstGeom prst="rect" xmlns:a="http://schemas.openxmlformats.org/drawingml/2006/main"><a:avLst /></a:prstGeom></p:spPr></p:pic><p:sp><p:nvSpPr><p:cNvPr id="14" name=""><a:extLst xmlns:a="http://schemas.openxmlformats.org/drawingml/2006/main"><a:ext uri="{FF2B5EF4-FFF2-40B4-BE49-F238E27FC236}"><a16:creationId id="{55683A8A-D984-41CD-BFF8-699ACB8F75EA}"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6EB34489-1749-4C55-BAF7-1DD8B0EB5845}"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9498670A-5DD4-4539-91E3-FA4C8988B34C}"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32861B54-ED0B-4149-B232-352C295A2397}"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EB2F6386-47C5-4231-9DF6-869CDAFBD3AA}"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7589333C-6D1D-4123-B896-27F9F58EF866}"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Create a few candidate answers from the same evidence.</a:t></a:r></a:p></p:txBody></p:sp><p:sp><p:nvSpPr><p:cNvPr id="20" name=""><a:extLst xmlns:a="http://schemas.openxmlformats.org/drawingml/2006/main"><a:ext uri="{FF2B5EF4-FFF2-40B4-BE49-F238E27FC236}"><a16:creationId id="{ED2B9CDD-A158-4EEE-9638-BCEE80BA613B}"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648DD41C-7655-4884-BF62-668D658FF829}"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476EEA6A-4795-4593-8B09-627C45C84027}"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Verify each one.</a:t></a:r></a:p></p:txBody></p:sp><p:sp><p:nvSpPr><p:cNvPr id="23" name=""><a:extLst xmlns:a="http://schemas.openxmlformats.org/drawingml/2006/main"><a:ext uri="{FF2B5EF4-FFF2-40B4-BE49-F238E27FC236}"><a16:creationId id="{07B8785B-31F0-4EA8-9AB0-78140AE4239F}"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75946483-F122-416D-88B1-8A9A21FBAD59}"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CD04B461-2534-49C3-A918-2AF354ED7632}"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Score support, intent match, style, and brevity.</a:t></a:r></a:p></p:txBody></p:sp><p:sp><p:nvSpPr><p:cNvPr id="26" name=""><a:extLst xmlns:a="http://schemas.openxmlformats.org/drawingml/2006/main"><a:ext uri="{FF2B5EF4-FFF2-40B4-BE49-F238E27FC236}"><a16:creationId id="{500923D0-9CDF-47E4-8746-3E72E55BB885}"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7A8C7DCC-EEF0-4022-916C-BDFE70E526CA}"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1085C9E1-0DB6-4077-8EBA-C41A6B71C9F7}"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Pick the best verifier-passing answer.</a:t></a:r></a:p></p:txBody></p:sp><p:sp><p:nvSpPr><p:cNvPr id="29" name=""><a:extLst xmlns:a="http://schemas.openxmlformats.org/drawingml/2006/main"><a:ext uri="{FF2B5EF4-FFF2-40B4-BE49-F238E27FC236}"><a16:creationId id="{5A89C32B-4402-4F23-872C-66D4CCB11314}"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E1724093-E50C-4B11-9306-11D9603EE442}"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CE2A91F6-4D21-493C-8F6C-B8A24C6151AC}"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Return one final answer.</a:t></a:r></a:p></p:txBody></p:sp><p:sp><p:nvSpPr><p:cNvPr id="32" name=""><a:extLst xmlns:a="http://schemas.openxmlformats.org/drawingml/2006/main"><a:ext uri="{FF2B5EF4-FFF2-40B4-BE49-F238E27FC236}"><a16:creationId id="{D17A5667-89FD-4018-87AE-1ACDB2DFB1E9}"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9B9E8B1A-B86F-43BC-9D25-8265F929034D}"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C0CB997B-8814-4403-973C-BE8498CCD986}"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answer_reranker</a:t></a:r></a:p></p:txBody></p:sp><p:sp><p:nvSpPr><p:cNvPr id="35" name=""><a:extLst xmlns:a="http://schemas.openxmlformats.org/drawingml/2006/main"><a:ext uri="{FF2B5EF4-FFF2-40B4-BE49-F238E27FC236}"><a16:creationId id="{1D26DC17-CA9C-47C5-A22F-A02719EB1C0B}"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E207795B-E2DD-42CB-B9AF-EF2E10D04087}"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509DD2FE-CBB7-4FB2-8EB6-511AC06FDBFA}"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Safe answer selection — choose the best supported answer.</a:t></a:r></a:p></p:txBody></p:sp><p:sp><p:nvSpPr><p:cNvPr id="38" name=""><a:extLst xmlns:a="http://schemas.openxmlformats.org/drawingml/2006/main"><a:ext uri="{FF2B5EF4-FFF2-40B4-BE49-F238E27FC236}"><a16:creationId id="{E48017E6-9A15-4824-BEA9-6B36F6154D7A}"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20606B01-E5CE-469C-A7CB-63B1088DD61B}"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answer_reranker.py"><a:hlinkClick xmlns:a="http://schemas.openxmlformats.org/drawingml/2006/main" r:id="rIdModuleLink4" tooltip="Open /Users/tanqinyang/Desktop/dashsys-workshop-vldb/dashagent/answer_reranker.py"/><a:extLst xmlns:a="http://schemas.openxmlformats.org/drawingml/2006/main"><a:ext uri="{FF2B5EF4-FFF2-40B4-BE49-F238E27FC236}"><a16:creationId id="{DA5186D5-BE49-4EE2-8B43-4F061306C525}"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answer_reranker.py</a:t></a:r></a:p></p:txBody></p:sp><p:sp><p:nvSpPr><p:cNvPr id="41" name=""><a:extLst xmlns:a="http://schemas.openxmlformats.org/drawingml/2006/main"><a:ext uri="{FF2B5EF4-FFF2-40B4-BE49-F238E27FC236}"><a16:creationId id="{9198E3C9-7A38-47F2-BDC9-D62C07B2A702}"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2" name=""><a:extLst xmlns:a="http://schemas.openxmlformats.org/drawingml/2006/main"><a:ext uri="{FF2B5EF4-FFF2-40B4-BE49-F238E27FC236}"><a16:creationId id="{BEF86DC0-66A8-4D91-9F61-0D329A8F7015}"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3" name=""><a:extLst xmlns:a="http://schemas.openxmlformats.org/drawingml/2006/main"><a:ext uri="{FF2B5EF4-FFF2-40B4-BE49-F238E27FC236}"><a16:creationId id="{76FF1478-6620-47AD-952A-797703A3799D}"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Chooses the best safe answer.</a:t></a:r></a:p></p:txBody></p:sp><p:sp><p:nvSpPr><p:cNvPr id="44" name=""><a:extLst xmlns:a="http://schemas.openxmlformats.org/drawingml/2006/main"><a:ext uri="{FF2B5EF4-FFF2-40B4-BE49-F238E27FC236}"><a16:creationId id="{99BF5EC8-7A76-46AA-B2E5-E37AA6AA67AB}"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25</a:t></a:r></a:p></p:txBody></p:sp></p:spTree><p:extLst><p:ext uri="{BB962C8B-B14F-4D97-AF65-F5344CB8AC3E}"><p14:creationId val="1704059383" xmlns:p14="http://schemas.microsoft.com/office/powerpoint/2010/main" /></p:ext></p:extLst></p:cSld></p:sld>
</file>

<file path=ppt/slides/slide26.xml><?xml version="1.0" encoding="utf-8"?><p:sld xmlns:p="http://schemas.openxmlformats.org/presentationml/2006/main"><p:cSld><p:bg><p:bgPr><a:solidFill xmlns:a="http://schemas.openxmlformats.org/drawingml/2006/main"><a:srgbClr val="F8FBFD" /></a:solidFill></p:bgPr></p:bg><p:spTree><p:nvGrpSpPr><p:cNvPr id="1" name="" /><p:cNvGrpSpPr /><p:nvPr /></p:nvGrpSpPr><p:grpSpPr><a:xfrm xmlns:a="http://schemas.openxmlformats.org/drawingml/2006/main" /></p:grpSpPr><p:sp><p:nvSpPr><p:cNvPr id="1" name=""><a:extLst xmlns:a="http://schemas.openxmlformats.org/drawingml/2006/main"><a:ext uri="{FF2B5EF4-FFF2-40B4-BE49-F238E27FC236}"><a16:creationId id="{28DFABC5-8CA4-4D02-8178-40FA826F629B}" xmlns:a16="http://schemas.microsoft.com/office/drawing/2014/main" /></a:ext></a:extLst></p:cNvPr><p:cNvSpPr><a:spLocks noGrp="1" xmlns:a="http://schemas.openxmlformats.org/drawingml/2006/main" /></p:cNvSpPr><p:nvPr /></p:nvSpPr><p:spPr><a:xfrm xmlns:a="http://schemas.openxmlformats.org/drawingml/2006/main"><a:off x="0" y="0" /><a:ext cx="12192000" cy="76200" /></a:xfrm><a:prstGeom prst="rect" xmlns:a="http://schemas.openxmlformats.org/drawingml/2006/main"><a:avLst /></a:prstGeom><a:solidFill xmlns:a="http://schemas.openxmlformats.org/drawingml/2006/main"><a:srgbClr val="0E2A47" /></a:solidFill><a:ln w="0" xmlns:a="http://schemas.openxmlformats.org/drawingml/2006/main"><a:solidFill><a:srgbClr val="000000"><a:alpha val="0" /></a:srgbClr></a:solidFill><a:prstDash val="solid" /></a:ln></p:spPr></p:sp><p:sp><p:nvSpPr><p:cNvPr id="2" name=""><a:extLst xmlns:a="http://schemas.openxmlformats.org/drawingml/2006/main"><a:ext uri="{FF2B5EF4-FFF2-40B4-BE49-F238E27FC236}"><a16:creationId id="{22D7E569-5B59-491F-9C96-16D3EF310023}" xmlns:a16="http://schemas.microsoft.com/office/drawing/2014/main" /></a:ext></a:extLst></p:cNvPr><p:cNvSpPr><a:spLocks noGrp="1" xmlns:a="http://schemas.openxmlformats.org/drawingml/2006/main" /></p:cNvSpPr><p:nvPr /></p:nvSpPr><p:spPr><a:xfrm xmlns:a="http://schemas.openxmlformats.org/drawingml/2006/main"><a:off x="552450" y="304800" /><a:ext cx="4762500" cy="2095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75" b="1"><a:solidFill><a:srgbClr val="0B8F8A" /></a:solidFill><a:latin typeface="Aptos" /><a:ea typeface="Aptos" /><a:cs typeface="Aptos" /></a:defRPr></a:pPr><a:r><a:rPr sz="975" b="1"><a:solidFill><a:srgbClr val="0B8F8A" /></a:solidFill><a:latin typeface="Aptos" /><a:ea typeface="Aptos" /><a:cs typeface="Aptos" /></a:rPr><a:t>DASHSys Systems Track</a:t></a:r></a:p></p:txBody></p:sp><p:sp><p:nvSpPr><p:cNvPr id="3" name=""><a:extLst xmlns:a="http://schemas.openxmlformats.org/drawingml/2006/main"><a:ext uri="{FF2B5EF4-FFF2-40B4-BE49-F238E27FC236}"><a16:creationId id="{1BD728F7-5E8B-4DAB-ACF5-883C8B5640BD}" xmlns:a16="http://schemas.microsoft.com/office/drawing/2014/main" /></a:ext></a:extLst></p:cNvPr><p:cNvSpPr><a:spLocks noGrp="1" xmlns:a="http://schemas.openxmlformats.org/drawingml/2006/main" /></p:cNvSpPr><p:nvPr /></p:nvSpPr><p:spPr><a:xfrm xmlns:a="http://schemas.openxmlformats.org/drawingml/2006/main"><a:off x="552450" y="552450" /><a:ext cx="105727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2175" b="1"><a:solidFill><a:srgbClr val="172033" /></a:solidFill><a:latin typeface="Aptos Display" /><a:ea typeface="Aptos Display" /><a:cs typeface="Aptos Display" /></a:defRPr></a:pPr><a:r><a:rPr sz="2175" b="1"><a:solidFill><a:srgbClr val="172033" /></a:solidFill><a:latin typeface="Aptos Display" /><a:ea typeface="Aptos Display" /><a:cs typeface="Aptos Display" /></a:rPr><a:t>Error observability: answer_diagnostics</a:t></a:r></a:p></p:txBody></p:sp><p:sp><p:nvSpPr><p:cNvPr id="4" name=""><a:extLst xmlns:a="http://schemas.openxmlformats.org/drawingml/2006/main"><a:ext uri="{FF2B5EF4-FFF2-40B4-BE49-F238E27FC236}"><a16:creationId id="{68C806BF-C0D4-47AA-AC90-102ECD621935}" xmlns:a16="http://schemas.microsoft.com/office/drawing/2014/main" /></a:ext></a:extLst></p:cNvPr><p:cNvSpPr><a:spLocks noGrp="1" xmlns:a="http://schemas.openxmlformats.org/drawingml/2006/main" /></p:cNvSpPr><p:nvPr /></p:nvSpPr><p:spPr><a:xfrm xmlns:a="http://schemas.openxmlformats.org/drawingml/2006/main"><a:off x="552450" y="1181100" /><a:ext cx="11087100" cy="14288" /></a:xfrm><a:prstGeom prst="rect" xmlns:a="http://schemas.openxmlformats.org/drawingml/2006/main"><a:avLst /></a:prstGeom><a:solidFill xmlns:a="http://schemas.openxmlformats.org/drawingml/2006/main"><a:srgbClr val="D8E2EA" /></a:solidFill><a:ln w="0" xmlns:a="http://schemas.openxmlformats.org/drawingml/2006/main"><a:solidFill><a:srgbClr val="000000"><a:alpha val="0" /></a:srgbClr></a:solidFill><a:prstDash val="solid" /></a:ln></p:spPr></p:sp><p:sp><p:nvSpPr><p:cNvPr id="5" name=""><a:extLst xmlns:a="http://schemas.openxmlformats.org/drawingml/2006/main"><a:ext uri="{FF2B5EF4-FFF2-40B4-BE49-F238E27FC236}"><a16:creationId id="{1219F712-22CB-43D4-9468-42F8BB39C669}" xmlns:a16="http://schemas.microsoft.com/office/drawing/2014/main" /></a:ext></a:extLst></p:cNvPr><p:cNvSpPr><a:spLocks noGrp="1" xmlns:a="http://schemas.openxmlformats.org/drawingml/2006/main" /></p:cNvSpPr><p:nvPr /></p:nvSpPr><p:spPr><a:xfrm xmlns:a="http://schemas.openxmlformats.org/drawingml/2006/main"><a:off x="552450" y="1257300" /><a:ext cx="10191750" cy="361950" /></a:xfrm><a:prstGeom prst="rect" xmlns:a="http://schemas.openxmlformats.org/drawingml/2006/main"><a:avLst /></a:prstGeom><a:solidFill xmlns:a="http://schemas.openxmlformats.org/drawingml/2006/main"><a:srgbClr val="EEF8FA" /></a:solidFill><a:ln w="9525" xmlns:a="http://schemas.openxmlformats.org/drawingml/2006/main"><a:solidFill><a:srgbClr val="BDE7E5" /></a:solidFill><a:prstDash val="solid" /></a:ln></p:spPr></p:sp><p:sp><p:nvSpPr><p:cNvPr id="6" name=""><a:extLst xmlns:a="http://schemas.openxmlformats.org/drawingml/2006/main"><a:ext uri="{FF2B5EF4-FFF2-40B4-BE49-F238E27FC236}"><a16:creationId id="{A8419D47-D074-4D92-9E13-3C6DA7B921F5}" xmlns:a16="http://schemas.microsoft.com/office/drawing/2014/main" /></a:ext></a:extLst></p:cNvPr><p:cNvSpPr><a:spLocks noGrp="1" xmlns:a="http://schemas.openxmlformats.org/drawingml/2006/main" /></p:cNvSpPr><p:nvPr /></p:nvSpPr><p:spPr><a:xfrm xmlns:a="http://schemas.openxmlformats.org/drawingml/2006/main"><a:off x="552450" y="1257300" /><a:ext cx="57150" cy="361950" /></a:xfrm><a:prstGeom prst="rect" xmlns:a="http://schemas.openxmlformats.org/drawingml/2006/main"><a:avLst /></a:prstGeom><a:solidFill xmlns:a="http://schemas.openxmlformats.org/drawingml/2006/main"><a:srgbClr val="0B8F8A" /></a:solidFill><a:ln w="0" xmlns:a="http://schemas.openxmlformats.org/drawingml/2006/main"><a:solidFill><a:srgbClr val="000000"><a:alpha val="0" /></a:srgbClr></a:solidFill><a:prstDash val="solid" /></a:ln></p:spPr></p:sp><p:sp><p:nvSpPr><p:cNvPr id="7" name=""><a:extLst xmlns:a="http://schemas.openxmlformats.org/drawingml/2006/main"><a:ext uri="{FF2B5EF4-FFF2-40B4-BE49-F238E27FC236}"><a16:creationId id="{3317B8F3-9CDF-42C5-9311-17A3A3F3487C}" xmlns:a16="http://schemas.microsoft.com/office/drawing/2014/main" /></a:ext></a:extLst></p:cNvPr><p:cNvSpPr><a:spLocks noGrp="1" xmlns:a="http://schemas.openxmlformats.org/drawingml/2006/main" /></p:cNvSpPr><p:nvPr /></p:nvSpPr><p:spPr><a:xfrm xmlns:a="http://schemas.openxmlformats.org/drawingml/2006/main"><a:off x="685800" y="1333500" /><a:ext cx="9906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0B8F8A" /></a:solidFill><a:latin typeface="Aptos" /><a:ea typeface="Aptos" /><a:cs typeface="Aptos" /></a:defRPr></a:pPr><a:r><a:rPr sz="735" b="1"><a:solidFill><a:srgbClr val="0B8F8A" /></a:solidFill><a:latin typeface="Aptos" /><a:ea typeface="Aptos" /><a:cs typeface="Aptos" /></a:rPr><a:t>Speaking cue</a:t></a:r></a:p></p:txBody></p:sp><p:sp><p:nvSpPr><p:cNvPr id="8" name=""><a:extLst xmlns:a="http://schemas.openxmlformats.org/drawingml/2006/main"><a:ext uri="{FF2B5EF4-FFF2-40B4-BE49-F238E27FC236}"><a16:creationId id="{3A71DEF1-CFC2-40BB-8B08-B0B30A7351F7}" xmlns:a16="http://schemas.microsoft.com/office/drawing/2014/main" /></a:ext></a:extLst></p:cNvPr><p:cNvSpPr><a:spLocks noGrp="1" xmlns:a="http://schemas.openxmlformats.org/drawingml/2006/main" /></p:cNvSpPr><p:nvPr /></p:nvSpPr><p:spPr><a:xfrm xmlns:a="http://schemas.openxmlformats.org/drawingml/2006/main"><a:off x="1714500" y="1314450" /><a:ext cx="8877300" cy="2667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40" b="0"><a:solidFill><a:srgbClr val="172033" /></a:solidFill><a:latin typeface="Aptos" /><a:ea typeface="Aptos" /><a:cs typeface="Aptos" /></a:defRPr></a:pPr><a:r><a:rPr sz="840" b="0"><a:solidFill><a:srgbClr val="172033" /></a:solidFill><a:latin typeface="Aptos" /><a:ea typeface="Aptos" /><a:cs typeface="Aptos" /></a:rPr><a:t>answer_diagnostics are debugging notes that explain why an answer passed or failed.</a:t></a:r></a:p></p:txBody></p:sp><p:sp><p:nvSpPr><p:cNvPr id="9" name=""><a:extLst xmlns:a="http://schemas.openxmlformats.org/drawingml/2006/main"><a:ext uri="{FF2B5EF4-FFF2-40B4-BE49-F238E27FC236}"><a16:creationId id="{AFD3DAEC-764E-446E-A741-4CA02F3A0C6A}" xmlns:a16="http://schemas.microsoft.com/office/drawing/2014/main" /></a:ext></a:extLst></p:cNvPr><p:cNvSpPr><a:spLocks noGrp="1" xmlns:a="http://schemas.openxmlformats.org/drawingml/2006/main" /></p:cNvSpPr><p:nvPr /></p:nvSpPr><p:spPr><a:xfrm xmlns:a="http://schemas.openxmlformats.org/drawingml/2006/main"><a:off x="552450" y="1695450" /><a:ext cx="5524500" cy="266700" /></a:xfrm><a:prstGeom prst="rect" xmlns:a="http://schemas.openxmlformats.org/drawingml/2006/main"><a:avLst /></a:prstGeom><a:solidFill xmlns:a="http://schemas.openxmlformats.org/drawingml/2006/main"><a:srgbClr val="F5F3FF" /></a:solidFill><a:ln w="9525" xmlns:a="http://schemas.openxmlformats.org/drawingml/2006/main"><a:solidFill><a:srgbClr val="DDD6FE" /></a:solidFill><a:prstDash val="solid" /></a:ln></p:spPr></p:sp><p:sp><p:nvSpPr><p:cNvPr id="10" name=""><a:extLst xmlns:a="http://schemas.openxmlformats.org/drawingml/2006/main"><a:ext uri="{FF2B5EF4-FFF2-40B4-BE49-F238E27FC236}"><a16:creationId id="{4200B35A-8BB1-47DD-9CE1-0F67C283ADFF}" xmlns:a16="http://schemas.microsoft.com/office/drawing/2014/main" /></a:ext></a:extLst></p:cNvPr><p:cNvSpPr><a:spLocks noGrp="1" xmlns:a="http://schemas.openxmlformats.org/drawingml/2006/main" /></p:cNvSpPr><p:nvPr /></p:nvSpPr><p:spPr><a:xfrm xmlns:a="http://schemas.openxmlformats.org/drawingml/2006/main"><a:off x="704850" y="1762125" /><a:ext cx="5219700" cy="142875"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915" b="1"><a:solidFill><a:srgbClr val="6D5BD0" /></a:solidFill><a:latin typeface="Aptos" /><a:ea typeface="Aptos" /><a:cs typeface="Aptos" /></a:defRPr></a:pPr><a:r><a:rPr sz="915" b="1"><a:solidFill><a:srgbClr val="6D5BD0" /></a:solidFill><a:latin typeface="Aptos" /><a:ea typeface="Aptos" /><a:cs typeface="Aptos" /></a:rPr><a:t>Technique used: Answer diagnostics — log why answers pass or fail.</a:t></a:r></a:p></p:txBody></p:sp><p:sp><p:nvSpPr><p:cNvPr id="11" name=""><a:extLst xmlns:a="http://schemas.openxmlformats.org/drawingml/2006/main"><a:ext uri="{FF2B5EF4-FFF2-40B4-BE49-F238E27FC236}"><a16:creationId id="{DD081B10-5BE3-4C76-925D-8AEFF06AA7FB}" xmlns:a16="http://schemas.microsoft.com/office/drawing/2014/main" /></a:ext></a:extLst></p:cNvPr><p:cNvSpPr><a:spLocks noGrp="1" xmlns:a="http://schemas.openxmlformats.org/drawingml/2006/main" /></p:cNvSpPr><p:nvPr /></p:nvSpPr><p:spPr><a:xfrm xmlns:a="http://schemas.openxmlformats.org/drawingml/2006/main"><a:off x="552450" y="2019300" /><a:ext cx="11087100" cy="2533650" /></a:xfrm><a:prstGeom prst="rect" xmlns:a="http://schemas.openxmlformats.org/drawingml/2006/main"><a:avLst /></a:prstGeom><a:solidFill xmlns:a="http://schemas.openxmlformats.org/drawingml/2006/main"><a:srgbClr val="FFFFFF" /></a:solidFill><a:ln w="11430" xmlns:a="http://schemas.openxmlformats.org/drawingml/2006/main"><a:solidFill><a:srgbClr val="D8E2EA" /></a:solidFill><a:prstDash val="solid" /></a:ln></p:spPr></p:sp><p:sp><p:nvSpPr><p:cNvPr id="12" name=""><a:extLst xmlns:a="http://schemas.openxmlformats.org/drawingml/2006/main"><a:ext uri="{FF2B5EF4-FFF2-40B4-BE49-F238E27FC236}"><a16:creationId id="{9FAE5F10-294E-4148-A38C-EFA76ED32E0E}" xmlns:a16="http://schemas.microsoft.com/office/drawing/2014/main" /></a:ext></a:extLst></p:cNvPr><p:cNvSpPr><a:spLocks noGrp="1" xmlns:a="http://schemas.openxmlformats.org/drawingml/2006/main" /></p:cNvSpPr><p:nvPr /></p:nvSpPr><p:spPr><a:xfrm xmlns:a="http://schemas.openxmlformats.org/drawingml/2006/main"><a:off x="704850" y="2133600" /><a:ext cx="10782300" cy="1905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63" b="1"><a:solidFill><a:srgbClr val="5F6B7A" /></a:solidFill><a:latin typeface="Aptos" /><a:ea typeface="Aptos" /><a:cs typeface="Aptos" /></a:defRPr></a:pPr><a:r><a:rPr sz="863" b="1"><a:solidFill><a:srgbClr val="5F6B7A" /></a:solidFill><a:latin typeface="Aptos" /><a:ea typeface="Aptos" /><a:cs typeface="Aptos" /></a:rPr><a:t>Dataflow / contract diagram</a:t></a:r></a:p></p:txBody></p:sp><p:pic><p:nvPicPr><p:cNvPr id="13" name="" /><p:cNvPicPr><a:picLocks noChangeAspect="1" xmlns:a="http://schemas.openxmlformats.org/drawingml/2006/main" /></p:cNvPicPr><p:nvPr /></p:nvPicPr><p:blipFill><a:blip r:embed="Rdf1b7c0ec0844906" xmlns:r="http://schemas.openxmlformats.org/officeDocument/2006/relationships" xmlns:a="http://schemas.openxmlformats.org/drawingml/2006/main" /><a:stretch xmlns:a="http://schemas.openxmlformats.org/drawingml/2006/main" /></p:blipFill><p:spPr><a:xfrm xmlns:a="http://schemas.openxmlformats.org/drawingml/2006/main"><a:off x="781050" y="2783268" /><a:ext cx="10629900" cy="1100964" /></a:xfrm><a:prstGeom prst="rect" xmlns:a="http://schemas.openxmlformats.org/drawingml/2006/main"><a:avLst /></a:prstGeom></p:spPr></p:pic><p:sp><p:nvSpPr><p:cNvPr id="14" name=""><a:extLst xmlns:a="http://schemas.openxmlformats.org/drawingml/2006/main"><a:ext uri="{FF2B5EF4-FFF2-40B4-BE49-F238E27FC236}"><a16:creationId id="{FAB0C325-91E7-4A6E-8CEA-14D5A907846E}" xmlns:a16="http://schemas.microsoft.com/office/drawing/2014/main" /></a:ext></a:extLst></p:cNvPr><p:cNvSpPr><a:spLocks noGrp="1" xmlns:a="http://schemas.openxmlformats.org/drawingml/2006/main" /></p:cNvSpPr><p:nvPr /></p:nvSpPr><p:spPr><a:xfrm xmlns:a="http://schemas.openxmlformats.org/drawingml/2006/main"><a:off x="552450" y="4629150" /><a:ext cx="11087100" cy="628650" /></a:xfrm><a:prstGeom prst="rect" xmlns:a="http://schemas.openxmlformats.org/drawingml/2006/main"><a:avLst /></a:prstGeom><a:solidFill xmlns:a="http://schemas.openxmlformats.org/drawingml/2006/main"><a:srgbClr val="FFFFFF" /></a:solidFill><a:ln w="10478" xmlns:a="http://schemas.openxmlformats.org/drawingml/2006/main"><a:solidFill><a:srgbClr val="D8E2EA" /></a:solidFill><a:prstDash val="solid" /></a:ln></p:spPr></p:sp><p:sp><p:nvSpPr><p:cNvPr id="15" name=""><a:extLst xmlns:a="http://schemas.openxmlformats.org/drawingml/2006/main"><a:ext uri="{FF2B5EF4-FFF2-40B4-BE49-F238E27FC236}"><a16:creationId id="{9D6A6BA6-6303-4B5E-B965-C578148C29C0}" xmlns:a16="http://schemas.microsoft.com/office/drawing/2014/main" /></a:ext></a:extLst></p:cNvPr><p:cNvSpPr><a:spLocks noGrp="1" xmlns:a="http://schemas.openxmlformats.org/drawingml/2006/main" /></p:cNvSpPr><p:nvPr /></p:nvSpPr><p:spPr><a:xfrm xmlns:a="http://schemas.openxmlformats.org/drawingml/2006/main"><a:off x="552450" y="4629150" /><a:ext cx="57150" cy="628650" /></a:xfrm><a:prstGeom prst="rect" xmlns:a="http://schemas.openxmlformats.org/drawingml/2006/main"><a:avLst /></a:prstGeom><a:solidFill xmlns:a="http://schemas.openxmlformats.org/drawingml/2006/main"><a:srgbClr val="6D5BD0" /></a:solidFill><a:ln w="0" xmlns:a="http://schemas.openxmlformats.org/drawingml/2006/main"><a:solidFill><a:srgbClr val="000000"><a:alpha val="0" /></a:srgbClr></a:solidFill><a:prstDash val="solid" /></a:ln></p:spPr></p:sp><p:sp><p:nvSpPr><p:cNvPr id="16" name=""><a:extLst xmlns:a="http://schemas.openxmlformats.org/drawingml/2006/main"><a:ext uri="{FF2B5EF4-FFF2-40B4-BE49-F238E27FC236}"><a16:creationId id="{ACEC023E-C2BB-4332-A39B-D79EF944BF9C}" xmlns:a16="http://schemas.microsoft.com/office/drawing/2014/main" /></a:ext></a:extLst></p:cNvPr><p:cNvSpPr><a:spLocks noGrp="1" xmlns:a="http://schemas.openxmlformats.org/drawingml/2006/main" /></p:cNvSpPr><p:nvPr /></p:nvSpPr><p:spPr><a:xfrm xmlns:a="http://schemas.openxmlformats.org/drawingml/2006/main"><a:off x="628650" y="4714875" /><a:ext cx="109347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10" b="1"><a:solidFill><a:srgbClr val="172033" /></a:solidFill><a:latin typeface="Aptos" /><a:ea typeface="Aptos" /><a:cs typeface="Aptos" /></a:defRPr></a:pPr><a:r><a:rPr sz="810" b="1"><a:solidFill><a:srgbClr val="172033" /></a:solidFill><a:latin typeface="Aptos" /><a:ea typeface="Aptos" /><a:cs typeface="Aptos" /></a:rPr><a:t>Step-by-step workflow</a:t></a:r></a:p></p:txBody></p:sp><p:sp><p:nvSpPr><p:cNvPr id="17" name=""><a:extLst xmlns:a="http://schemas.openxmlformats.org/drawingml/2006/main"><a:ext uri="{FF2B5EF4-FFF2-40B4-BE49-F238E27FC236}"><a16:creationId id="{F5737B99-E60C-47B6-AAD2-96E770F995BE}" xmlns:a16="http://schemas.microsoft.com/office/drawing/2014/main" /></a:ext></a:extLst></p:cNvPr><p:cNvSpPr><a:spLocks noGrp="1" xmlns:a="http://schemas.openxmlformats.org/drawingml/2006/main" /></p:cNvSpPr><p:nvPr /></p:nvSpPr><p:spPr><a:xfrm xmlns:a="http://schemas.openxmlformats.org/drawingml/2006/main"><a:off x="628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18" name=""><a:extLst xmlns:a="http://schemas.openxmlformats.org/drawingml/2006/main"><a:ext uri="{FF2B5EF4-FFF2-40B4-BE49-F238E27FC236}"><a16:creationId id="{8B9346EA-E639-471A-968E-58C207D4A37B}" xmlns:a16="http://schemas.microsoft.com/office/drawing/2014/main" /></a:ext></a:extLst></p:cNvPr><p:cNvSpPr><a:spLocks noGrp="1" xmlns:a="http://schemas.openxmlformats.org/drawingml/2006/main" /></p:cNvSpPr><p:nvPr /></p:nvSpPr><p:spPr><a:xfrm xmlns:a="http://schemas.openxmlformats.org/drawingml/2006/main"><a:off x="628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1</a:t></a:r></a:p></p:txBody></p:sp><p:sp><p:nvSpPr><p:cNvPr id="19" name=""><a:extLst xmlns:a="http://schemas.openxmlformats.org/drawingml/2006/main"><a:ext uri="{FF2B5EF4-FFF2-40B4-BE49-F238E27FC236}"><a16:creationId id="{81042CA9-F3C8-408F-B1EC-DAF8077FB3DC}" xmlns:a16="http://schemas.microsoft.com/office/drawing/2014/main" /></a:ext></a:extLst></p:cNvPr><p:cNvSpPr><a:spLocks noGrp="1" xmlns:a="http://schemas.openxmlformats.org/drawingml/2006/main" /></p:cNvSpPr><p:nvPr /></p:nvSpPr><p:spPr><a:xfrm xmlns:a="http://schemas.openxmlformats.org/drawingml/2006/main"><a:off x="895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Record answer family and intent.</a:t></a:r></a:p></p:txBody></p:sp><p:sp><p:nvSpPr><p:cNvPr id="20" name=""><a:extLst xmlns:a="http://schemas.openxmlformats.org/drawingml/2006/main"><a:ext uri="{FF2B5EF4-FFF2-40B4-BE49-F238E27FC236}"><a16:creationId id="{3AFF19B6-B02A-495D-A819-B9A3E2B89DDE}" xmlns:a16="http://schemas.microsoft.com/office/drawing/2014/main" /></a:ext></a:extLst></p:cNvPr><p:cNvSpPr><a:spLocks noGrp="1" xmlns:a="http://schemas.openxmlformats.org/drawingml/2006/main" /></p:cNvSpPr><p:nvPr /></p:nvSpPr><p:spPr><a:xfrm xmlns:a="http://schemas.openxmlformats.org/drawingml/2006/main"><a:off x="628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1" name=""><a:extLst xmlns:a="http://schemas.openxmlformats.org/drawingml/2006/main"><a:ext uri="{FF2B5EF4-FFF2-40B4-BE49-F238E27FC236}"><a16:creationId id="{9115D0BB-3DEB-4DA7-8474-88CBEB45EA8A}" xmlns:a16="http://schemas.microsoft.com/office/drawing/2014/main" /></a:ext></a:extLst></p:cNvPr><p:cNvSpPr><a:spLocks noGrp="1" xmlns:a="http://schemas.openxmlformats.org/drawingml/2006/main" /></p:cNvSpPr><p:nvPr /></p:nvSpPr><p:spPr><a:xfrm xmlns:a="http://schemas.openxmlformats.org/drawingml/2006/main"><a:off x="628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2</a:t></a:r></a:p></p:txBody></p:sp><p:sp><p:nvSpPr><p:cNvPr id="22" name=""><a:extLst xmlns:a="http://schemas.openxmlformats.org/drawingml/2006/main"><a:ext uri="{FF2B5EF4-FFF2-40B4-BE49-F238E27FC236}"><a16:creationId id="{EB765CDA-50B7-4210-AF77-D170C22898E7}" xmlns:a16="http://schemas.microsoft.com/office/drawing/2014/main" /></a:ext></a:extLst></p:cNvPr><p:cNvSpPr><a:spLocks noGrp="1" xmlns:a="http://schemas.openxmlformats.org/drawingml/2006/main" /></p:cNvSpPr><p:nvPr /></p:nvSpPr><p:spPr><a:xfrm xmlns:a="http://schemas.openxmlformats.org/drawingml/2006/main"><a:off x="895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Record whether verification passed.</a:t></a:r></a:p></p:txBody></p:sp><p:sp><p:nvSpPr><p:cNvPr id="23" name=""><a:extLst xmlns:a="http://schemas.openxmlformats.org/drawingml/2006/main"><a:ext uri="{FF2B5EF4-FFF2-40B4-BE49-F238E27FC236}"><a16:creationId id="{9ECB36CB-85D0-4487-BF9B-35B608B77A36}" xmlns:a16="http://schemas.microsoft.com/office/drawing/2014/main" /></a:ext></a:extLst></p:cNvPr><p:cNvSpPr><a:spLocks noGrp="1" xmlns:a="http://schemas.openxmlformats.org/drawingml/2006/main" /></p:cNvSpPr><p:nvPr /></p:nvSpPr><p:spPr><a:xfrm xmlns:a="http://schemas.openxmlformats.org/drawingml/2006/main"><a:off x="4311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4" name=""><a:extLst xmlns:a="http://schemas.openxmlformats.org/drawingml/2006/main"><a:ext uri="{FF2B5EF4-FFF2-40B4-BE49-F238E27FC236}"><a16:creationId id="{0EF8851A-3332-4894-AB3B-DBCD4EA71149}" xmlns:a16="http://schemas.microsoft.com/office/drawing/2014/main" /></a:ext></a:extLst></p:cNvPr><p:cNvSpPr><a:spLocks noGrp="1" xmlns:a="http://schemas.openxmlformats.org/drawingml/2006/main" /></p:cNvSpPr><p:nvPr /></p:nvSpPr><p:spPr><a:xfrm xmlns:a="http://schemas.openxmlformats.org/drawingml/2006/main"><a:off x="4311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3</a:t></a:r></a:p></p:txBody></p:sp><p:sp><p:nvSpPr><p:cNvPr id="25" name=""><a:extLst xmlns:a="http://schemas.openxmlformats.org/drawingml/2006/main"><a:ext uri="{FF2B5EF4-FFF2-40B4-BE49-F238E27FC236}"><a16:creationId id="{B38F09E1-0289-4A85-A2F2-BB2B50FD4C38}" xmlns:a16="http://schemas.microsoft.com/office/drawing/2014/main" /></a:ext></a:extLst></p:cNvPr><p:cNvSpPr><a:spLocks noGrp="1" xmlns:a="http://schemas.openxmlformats.org/drawingml/2006/main" /></p:cNvSpPr><p:nvPr /></p:nvSpPr><p:spPr><a:xfrm xmlns:a="http://schemas.openxmlformats.org/drawingml/2006/main"><a:off x="4578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Record unsupported claim count.</a:t></a:r></a:p></p:txBody></p:sp><p:sp><p:nvSpPr><p:cNvPr id="26" name=""><a:extLst xmlns:a="http://schemas.openxmlformats.org/drawingml/2006/main"><a:ext uri="{FF2B5EF4-FFF2-40B4-BE49-F238E27FC236}"><a16:creationId id="{3A863B45-2B8B-4CD8-A46E-2D6BE265B046}" xmlns:a16="http://schemas.microsoft.com/office/drawing/2014/main" /></a:ext></a:extLst></p:cNvPr><p:cNvSpPr><a:spLocks noGrp="1" xmlns:a="http://schemas.openxmlformats.org/drawingml/2006/main" /></p:cNvSpPr><p:nvPr /></p:nvSpPr><p:spPr><a:xfrm xmlns:a="http://schemas.openxmlformats.org/drawingml/2006/main"><a:off x="4311650" y="5046345"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27" name=""><a:extLst xmlns:a="http://schemas.openxmlformats.org/drawingml/2006/main"><a:ext uri="{FF2B5EF4-FFF2-40B4-BE49-F238E27FC236}"><a16:creationId id="{BD5EAF82-9EA9-4B7F-B600-4CA657365A15}" xmlns:a16="http://schemas.microsoft.com/office/drawing/2014/main" /></a:ext></a:extLst></p:cNvPr><p:cNvSpPr><a:spLocks noGrp="1" xmlns:a="http://schemas.openxmlformats.org/drawingml/2006/main" /></p:cNvSpPr><p:nvPr /></p:nvSpPr><p:spPr><a:xfrm xmlns:a="http://schemas.openxmlformats.org/drawingml/2006/main"><a:off x="4311650" y="5074920"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4</a:t></a:r></a:p></p:txBody></p:sp><p:sp><p:nvSpPr><p:cNvPr id="28" name=""><a:extLst xmlns:a="http://schemas.openxmlformats.org/drawingml/2006/main"><a:ext uri="{FF2B5EF4-FFF2-40B4-BE49-F238E27FC236}"><a16:creationId id="{891D68EF-8CAE-4BE0-B103-52BF0FE70F55}" xmlns:a16="http://schemas.microsoft.com/office/drawing/2014/main" /></a:ext></a:extLst></p:cNvPr><p:cNvSpPr><a:spLocks noGrp="1" xmlns:a="http://schemas.openxmlformats.org/drawingml/2006/main" /></p:cNvSpPr><p:nvPr /></p:nvSpPr><p:spPr><a:xfrm xmlns:a="http://schemas.openxmlformats.org/drawingml/2006/main"><a:off x="4578350" y="5027295"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Save diagnostics in trajectory.json.</a:t></a:r></a:p></p:txBody></p:sp><p:sp><p:nvSpPr><p:cNvPr id="29" name=""><a:extLst xmlns:a="http://schemas.openxmlformats.org/drawingml/2006/main"><a:ext uri="{FF2B5EF4-FFF2-40B4-BE49-F238E27FC236}"><a16:creationId id="{E9A5209C-CA40-4518-A20C-20B39C6DFA91}" xmlns:a16="http://schemas.microsoft.com/office/drawing/2014/main" /></a:ext></a:extLst></p:cNvPr><p:cNvSpPr><a:spLocks noGrp="1" xmlns:a="http://schemas.openxmlformats.org/drawingml/2006/main" /></p:cNvSpPr><p:nvPr /></p:nvSpPr><p:spPr><a:xfrm xmlns:a="http://schemas.openxmlformats.org/drawingml/2006/main"><a:off x="7994650" y="4892040" /><a:ext cx="190500" cy="190500" /></a:xfrm><a:prstGeom prst="rect" xmlns:a="http://schemas.openxmlformats.org/drawingml/2006/main"><a:avLst /></a:prstGeom><a:solidFill xmlns:a="http://schemas.openxmlformats.org/drawingml/2006/main"><a:srgbClr val="F5F3FF" /></a:solidFill><a:ln w="9525" xmlns:a="http://schemas.openxmlformats.org/drawingml/2006/main"><a:solidFill><a:srgbClr val="6D5BD0" /></a:solidFill><a:prstDash val="solid" /></a:ln></p:spPr></p:sp><p:sp><p:nvSpPr><p:cNvPr id="30" name=""><a:extLst xmlns:a="http://schemas.openxmlformats.org/drawingml/2006/main"><a:ext uri="{FF2B5EF4-FFF2-40B4-BE49-F238E27FC236}"><a16:creationId id="{875C656A-89EF-4E2A-A051-873532F8A1FF}" xmlns:a16="http://schemas.microsoft.com/office/drawing/2014/main" /></a:ext></a:extLst></p:cNvPr><p:cNvSpPr><a:spLocks noGrp="1" xmlns:a="http://schemas.openxmlformats.org/drawingml/2006/main" /></p:cNvSpPr><p:nvPr /></p:nvSpPr><p:spPr><a:xfrm xmlns:a="http://schemas.openxmlformats.org/drawingml/2006/main"><a:off x="7994650" y="4920615" /><a:ext cx="190500" cy="1143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ctr"><a:defRPr sz="713" b="1"><a:solidFill><a:srgbClr val="6D5BD0" /></a:solidFill><a:latin typeface="Aptos" /><a:ea typeface="Aptos" /><a:cs typeface="Aptos" /></a:defRPr></a:pPr><a:r><a:rPr sz="713" b="1"><a:solidFill><a:srgbClr val="6D5BD0" /></a:solidFill><a:latin typeface="Aptos" /><a:ea typeface="Aptos" /><a:cs typeface="Aptos" /></a:rPr><a:t>5</a:t></a:r></a:p></p:txBody></p:sp><p:sp><p:nvSpPr><p:cNvPr id="31" name=""><a:extLst xmlns:a="http://schemas.openxmlformats.org/drawingml/2006/main"><a:ext uri="{FF2B5EF4-FFF2-40B4-BE49-F238E27FC236}"><a16:creationId id="{588156B0-B998-4672-AB33-9CB64370DF02}" xmlns:a16="http://schemas.microsoft.com/office/drawing/2014/main" /></a:ext></a:extLst></p:cNvPr><p:cNvSpPr><a:spLocks noGrp="1" xmlns:a="http://schemas.openxmlformats.org/drawingml/2006/main" /></p:cNvSpPr><p:nvPr /></p:nvSpPr><p:spPr><a:xfrm xmlns:a="http://schemas.openxmlformats.org/drawingml/2006/main"><a:off x="8261350" y="4872990" /><a:ext cx="3282950" cy="12573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518" b="0"><a:solidFill><a:srgbClr val="172033" /></a:solidFill><a:latin typeface="Aptos" /><a:ea typeface="Aptos" /><a:cs typeface="Aptos" /></a:defRPr></a:pPr><a:r><a:rPr sz="518" b="0"><a:solidFill><a:srgbClr val="172033" /></a:solidFill><a:latin typeface="Aptos" /><a:ea typeface="Aptos" /><a:cs typeface="Aptos" /></a:rPr><a:t>Use this later for failure analysis.</a:t></a:r></a:p></p:txBody></p:sp><p:sp><p:nvSpPr><p:cNvPr id="32" name=""><a:extLst xmlns:a="http://schemas.openxmlformats.org/drawingml/2006/main"><a:ext uri="{FF2B5EF4-FFF2-40B4-BE49-F238E27FC236}"><a16:creationId id="{8A35CD10-9318-47F9-8230-2B4B3EF3366F}" xmlns:a16="http://schemas.microsoft.com/office/drawing/2014/main" /></a:ext></a:extLst></p:cNvPr><p:cNvSpPr><a:spLocks noGrp="1" xmlns:a="http://schemas.openxmlformats.org/drawingml/2006/main" /></p:cNvSpPr><p:nvPr /></p:nvSpPr><p:spPr><a:xfrm xmlns:a="http://schemas.openxmlformats.org/drawingml/2006/main"><a:off x="552450" y="5353050" /><a:ext cx="2000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3" name=""><a:extLst xmlns:a="http://schemas.openxmlformats.org/drawingml/2006/main"><a:ext uri="{FF2B5EF4-FFF2-40B4-BE49-F238E27FC236}"><a16:creationId id="{F2AB8947-1B1F-4574-9B25-895B78831774}" xmlns:a16="http://schemas.microsoft.com/office/drawing/2014/main" /></a:ext></a:extLst></p:cNvPr><p:cNvSpPr><a:spLocks noGrp="1" xmlns:a="http://schemas.openxmlformats.org/drawingml/2006/main" /></p:cNvSpPr><p:nvPr /></p:nvSpPr><p:spPr><a:xfrm xmlns:a="http://schemas.openxmlformats.org/drawingml/2006/main"><a:off x="666750" y="5448300" /><a:ext cx="1771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Mechanism</a:t></a:r></a:p></p:txBody></p:sp><p:sp><p:nvSpPr><p:cNvPr id="34" name=""><a:extLst xmlns:a="http://schemas.openxmlformats.org/drawingml/2006/main"><a:ext uri="{FF2B5EF4-FFF2-40B4-BE49-F238E27FC236}"><a16:creationId id="{B4CFF2B0-F067-43CF-8901-0285ECE2E857}" xmlns:a16="http://schemas.microsoft.com/office/drawing/2014/main" /></a:ext></a:extLst></p:cNvPr><p:cNvSpPr><a:spLocks noGrp="1" xmlns:a="http://schemas.openxmlformats.org/drawingml/2006/main" /></p:cNvSpPr><p:nvPr /></p:nvSpPr><p:spPr><a:xfrm xmlns:a="http://schemas.openxmlformats.org/drawingml/2006/main"><a:off x="666750" y="5638800" /><a:ext cx="1771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1"><a:solidFill><a:srgbClr val="172033" /></a:solidFill><a:latin typeface="Aptos" /><a:ea typeface="Aptos" /><a:cs typeface="Aptos" /></a:defRPr></a:pPr><a:r><a:rPr sz="803" b="1"><a:solidFill><a:srgbClr val="172033" /></a:solidFill><a:latin typeface="Aptos" /><a:ea typeface="Aptos" /><a:cs typeface="Aptos" /></a:rPr><a:t>answer_diagnostics</a:t></a:r></a:p></p:txBody></p:sp><p:sp><p:nvSpPr><p:cNvPr id="35" name=""><a:extLst xmlns:a="http://schemas.openxmlformats.org/drawingml/2006/main"><a:ext uri="{FF2B5EF4-FFF2-40B4-BE49-F238E27FC236}"><a16:creationId id="{F3B38C46-F9C2-453F-A57F-DA3198BA66A2}" xmlns:a16="http://schemas.microsoft.com/office/drawing/2014/main" /></a:ext></a:extLst></p:cNvPr><p:cNvSpPr><a:spLocks noGrp="1" xmlns:a="http://schemas.openxmlformats.org/drawingml/2006/main" /></p:cNvSpPr><p:nvPr /></p:nvSpPr><p:spPr><a:xfrm xmlns:a="http://schemas.openxmlformats.org/drawingml/2006/main"><a:off x="2552700" y="5353050" /><a:ext cx="31432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6" name=""><a:extLst xmlns:a="http://schemas.openxmlformats.org/drawingml/2006/main"><a:ext uri="{FF2B5EF4-FFF2-40B4-BE49-F238E27FC236}"><a16:creationId id="{16A5C314-3152-4287-AE7B-9C87AA890E3B}" xmlns:a16="http://schemas.microsoft.com/office/drawing/2014/main" /></a:ext></a:extLst></p:cNvPr><p:cNvSpPr><a:spLocks noGrp="1" xmlns:a="http://schemas.openxmlformats.org/drawingml/2006/main" /></p:cNvSpPr><p:nvPr /></p:nvSpPr><p:spPr><a:xfrm xmlns:a="http://schemas.openxmlformats.org/drawingml/2006/main"><a:off x="2667000" y="5448300" /><a:ext cx="29146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Technique used</a:t></a:r></a:p></p:txBody></p:sp><p:sp><p:nvSpPr><p:cNvPr id="37" name=""><a:extLst xmlns:a="http://schemas.openxmlformats.org/drawingml/2006/main"><a:ext uri="{FF2B5EF4-FFF2-40B4-BE49-F238E27FC236}"><a16:creationId id="{26399AC0-8F55-452B-B06A-80817340C794}" xmlns:a16="http://schemas.microsoft.com/office/drawing/2014/main" /></a:ext></a:extLst></p:cNvPr><p:cNvSpPr><a:spLocks noGrp="1" xmlns:a="http://schemas.openxmlformats.org/drawingml/2006/main" /></p:cNvSpPr><p:nvPr /></p:nvSpPr><p:spPr><a:xfrm xmlns:a="http://schemas.openxmlformats.org/drawingml/2006/main"><a:off x="2667000" y="5638800" /><a:ext cx="29146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6D5BD0" /></a:solidFill><a:latin typeface="Aptos" /><a:ea typeface="Aptos" /><a:cs typeface="Aptos" /></a:defRPr></a:pPr><a:r><a:rPr sz="803" b="0"><a:solidFill><a:srgbClr val="6D5BD0" /></a:solidFill><a:latin typeface="Aptos" /><a:ea typeface="Aptos" /><a:cs typeface="Aptos" /></a:rPr><a:t>Answer diagnostics — log why answers pass or fail.</a:t></a:r></a:p></p:txBody></p:sp><p:sp><p:nvSpPr><p:cNvPr id="38" name=""><a:extLst xmlns:a="http://schemas.openxmlformats.org/drawingml/2006/main"><a:ext uri="{FF2B5EF4-FFF2-40B4-BE49-F238E27FC236}"><a16:creationId id="{330510C3-95F5-47B2-A374-1C250EFBF56D}" xmlns:a16="http://schemas.microsoft.com/office/drawing/2014/main" /></a:ext></a:extLst></p:cNvPr><p:cNvSpPr><a:spLocks noGrp="1" xmlns:a="http://schemas.openxmlformats.org/drawingml/2006/main" /></p:cNvSpPr><p:nvPr /></p:nvSpPr><p:spPr><a:xfrm xmlns:a="http://schemas.openxmlformats.org/drawingml/2006/main"><a:off x="5695950" y="5353050" /><a:ext cx="27241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39" name=""><a:extLst xmlns:a="http://schemas.openxmlformats.org/drawingml/2006/main"><a:ext uri="{FF2B5EF4-FFF2-40B4-BE49-F238E27FC236}"><a16:creationId id="{65B5B7E6-2D1F-41F5-B54F-E216CCF616C9}" xmlns:a16="http://schemas.microsoft.com/office/drawing/2014/main" /></a:ext></a:extLst></p:cNvPr><p:cNvSpPr><a:spLocks noGrp="1" xmlns:a="http://schemas.openxmlformats.org/drawingml/2006/main" /></p:cNvSpPr><p:nvPr /></p:nvSpPr><p:spPr><a:xfrm xmlns:a="http://schemas.openxmlformats.org/drawingml/2006/main"><a:off x="5810250" y="5448300" /><a:ext cx="24955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Modules</a:t></a:r></a:p></p:txBody></p:sp><p:sp><p:nvSpPr><p:cNvPr id="40" name="module-link-answer_diagnostics.py"><a:hlinkClick xmlns:a="http://schemas.openxmlformats.org/drawingml/2006/main" r:id="rIdModuleLink4" tooltip="Open /Users/tanqinyang/Desktop/dashsys-workshop-vldb/dashagent/answer_diagnostics.py"/><a:extLst xmlns:a="http://schemas.openxmlformats.org/drawingml/2006/main"><a:ext uri="{FF2B5EF4-FFF2-40B4-BE49-F238E27FC236}"><a16:creationId id="{021F6B73-8781-459D-967A-E9168608EEEC}" xmlns:a16="http://schemas.microsoft.com/office/drawing/2014/main" /></a:ext></a:extLst></p:cNvPr><p:cNvSpPr><a:spLocks noGrp="1" xmlns:a="http://schemas.openxmlformats.org/drawingml/2006/main" /></p:cNvSpPr><p:nvPr /></p:nvSpPr><p:spPr><a:xfrm xmlns:a="http://schemas.openxmlformats.org/drawingml/2006/main"><a:off x="5810250" y="5638800"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answer_diagnostics.py</a:t></a:r></a:p></p:txBody></p:sp><p:sp><p:nvSpPr><p:cNvPr id="41" name="module-link-trajectory.py"><a:hlinkClick xmlns:a="http://schemas.openxmlformats.org/drawingml/2006/main" r:id="rIdModuleLink5" tooltip="Open /Users/tanqinyang/Desktop/dashsys-workshop-vldb/dashagent/trajectory.py"/><a:extLst xmlns:a="http://schemas.openxmlformats.org/drawingml/2006/main"><a:ext uri="{FF2B5EF4-FFF2-40B4-BE49-F238E27FC236}"><a16:creationId id="{0D9C9A60-EB0D-4CA1-97C0-DE9A9571B4DD}" xmlns:a16="http://schemas.microsoft.com/office/drawing/2014/main" /></a:ext></a:extLst></p:cNvPr><p:cNvSpPr><a:spLocks noGrp="1" xmlns:a="http://schemas.openxmlformats.org/drawingml/2006/main" /></p:cNvSpPr><p:nvPr /></p:nvSpPr><p:spPr><a:xfrm xmlns:a="http://schemas.openxmlformats.org/drawingml/2006/main"><a:off x="5810250" y="5895975" /><a:ext cx="2495550" cy="219075" /></a:xfrm><a:prstGeom prst="roundRect" xmlns:a="http://schemas.openxmlformats.org/drawingml/2006/main"><a:avLst><a:gd name="adj" fmla="val 34783" /></a:avLst></a:prstGeom><a:solidFill xmlns:a="http://schemas.openxmlformats.org/drawingml/2006/main"><a:srgbClr val="EAF3FF" /></a:solidFill><a:ln w="10478" xmlns:a="http://schemas.openxmlformats.org/drawingml/2006/main"><a:solidFill><a:srgbClr val="1769AA" /></a:solidFill><a:prstDash val="solid" /></a:ln></p:spPr><p:txBody><a:bodyPr lIns="38100" tIns="9525" rIns="38100" bIns="9525" anchor="ctr" xmlns:a="http://schemas.openxmlformats.org/drawingml/2006/main" /><a:lstStyle xmlns:a="http://schemas.openxmlformats.org/drawingml/2006/main" /><a:p xmlns:a="http://schemas.openxmlformats.org/drawingml/2006/main"><a:pPr algn="ctr"><a:defRPr sz="615" b="1" u="sng"><a:solidFill><a:srgbClr val="1769AA" /></a:solidFill><a:latin typeface="Aptos" /><a:ea typeface="Aptos" /><a:cs typeface="Aptos" /></a:defRPr></a:pPr><a:r><a:rPr sz="615" b="1" u="sng"><a:solidFill><a:srgbClr val="1769AA" /></a:solidFill><a:latin typeface="Aptos" /><a:ea typeface="Aptos" /><a:cs typeface="Aptos" /></a:rPr><a:t>Open trajectory.py</a:t></a:r></a:p></p:txBody></p:sp><p:sp><p:nvSpPr><p:cNvPr id="42" name=""><a:extLst xmlns:a="http://schemas.openxmlformats.org/drawingml/2006/main"><a:ext uri="{FF2B5EF4-FFF2-40B4-BE49-F238E27FC236}"><a16:creationId id="{054EE9AA-F175-4FF3-BC89-EFC465AC2A99}" xmlns:a16="http://schemas.microsoft.com/office/drawing/2014/main" /></a:ext></a:extLst></p:cNvPr><p:cNvSpPr><a:spLocks noGrp="1" xmlns:a="http://schemas.openxmlformats.org/drawingml/2006/main" /></p:cNvSpPr><p:nvPr /></p:nvSpPr><p:spPr><a:xfrm xmlns:a="http://schemas.openxmlformats.org/drawingml/2006/main"><a:off x="8420100" y="5353050" /><a:ext cx="3219450" cy="914400" /></a:xfrm><a:prstGeom prst="rect" xmlns:a="http://schemas.openxmlformats.org/drawingml/2006/main"><a:avLst /></a:prstGeom><a:solidFill xmlns:a="http://schemas.openxmlformats.org/drawingml/2006/main"><a:srgbClr val="FFFFFF" /></a:solidFill><a:ln w="9525" xmlns:a="http://schemas.openxmlformats.org/drawingml/2006/main"><a:solidFill><a:srgbClr val="D8E2EA" /></a:solidFill><a:prstDash val="solid" /></a:ln></p:spPr></p:sp><p:sp><p:nvSpPr><p:cNvPr id="43" name=""><a:extLst xmlns:a="http://schemas.openxmlformats.org/drawingml/2006/main"><a:ext uri="{FF2B5EF4-FFF2-40B4-BE49-F238E27FC236}"><a16:creationId id="{C06CE58B-8ACD-4EE1-A04F-2AFDBC820943}" xmlns:a16="http://schemas.microsoft.com/office/drawing/2014/main" /></a:ext></a:extLst></p:cNvPr><p:cNvSpPr><a:spLocks noGrp="1" xmlns:a="http://schemas.openxmlformats.org/drawingml/2006/main" /></p:cNvSpPr><p:nvPr /></p:nvSpPr><p:spPr><a:xfrm xmlns:a="http://schemas.openxmlformats.org/drawingml/2006/main"><a:off x="8534400" y="5448300" /><a:ext cx="2990850" cy="15240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35" b="1"><a:solidFill><a:srgbClr val="5F6B7A" /></a:solidFill><a:latin typeface="Aptos" /><a:ea typeface="Aptos" /><a:cs typeface="Aptos" /></a:defRPr></a:pPr><a:r><a:rPr sz="735" b="1"><a:solidFill><a:srgbClr val="5F6B7A" /></a:solidFill><a:latin typeface="Aptos" /><a:ea typeface="Aptos" /><a:cs typeface="Aptos" /></a:rPr><a:t>Benefit</a:t></a:r></a:p></p:txBody></p:sp><p:sp><p:nvSpPr><p:cNvPr id="44" name=""><a:extLst xmlns:a="http://schemas.openxmlformats.org/drawingml/2006/main"><a:ext uri="{FF2B5EF4-FFF2-40B4-BE49-F238E27FC236}"><a16:creationId id="{ED26DD92-D231-4694-8B76-B866E118AAF4}" xmlns:a16="http://schemas.microsoft.com/office/drawing/2014/main" /></a:ext></a:extLst></p:cNvPr><p:cNvSpPr><a:spLocks noGrp="1" xmlns:a="http://schemas.openxmlformats.org/drawingml/2006/main" /></p:cNvSpPr><p:nvPr /></p:nvSpPr><p:spPr><a:xfrm xmlns:a="http://schemas.openxmlformats.org/drawingml/2006/main"><a:off x="8534400" y="5638800" /><a:ext cx="2990850" cy="5143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803" b="0"><a:solidFill><a:srgbClr val="172033" /></a:solidFill><a:latin typeface="Aptos" /><a:ea typeface="Aptos" /><a:cs typeface="Aptos" /></a:defRPr></a:pPr><a:r><a:rPr sz="803" b="0"><a:solidFill><a:srgbClr val="172033" /></a:solidFill><a:latin typeface="Aptos" /><a:ea typeface="Aptos" /><a:cs typeface="Aptos" /></a:rPr><a:t>Logs why an answer passed or failed.</a:t></a:r></a:p></p:txBody></p:sp><p:sp><p:nvSpPr><p:cNvPr id="45" name=""><a:extLst xmlns:a="http://schemas.openxmlformats.org/drawingml/2006/main"><a:ext uri="{FF2B5EF4-FFF2-40B4-BE49-F238E27FC236}"><a16:creationId id="{7A6EC643-824C-4BAB-8383-A902BF301068}" xmlns:a16="http://schemas.microsoft.com/office/drawing/2014/main" /></a:ext></a:extLst></p:cNvPr><p:cNvSpPr><a:spLocks noGrp="1" xmlns:a="http://schemas.openxmlformats.org/drawingml/2006/main" /></p:cNvSpPr><p:nvPr /></p:nvSpPr><p:spPr><a:xfrm xmlns:a="http://schemas.openxmlformats.org/drawingml/2006/main"><a:off x="552450" y="6534150" /><a:ext cx="3429000" cy="171450" /></a:xfrm><a:prstGeom prst="rect" xmlns:a="http://schemas.openxmlformats.org/drawingml/2006/main"><a:avLst /></a:prstGeom><a:solidFill xmlns:a="http://schemas.openxmlformats.org/drawingml/2006/main"><a:srgbClr val="000000"><a:alpha val="0" /></a:srgbClr></a:solidFill><a:ln w="0" xmlns:a="http://schemas.openxmlformats.org/drawingml/2006/main"><a:solidFill><a:srgbClr val="000000"><a:alpha val="0" /></a:srgbClr></a:solidFill><a:prstDash val="solid" /></a:ln></p:spPr><p:txBody><a:bodyPr lIns="0" tIns="0" rIns="0" bIns="0" anchor="t" xmlns:a="http://schemas.openxmlformats.org/drawingml/2006/main" /><a:lstStyle xmlns:a="http://schemas.openxmlformats.org/drawingml/2006/main" /><a:p xmlns:a="http://schemas.openxmlformats.org/drawingml/2006/main"><a:pPr algn="l"><a:defRPr sz="750" b="0"><a:solidFill><a:srgbClr val="5F6B7A" /></a:solidFill><a:latin typeface="Aptos" /><a:ea typeface="Aptos" /><a:cs typeface="Aptos" /></a:defRPr></a:pPr><a:r><a:rPr sz="750" b="0"><a:solidFill><a:srgbClr val="5F6B7A" /></a:solidFill><a:latin typeface="Aptos" /><a:ea typeface="Aptos" /><a:cs typeface="Aptos" /></a:rPr><a:t>DASHSys progress report | 26</a:t></a:r></a:p></p:txBody></p:sp></p:spTree><p:extLst><p:ext uri="{BB962C8B-B14F-4D97-AF65-F5344CB8AC3E}"><p14:creationId val="1949105298" xmlns:p14="http://schemas.microsoft.com/office/powerpoint/2010/main" /></p:ext></p:extLst></p:cSld></p:sld>
</file>

<file path=ppt/slides/slide27.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393C70-37BF-495E-B00D-CB7F824DFF4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0E67C33-2CD1-4613-A1E6-6A5A718137BC}"/>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EC5D90C7-44E5-44D6-9608-D29E242EF411}"/>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Whole project workflow: planning dataflow</a:t>
            </a:r>
          </a:p>
        </p:txBody>
      </p:sp>
      <p:sp>
        <p:nvSpPr>
          <p:cNvPr id="4" name="">
            <a:extLst xmlns:a="http://schemas.openxmlformats.org/drawingml/2006/main">
              <a:ext uri="{FF2B5EF4-FFF2-40B4-BE49-F238E27FC236}">
                <a16:creationId xmlns:a16="http://schemas.microsoft.com/office/drawing/2014/main" id="{CD4180B3-2526-4B9D-9BEE-AC79E9B85252}"/>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D4CBC7D-E4A4-4340-826E-62DA74F8AF0C}"/>
              </a:ext>
            </a:extLst>
          </p:cNvPr>
          <p:cNvSpPr>
            <a:spLocks xmlns:a="http://schemas.openxmlformats.org/drawingml/2006/main" noGrp="1"/>
          </p:cNvSpPr>
          <p:nvPr/>
        </p:nvSpPr>
        <p:spPr>
          <a:xfrm xmlns:a="http://schemas.openxmlformats.org/drawingml/2006/main">
            <a:off x="552450" y="1257300"/>
            <a:ext cx="10477500" cy="4000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068EDD7B-F0F4-45C7-A60F-1623AA3A0CEF}"/>
              </a:ext>
            </a:extLst>
          </p:cNvPr>
          <p:cNvSpPr>
            <a:spLocks xmlns:a="http://schemas.openxmlformats.org/drawingml/2006/main" noGrp="1"/>
          </p:cNvSpPr>
          <p:nvPr/>
        </p:nvSpPr>
        <p:spPr>
          <a:xfrm xmlns:a="http://schemas.openxmlformats.org/drawingml/2006/main">
            <a:off x="552450" y="1257300"/>
            <a:ext cx="57150" cy="4000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FD83C03-DB6F-443B-AF41-869B1FCE12B3}"/>
              </a:ext>
            </a:extLst>
          </p:cNvPr>
          <p:cNvSpPr>
            <a:spLocks xmlns:a="http://schemas.openxmlformats.org/drawingml/2006/main" noGrp="1"/>
          </p:cNvSpPr>
          <p:nvPr/>
        </p:nvSpPr>
        <p:spPr>
          <a:xfrm xmlns:a="http://schemas.openxmlformats.org/drawingml/2006/main">
            <a:off x="685800" y="13335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D190F3CD-FE0F-4627-B910-A57536C9DA99}"/>
              </a:ext>
            </a:extLst>
          </p:cNvPr>
          <p:cNvSpPr>
            <a:spLocks xmlns:a="http://schemas.openxmlformats.org/drawingml/2006/main" noGrp="1"/>
          </p:cNvSpPr>
          <p:nvPr/>
        </p:nvSpPr>
        <p:spPr>
          <a:xfrm xmlns:a="http://schemas.openxmlformats.org/drawingml/2006/main">
            <a:off x="1714500" y="1314450"/>
            <a:ext cx="91630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172033"/>
                </a:solidFill>
                <a:latin typeface="Aptos"/>
                <a:ea typeface="Aptos"/>
                <a:cs typeface="Aptos"/>
              </a:defRPr>
            </a:pPr>
            <a:r>
              <a:rPr sz="840" b="0">
                <a:solidFill>
                  <a:srgbClr val="172033"/>
                </a:solidFill>
                <a:latin typeface="Aptos"/>
                <a:ea typeface="Aptos"/>
                <a:cs typeface="Aptos"/>
              </a:rPr>
              <a:t>Part A shows how the question becomes a validated plan. Each block shows the object fields being carried forward, and each arrow names the transformation.</a:t>
            </a:r>
          </a:p>
        </p:txBody>
      </p:sp>
      <p:sp>
        <p:nvSpPr>
          <p:cNvPr id="9" name="">
            <a:extLst xmlns:a="http://schemas.openxmlformats.org/drawingml/2006/main">
              <a:ext uri="{FF2B5EF4-FFF2-40B4-BE49-F238E27FC236}">
                <a16:creationId xmlns:a16="http://schemas.microsoft.com/office/drawing/2014/main" id="{67E2962B-635F-4A27-83C1-9B94D7AC9981}"/>
              </a:ext>
            </a:extLst>
          </p:cNvPr>
          <p:cNvSpPr>
            <a:spLocks xmlns:a="http://schemas.openxmlformats.org/drawingml/2006/main" noGrp="1"/>
          </p:cNvSpPr>
          <p:nvPr/>
        </p:nvSpPr>
        <p:spPr>
          <a:xfrm xmlns:a="http://schemas.openxmlformats.org/drawingml/2006/main">
            <a:off x="552450" y="1752600"/>
            <a:ext cx="11087100" cy="3105150"/>
          </a:xfrm>
          <a:prstGeom xmlns:a="http://schemas.openxmlformats.org/drawingml/2006/main" prst="rect">
            <a:avLst/>
          </a:prstGeom>
          <a:solidFill xmlns:a="http://schemas.openxmlformats.org/drawingml/2006/main">
            <a:srgbClr val="FFFFFF"/>
          </a:solidFill>
          <a:ln xmlns:a="http://schemas.openxmlformats.org/drawingml/2006/main" w="11430">
            <a:solidFill>
              <a:srgbClr val="D8E2EA"/>
            </a:solidFill>
            <a:prstDash val="solid"/>
          </a:ln>
        </p:spPr>
      </p:sp>
      <p:sp>
        <p:nvSpPr>
          <p:cNvPr id="10" name="">
            <a:extLst xmlns:a="http://schemas.openxmlformats.org/drawingml/2006/main">
              <a:ext uri="{FF2B5EF4-FFF2-40B4-BE49-F238E27FC236}">
                <a16:creationId xmlns:a16="http://schemas.microsoft.com/office/drawing/2014/main" id="{CA414D9B-62DC-4798-85B4-C98CB2BD6250}"/>
              </a:ext>
            </a:extLst>
          </p:cNvPr>
          <p:cNvSpPr>
            <a:spLocks xmlns:a="http://schemas.openxmlformats.org/drawingml/2006/main" noGrp="1"/>
          </p:cNvSpPr>
          <p:nvPr/>
        </p:nvSpPr>
        <p:spPr>
          <a:xfrm xmlns:a="http://schemas.openxmlformats.org/drawingml/2006/main">
            <a:off x="704850" y="1866900"/>
            <a:ext cx="10782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F6B7A"/>
                </a:solidFill>
                <a:latin typeface="Aptos"/>
                <a:ea typeface="Aptos"/>
                <a:cs typeface="Aptos"/>
              </a:defRPr>
            </a:pPr>
            <a:r>
              <a:rPr sz="863" b="1">
                <a:solidFill>
                  <a:srgbClr val="5F6B7A"/>
                </a:solidFill>
                <a:latin typeface="Aptos"/>
                <a:ea typeface="Aptos"/>
                <a:cs typeface="Aptos"/>
              </a:rPr>
              <a:t>Object transformations: RawQuery to ValidatedPlan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c48978fd98c40a6"/>
          <a:stretch xmlns:a="http://schemas.openxmlformats.org/drawingml/2006/main"/>
        </p:blipFill>
        <p:spPr>
          <a:xfrm xmlns:a="http://schemas.openxmlformats.org/drawingml/2006/main">
            <a:off x="777713" y="2133600"/>
            <a:ext cx="10636575" cy="2457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4D78AFE-CFD2-465D-8C69-886E0E2F68D5}"/>
              </a:ext>
            </a:extLst>
          </p:cNvPr>
          <p:cNvSpPr>
            <a:spLocks xmlns:a="http://schemas.openxmlformats.org/drawingml/2006/main" noGrp="1"/>
          </p:cNvSpPr>
          <p:nvPr/>
        </p:nvSpPr>
        <p:spPr>
          <a:xfrm xmlns:a="http://schemas.openxmlformats.org/drawingml/2006/main">
            <a:off x="552450" y="4991100"/>
            <a:ext cx="11087100" cy="876300"/>
          </a:xfrm>
          <a:prstGeom xmlns:a="http://schemas.openxmlformats.org/drawingml/2006/main" prst="rect">
            <a:avLst/>
          </a:prstGeom>
          <a:solidFill xmlns:a="http://schemas.openxmlformats.org/drawingml/2006/main">
            <a:srgbClr val="FFFFFF"/>
          </a:solidFill>
          <a:ln xmlns:a="http://schemas.openxmlformats.org/drawingml/2006/main" w="10478">
            <a:solidFill>
              <a:srgbClr val="D8E2EA"/>
            </a:solidFill>
            <a:prstDash val="solid"/>
          </a:ln>
        </p:spPr>
      </p:sp>
      <p:sp>
        <p:nvSpPr>
          <p:cNvPr id="13" name="">
            <a:extLst xmlns:a="http://schemas.openxmlformats.org/drawingml/2006/main">
              <a:ext uri="{FF2B5EF4-FFF2-40B4-BE49-F238E27FC236}">
                <a16:creationId xmlns:a16="http://schemas.microsoft.com/office/drawing/2014/main" id="{AC891562-AFC5-4BBA-8C3D-C4293021084F}"/>
              </a:ext>
            </a:extLst>
          </p:cNvPr>
          <p:cNvSpPr>
            <a:spLocks xmlns:a="http://schemas.openxmlformats.org/drawingml/2006/main" noGrp="1"/>
          </p:cNvSpPr>
          <p:nvPr/>
        </p:nvSpPr>
        <p:spPr>
          <a:xfrm xmlns:a="http://schemas.openxmlformats.org/drawingml/2006/main">
            <a:off x="552450" y="4991100"/>
            <a:ext cx="57150" cy="87630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1D70417-6DFD-4682-A2AB-4884A8CDA03A}"/>
              </a:ext>
            </a:extLst>
          </p:cNvPr>
          <p:cNvSpPr>
            <a:spLocks xmlns:a="http://schemas.openxmlformats.org/drawingml/2006/main" noGrp="1"/>
          </p:cNvSpPr>
          <p:nvPr/>
        </p:nvSpPr>
        <p:spPr>
          <a:xfrm xmlns:a="http://schemas.openxmlformats.org/drawingml/2006/main">
            <a:off x="638175" y="5076825"/>
            <a:ext cx="10915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172033"/>
                </a:solidFill>
                <a:latin typeface="Aptos"/>
                <a:ea typeface="Aptos"/>
                <a:cs typeface="Aptos"/>
              </a:defRPr>
            </a:pPr>
            <a:r>
              <a:rPr sz="825" b="1">
                <a:solidFill>
                  <a:srgbClr val="172033"/>
                </a:solidFill>
                <a:latin typeface="Aptos"/>
                <a:ea typeface="Aptos"/>
                <a:cs typeface="Aptos"/>
              </a:rPr>
              <a:t>Transition summary</a:t>
            </a:r>
          </a:p>
        </p:txBody>
      </p:sp>
      <p:sp>
        <p:nvSpPr>
          <p:cNvPr id="15" name="">
            <a:extLst xmlns:a="http://schemas.openxmlformats.org/drawingml/2006/main">
              <a:ext uri="{FF2B5EF4-FFF2-40B4-BE49-F238E27FC236}">
                <a16:creationId xmlns:a16="http://schemas.microsoft.com/office/drawing/2014/main" id="{B7858DE2-5FDF-47D2-9D57-0DB96331A641}"/>
              </a:ext>
            </a:extLst>
          </p:cNvPr>
          <p:cNvSpPr>
            <a:spLocks xmlns:a="http://schemas.openxmlformats.org/drawingml/2006/main" noGrp="1"/>
          </p:cNvSpPr>
          <p:nvPr/>
        </p:nvSpPr>
        <p:spPr>
          <a:xfrm xmlns:a="http://schemas.openxmlformats.org/drawingml/2006/main">
            <a:off x="638175" y="5279708"/>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16" name="">
            <a:extLst xmlns:a="http://schemas.openxmlformats.org/drawingml/2006/main">
              <a:ext uri="{FF2B5EF4-FFF2-40B4-BE49-F238E27FC236}">
                <a16:creationId xmlns:a16="http://schemas.microsoft.com/office/drawing/2014/main" id="{43DE5325-0115-4F69-84E8-CA909161C8E7}"/>
              </a:ext>
            </a:extLst>
          </p:cNvPr>
          <p:cNvSpPr>
            <a:spLocks xmlns:a="http://schemas.openxmlformats.org/drawingml/2006/main" noGrp="1"/>
          </p:cNvSpPr>
          <p:nvPr/>
        </p:nvSpPr>
        <p:spPr>
          <a:xfrm xmlns:a="http://schemas.openxmlformats.org/drawingml/2006/main">
            <a:off x="638175" y="530828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CD9E4411-0FF8-47F5-AD8B-57ACACE156A9}"/>
              </a:ext>
            </a:extLst>
          </p:cNvPr>
          <p:cNvSpPr>
            <a:spLocks xmlns:a="http://schemas.openxmlformats.org/drawingml/2006/main" noGrp="1"/>
          </p:cNvSpPr>
          <p:nvPr/>
        </p:nvSpPr>
        <p:spPr>
          <a:xfrm xmlns:a="http://schemas.openxmlformats.org/drawingml/2006/main">
            <a:off x="904875" y="5260658"/>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User asks a question.</a:t>
            </a:r>
          </a:p>
        </p:txBody>
      </p:sp>
      <p:sp>
        <p:nvSpPr>
          <p:cNvPr id="18" name="">
            <a:extLst xmlns:a="http://schemas.openxmlformats.org/drawingml/2006/main">
              <a:ext uri="{FF2B5EF4-FFF2-40B4-BE49-F238E27FC236}">
                <a16:creationId xmlns:a16="http://schemas.microsoft.com/office/drawing/2014/main" id="{996AF5B1-EC29-4263-83A1-D600A906A615}"/>
              </a:ext>
            </a:extLst>
          </p:cNvPr>
          <p:cNvSpPr>
            <a:spLocks xmlns:a="http://schemas.openxmlformats.org/drawingml/2006/main" noGrp="1"/>
          </p:cNvSpPr>
          <p:nvPr/>
        </p:nvSpPr>
        <p:spPr>
          <a:xfrm xmlns:a="http://schemas.openxmlformats.org/drawingml/2006/main">
            <a:off x="638175" y="5540216"/>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19" name="">
            <a:extLst xmlns:a="http://schemas.openxmlformats.org/drawingml/2006/main">
              <a:ext uri="{FF2B5EF4-FFF2-40B4-BE49-F238E27FC236}">
                <a16:creationId xmlns:a16="http://schemas.microsoft.com/office/drawing/2014/main" id="{986384F9-6AC0-4224-B57C-2F8E192CBD4D}"/>
              </a:ext>
            </a:extLst>
          </p:cNvPr>
          <p:cNvSpPr>
            <a:spLocks xmlns:a="http://schemas.openxmlformats.org/drawingml/2006/main" noGrp="1"/>
          </p:cNvSpPr>
          <p:nvPr/>
        </p:nvSpPr>
        <p:spPr>
          <a:xfrm xmlns:a="http://schemas.openxmlformats.org/drawingml/2006/main">
            <a:off x="638175" y="5568791"/>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59A2533F-ECDB-4AAD-9728-5912E7E23D76}"/>
              </a:ext>
            </a:extLst>
          </p:cNvPr>
          <p:cNvSpPr>
            <a:spLocks xmlns:a="http://schemas.openxmlformats.org/drawingml/2006/main" noGrp="1"/>
          </p:cNvSpPr>
          <p:nvPr/>
        </p:nvSpPr>
        <p:spPr>
          <a:xfrm xmlns:a="http://schemas.openxmlformats.org/drawingml/2006/main">
            <a:off x="904875" y="5521166"/>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System cleans the wording.</a:t>
            </a:r>
          </a:p>
        </p:txBody>
      </p:sp>
      <p:sp>
        <p:nvSpPr>
          <p:cNvPr id="21" name="">
            <a:extLst xmlns:a="http://schemas.openxmlformats.org/drawingml/2006/main">
              <a:ext uri="{FF2B5EF4-FFF2-40B4-BE49-F238E27FC236}">
                <a16:creationId xmlns:a16="http://schemas.microsoft.com/office/drawing/2014/main" id="{FA9C6ECC-E8BF-4345-989B-7450055DA5FA}"/>
              </a:ext>
            </a:extLst>
          </p:cNvPr>
          <p:cNvSpPr>
            <a:spLocks xmlns:a="http://schemas.openxmlformats.org/drawingml/2006/main" noGrp="1"/>
          </p:cNvSpPr>
          <p:nvPr/>
        </p:nvSpPr>
        <p:spPr>
          <a:xfrm xmlns:a="http://schemas.openxmlformats.org/drawingml/2006/main">
            <a:off x="3400425" y="5279708"/>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22" name="">
            <a:extLst xmlns:a="http://schemas.openxmlformats.org/drawingml/2006/main">
              <a:ext uri="{FF2B5EF4-FFF2-40B4-BE49-F238E27FC236}">
                <a16:creationId xmlns:a16="http://schemas.microsoft.com/office/drawing/2014/main" id="{A4B1E6F5-0FF5-4F11-BB83-AE42C15C8EEC}"/>
              </a:ext>
            </a:extLst>
          </p:cNvPr>
          <p:cNvSpPr>
            <a:spLocks xmlns:a="http://schemas.openxmlformats.org/drawingml/2006/main" noGrp="1"/>
          </p:cNvSpPr>
          <p:nvPr/>
        </p:nvSpPr>
        <p:spPr>
          <a:xfrm xmlns:a="http://schemas.openxmlformats.org/drawingml/2006/main">
            <a:off x="3400425" y="530828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CC4225BE-FF45-4C65-9EF5-CB6DCA6E4479}"/>
              </a:ext>
            </a:extLst>
          </p:cNvPr>
          <p:cNvSpPr>
            <a:spLocks xmlns:a="http://schemas.openxmlformats.org/drawingml/2006/main" noGrp="1"/>
          </p:cNvSpPr>
          <p:nvPr/>
        </p:nvSpPr>
        <p:spPr>
          <a:xfrm xmlns:a="http://schemas.openxmlformats.org/drawingml/2006/main">
            <a:off x="3667125" y="5260658"/>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System extracts names, IDs, dates, metrics, and statuses.</a:t>
            </a:r>
          </a:p>
        </p:txBody>
      </p:sp>
      <p:sp>
        <p:nvSpPr>
          <p:cNvPr id="24" name="">
            <a:extLst xmlns:a="http://schemas.openxmlformats.org/drawingml/2006/main">
              <a:ext uri="{FF2B5EF4-FFF2-40B4-BE49-F238E27FC236}">
                <a16:creationId xmlns:a16="http://schemas.microsoft.com/office/drawing/2014/main" id="{4E1CA7D0-F552-4DAB-853D-471CA26F3EEF}"/>
              </a:ext>
            </a:extLst>
          </p:cNvPr>
          <p:cNvSpPr>
            <a:spLocks xmlns:a="http://schemas.openxmlformats.org/drawingml/2006/main" noGrp="1"/>
          </p:cNvSpPr>
          <p:nvPr/>
        </p:nvSpPr>
        <p:spPr>
          <a:xfrm xmlns:a="http://schemas.openxmlformats.org/drawingml/2006/main">
            <a:off x="3400425" y="5540216"/>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25" name="">
            <a:extLst xmlns:a="http://schemas.openxmlformats.org/drawingml/2006/main">
              <a:ext uri="{FF2B5EF4-FFF2-40B4-BE49-F238E27FC236}">
                <a16:creationId xmlns:a16="http://schemas.microsoft.com/office/drawing/2014/main" id="{79625BB0-61D4-4976-893A-6EA5E5D53EFB}"/>
              </a:ext>
            </a:extLst>
          </p:cNvPr>
          <p:cNvSpPr>
            <a:spLocks xmlns:a="http://schemas.openxmlformats.org/drawingml/2006/main" noGrp="1"/>
          </p:cNvSpPr>
          <p:nvPr/>
        </p:nvSpPr>
        <p:spPr>
          <a:xfrm xmlns:a="http://schemas.openxmlformats.org/drawingml/2006/main">
            <a:off x="3400425" y="5568791"/>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8D7C872E-5C8A-4AFD-875F-72671EA1814C}"/>
              </a:ext>
            </a:extLst>
          </p:cNvPr>
          <p:cNvSpPr>
            <a:spLocks xmlns:a="http://schemas.openxmlformats.org/drawingml/2006/main" noGrp="1"/>
          </p:cNvSpPr>
          <p:nvPr/>
        </p:nvSpPr>
        <p:spPr>
          <a:xfrm xmlns:a="http://schemas.openxmlformats.org/drawingml/2006/main">
            <a:off x="3667125" y="5521166"/>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System decides the query type.</a:t>
            </a:r>
          </a:p>
        </p:txBody>
      </p:sp>
      <p:sp>
        <p:nvSpPr>
          <p:cNvPr id="27" name="">
            <a:extLst xmlns:a="http://schemas.openxmlformats.org/drawingml/2006/main">
              <a:ext uri="{FF2B5EF4-FFF2-40B4-BE49-F238E27FC236}">
                <a16:creationId xmlns:a16="http://schemas.microsoft.com/office/drawing/2014/main" id="{AD9231FB-F801-4D00-9F83-DACA6C0DD964}"/>
              </a:ext>
            </a:extLst>
          </p:cNvPr>
          <p:cNvSpPr>
            <a:spLocks xmlns:a="http://schemas.openxmlformats.org/drawingml/2006/main" noGrp="1"/>
          </p:cNvSpPr>
          <p:nvPr/>
        </p:nvSpPr>
        <p:spPr>
          <a:xfrm xmlns:a="http://schemas.openxmlformats.org/drawingml/2006/main">
            <a:off x="6162675" y="5279708"/>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28" name="">
            <a:extLst xmlns:a="http://schemas.openxmlformats.org/drawingml/2006/main">
              <a:ext uri="{FF2B5EF4-FFF2-40B4-BE49-F238E27FC236}">
                <a16:creationId xmlns:a16="http://schemas.microsoft.com/office/drawing/2014/main" id="{C97BB5CC-7FD6-4324-81C5-D538A7F60DED}"/>
              </a:ext>
            </a:extLst>
          </p:cNvPr>
          <p:cNvSpPr>
            <a:spLocks xmlns:a="http://schemas.openxmlformats.org/drawingml/2006/main" noGrp="1"/>
          </p:cNvSpPr>
          <p:nvPr/>
        </p:nvSpPr>
        <p:spPr>
          <a:xfrm xmlns:a="http://schemas.openxmlformats.org/drawingml/2006/main">
            <a:off x="6162675" y="530828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83B579EA-C04A-4319-88C2-5DAD9680173E}"/>
              </a:ext>
            </a:extLst>
          </p:cNvPr>
          <p:cNvSpPr>
            <a:spLocks xmlns:a="http://schemas.openxmlformats.org/drawingml/2006/main" noGrp="1"/>
          </p:cNvSpPr>
          <p:nvPr/>
        </p:nvSpPr>
        <p:spPr>
          <a:xfrm xmlns:a="http://schemas.openxmlformats.org/drawingml/2006/main">
            <a:off x="6429375" y="5260658"/>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System selects relevant tables and APIs.</a:t>
            </a:r>
          </a:p>
        </p:txBody>
      </p:sp>
      <p:sp>
        <p:nvSpPr>
          <p:cNvPr id="30" name="">
            <a:extLst xmlns:a="http://schemas.openxmlformats.org/drawingml/2006/main">
              <a:ext uri="{FF2B5EF4-FFF2-40B4-BE49-F238E27FC236}">
                <a16:creationId xmlns:a16="http://schemas.microsoft.com/office/drawing/2014/main" id="{813D648E-79AD-46F8-8711-03A236C0FF0B}"/>
              </a:ext>
            </a:extLst>
          </p:cNvPr>
          <p:cNvSpPr>
            <a:spLocks xmlns:a="http://schemas.openxmlformats.org/drawingml/2006/main" noGrp="1"/>
          </p:cNvSpPr>
          <p:nvPr/>
        </p:nvSpPr>
        <p:spPr>
          <a:xfrm xmlns:a="http://schemas.openxmlformats.org/drawingml/2006/main">
            <a:off x="6162675" y="5540216"/>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31" name="">
            <a:extLst xmlns:a="http://schemas.openxmlformats.org/drawingml/2006/main">
              <a:ext uri="{FF2B5EF4-FFF2-40B4-BE49-F238E27FC236}">
                <a16:creationId xmlns:a16="http://schemas.microsoft.com/office/drawing/2014/main" id="{3B692A76-0CD9-407D-B876-12996F6D3FC4}"/>
              </a:ext>
            </a:extLst>
          </p:cNvPr>
          <p:cNvSpPr>
            <a:spLocks xmlns:a="http://schemas.openxmlformats.org/drawingml/2006/main" noGrp="1"/>
          </p:cNvSpPr>
          <p:nvPr/>
        </p:nvSpPr>
        <p:spPr>
          <a:xfrm xmlns:a="http://schemas.openxmlformats.org/drawingml/2006/main">
            <a:off x="6162675" y="5568791"/>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2A9BDAB5-E7C6-419E-994D-842C69181D6E}"/>
              </a:ext>
            </a:extLst>
          </p:cNvPr>
          <p:cNvSpPr>
            <a:spLocks xmlns:a="http://schemas.openxmlformats.org/drawingml/2006/main" noGrp="1"/>
          </p:cNvSpPr>
          <p:nvPr/>
        </p:nvSpPr>
        <p:spPr>
          <a:xfrm xmlns:a="http://schemas.openxmlformats.org/drawingml/2006/main">
            <a:off x="6429375" y="5521166"/>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System creates a SQL/API plan.</a:t>
            </a:r>
          </a:p>
        </p:txBody>
      </p:sp>
      <p:sp>
        <p:nvSpPr>
          <p:cNvPr id="33" name="">
            <a:extLst xmlns:a="http://schemas.openxmlformats.org/drawingml/2006/main">
              <a:ext uri="{FF2B5EF4-FFF2-40B4-BE49-F238E27FC236}">
                <a16:creationId xmlns:a16="http://schemas.microsoft.com/office/drawing/2014/main" id="{CE1E02C7-A1AA-4036-AA67-4BCEB01615A7}"/>
              </a:ext>
            </a:extLst>
          </p:cNvPr>
          <p:cNvSpPr>
            <a:spLocks xmlns:a="http://schemas.openxmlformats.org/drawingml/2006/main" noGrp="1"/>
          </p:cNvSpPr>
          <p:nvPr/>
        </p:nvSpPr>
        <p:spPr>
          <a:xfrm xmlns:a="http://schemas.openxmlformats.org/drawingml/2006/main">
            <a:off x="8924925" y="5279708"/>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34" name="">
            <a:extLst xmlns:a="http://schemas.openxmlformats.org/drawingml/2006/main">
              <a:ext uri="{FF2B5EF4-FFF2-40B4-BE49-F238E27FC236}">
                <a16:creationId xmlns:a16="http://schemas.microsoft.com/office/drawing/2014/main" id="{F5498F00-D0AB-458E-8B1B-C2B4BC628FC1}"/>
              </a:ext>
            </a:extLst>
          </p:cNvPr>
          <p:cNvSpPr>
            <a:spLocks xmlns:a="http://schemas.openxmlformats.org/drawingml/2006/main" noGrp="1"/>
          </p:cNvSpPr>
          <p:nvPr/>
        </p:nvSpPr>
        <p:spPr>
          <a:xfrm xmlns:a="http://schemas.openxmlformats.org/drawingml/2006/main">
            <a:off x="8924925" y="530828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7</a:t>
            </a:r>
          </a:p>
        </p:txBody>
      </p:sp>
      <p:sp>
        <p:nvSpPr>
          <p:cNvPr id="35" name="">
            <a:extLst xmlns:a="http://schemas.openxmlformats.org/drawingml/2006/main">
              <a:ext uri="{FF2B5EF4-FFF2-40B4-BE49-F238E27FC236}">
                <a16:creationId xmlns:a16="http://schemas.microsoft.com/office/drawing/2014/main" id="{A76A52CC-A227-4071-8E74-C60A7C80FEBB}"/>
              </a:ext>
            </a:extLst>
          </p:cNvPr>
          <p:cNvSpPr>
            <a:spLocks xmlns:a="http://schemas.openxmlformats.org/drawingml/2006/main" noGrp="1"/>
          </p:cNvSpPr>
          <p:nvPr/>
        </p:nvSpPr>
        <p:spPr>
          <a:xfrm xmlns:a="http://schemas.openxmlformats.org/drawingml/2006/main">
            <a:off x="9191625" y="5260658"/>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System removes unnecessary or unsafe calls.</a:t>
            </a:r>
          </a:p>
        </p:txBody>
      </p:sp>
      <p:sp>
        <p:nvSpPr>
          <p:cNvPr id="36" name="">
            <a:extLst xmlns:a="http://schemas.openxmlformats.org/drawingml/2006/main">
              <a:ext uri="{FF2B5EF4-FFF2-40B4-BE49-F238E27FC236}">
                <a16:creationId xmlns:a16="http://schemas.microsoft.com/office/drawing/2014/main" id="{44A83BEA-8767-4270-9782-B9F8944FD1A5}"/>
              </a:ext>
            </a:extLst>
          </p:cNvPr>
          <p:cNvSpPr>
            <a:spLocks xmlns:a="http://schemas.openxmlformats.org/drawingml/2006/main" noGrp="1"/>
          </p:cNvSpPr>
          <p:nvPr/>
        </p:nvSpPr>
        <p:spPr>
          <a:xfrm xmlns:a="http://schemas.openxmlformats.org/drawingml/2006/main">
            <a:off x="8924925" y="5540216"/>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37" name="">
            <a:extLst xmlns:a="http://schemas.openxmlformats.org/drawingml/2006/main">
              <a:ext uri="{FF2B5EF4-FFF2-40B4-BE49-F238E27FC236}">
                <a16:creationId xmlns:a16="http://schemas.microsoft.com/office/drawing/2014/main" id="{7B903107-888C-4A50-B1B1-9C027D9D2439}"/>
              </a:ext>
            </a:extLst>
          </p:cNvPr>
          <p:cNvSpPr>
            <a:spLocks xmlns:a="http://schemas.openxmlformats.org/drawingml/2006/main" noGrp="1"/>
          </p:cNvSpPr>
          <p:nvPr/>
        </p:nvSpPr>
        <p:spPr>
          <a:xfrm xmlns:a="http://schemas.openxmlformats.org/drawingml/2006/main">
            <a:off x="8924925" y="5568791"/>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8</a:t>
            </a:r>
          </a:p>
        </p:txBody>
      </p:sp>
      <p:sp>
        <p:nvSpPr>
          <p:cNvPr id="38" name="">
            <a:extLst xmlns:a="http://schemas.openxmlformats.org/drawingml/2006/main">
              <a:ext uri="{FF2B5EF4-FFF2-40B4-BE49-F238E27FC236}">
                <a16:creationId xmlns:a16="http://schemas.microsoft.com/office/drawing/2014/main" id="{771B0267-E11C-4E7F-9DE5-8D05CD2A01FF}"/>
              </a:ext>
            </a:extLst>
          </p:cNvPr>
          <p:cNvSpPr>
            <a:spLocks xmlns:a="http://schemas.openxmlformats.org/drawingml/2006/main" noGrp="1"/>
          </p:cNvSpPr>
          <p:nvPr/>
        </p:nvSpPr>
        <p:spPr>
          <a:xfrm xmlns:a="http://schemas.openxmlformats.org/drawingml/2006/main">
            <a:off x="9191625" y="5521166"/>
            <a:ext cx="234315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8" b="0">
                <a:solidFill>
                  <a:srgbClr val="172033"/>
                </a:solidFill>
                <a:latin typeface="Aptos"/>
                <a:ea typeface="Aptos"/>
                <a:cs typeface="Aptos"/>
              </a:defRPr>
            </a:pPr>
            <a:r>
              <a:rPr sz="548" b="0">
                <a:solidFill>
                  <a:srgbClr val="172033"/>
                </a:solidFill>
                <a:latin typeface="Aptos"/>
                <a:ea typeface="Aptos"/>
                <a:cs typeface="Aptos"/>
              </a:rPr>
              <a:t>System validates the plan.</a:t>
            </a:r>
          </a:p>
        </p:txBody>
      </p:sp>
      <p:sp>
        <p:nvSpPr>
          <p:cNvPr id="39" name="">
            <a:extLst xmlns:a="http://schemas.openxmlformats.org/drawingml/2006/main">
              <a:ext uri="{FF2B5EF4-FFF2-40B4-BE49-F238E27FC236}">
                <a16:creationId xmlns:a16="http://schemas.microsoft.com/office/drawing/2014/main" id="{110F7566-F919-4A21-B095-180A3CE356E9}"/>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27</a:t>
            </a:r>
          </a:p>
        </p:txBody>
      </p:sp>
    </p:spTree>
    <p:extLst>
      <p:ext uri="{BB962C8B-B14F-4D97-AF65-F5344CB8AC3E}">
        <p14:creationId xmlns:p14="http://schemas.microsoft.com/office/powerpoint/2010/main" val="1563214232"/>
      </p:ext>
    </p:extLst>
  </p:cSld>
</p:sld>
</file>

<file path=ppt/slides/slide28.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7517FE-1F51-4BC9-88F4-2D21280EB16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5A4F24C-3048-4164-9FCE-21FEE9F13FBB}"/>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24E327D2-A8CF-4195-8142-FEC2D05ADDB6}"/>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Whole project workflow: evidence and answer dataflow</a:t>
            </a:r>
          </a:p>
        </p:txBody>
      </p:sp>
      <p:sp>
        <p:nvSpPr>
          <p:cNvPr id="4" name="">
            <a:extLst xmlns:a="http://schemas.openxmlformats.org/drawingml/2006/main">
              <a:ext uri="{FF2B5EF4-FFF2-40B4-BE49-F238E27FC236}">
                <a16:creationId xmlns:a16="http://schemas.microsoft.com/office/drawing/2014/main" id="{4B5D5753-28F6-4FE4-AA53-3DCD720BBABC}"/>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87A90AD-08D9-4AB8-AB07-D726D41FA64E}"/>
              </a:ext>
            </a:extLst>
          </p:cNvPr>
          <p:cNvSpPr>
            <a:spLocks xmlns:a="http://schemas.openxmlformats.org/drawingml/2006/main" noGrp="1"/>
          </p:cNvSpPr>
          <p:nvPr/>
        </p:nvSpPr>
        <p:spPr>
          <a:xfrm xmlns:a="http://schemas.openxmlformats.org/drawingml/2006/main">
            <a:off x="552450" y="1257300"/>
            <a:ext cx="10477500" cy="4000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89F15F9B-5BDC-4342-B623-DED2B936B9FC}"/>
              </a:ext>
            </a:extLst>
          </p:cNvPr>
          <p:cNvSpPr>
            <a:spLocks xmlns:a="http://schemas.openxmlformats.org/drawingml/2006/main" noGrp="1"/>
          </p:cNvSpPr>
          <p:nvPr/>
        </p:nvSpPr>
        <p:spPr>
          <a:xfrm xmlns:a="http://schemas.openxmlformats.org/drawingml/2006/main">
            <a:off x="552450" y="1257300"/>
            <a:ext cx="57150" cy="4000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BC4E408-7BEE-49BA-BBE7-08699CB24851}"/>
              </a:ext>
            </a:extLst>
          </p:cNvPr>
          <p:cNvSpPr>
            <a:spLocks xmlns:a="http://schemas.openxmlformats.org/drawingml/2006/main" noGrp="1"/>
          </p:cNvSpPr>
          <p:nvPr/>
        </p:nvSpPr>
        <p:spPr>
          <a:xfrm xmlns:a="http://schemas.openxmlformats.org/drawingml/2006/main">
            <a:off x="685800" y="13335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1D8804F3-112E-455C-9BB2-9E5AD2005618}"/>
              </a:ext>
            </a:extLst>
          </p:cNvPr>
          <p:cNvSpPr>
            <a:spLocks xmlns:a="http://schemas.openxmlformats.org/drawingml/2006/main" noGrp="1"/>
          </p:cNvSpPr>
          <p:nvPr/>
        </p:nvSpPr>
        <p:spPr>
          <a:xfrm xmlns:a="http://schemas.openxmlformats.org/drawingml/2006/main">
            <a:off x="1714500" y="1314450"/>
            <a:ext cx="91630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172033"/>
                </a:solidFill>
                <a:latin typeface="Aptos"/>
                <a:ea typeface="Aptos"/>
                <a:cs typeface="Aptos"/>
              </a:defRPr>
            </a:pPr>
            <a:r>
              <a:rPr sz="840" b="0">
                <a:solidFill>
                  <a:srgbClr val="172033"/>
                </a:solidFill>
                <a:latin typeface="Aptos"/>
                <a:ea typeface="Aptos"/>
                <a:cs typeface="Aptos"/>
              </a:rPr>
              <a:t>Part B shows how validated tool calls become evidence, verified answer slots, and reproducible artifacts.</a:t>
            </a:r>
          </a:p>
        </p:txBody>
      </p:sp>
      <p:sp>
        <p:nvSpPr>
          <p:cNvPr id="9" name="">
            <a:extLst xmlns:a="http://schemas.openxmlformats.org/drawingml/2006/main">
              <a:ext uri="{FF2B5EF4-FFF2-40B4-BE49-F238E27FC236}">
                <a16:creationId xmlns:a16="http://schemas.microsoft.com/office/drawing/2014/main" id="{D0252B3E-046F-43E3-A9BF-A55C6B7A5EEC}"/>
              </a:ext>
            </a:extLst>
          </p:cNvPr>
          <p:cNvSpPr>
            <a:spLocks xmlns:a="http://schemas.openxmlformats.org/drawingml/2006/main" noGrp="1"/>
          </p:cNvSpPr>
          <p:nvPr/>
        </p:nvSpPr>
        <p:spPr>
          <a:xfrm xmlns:a="http://schemas.openxmlformats.org/drawingml/2006/main">
            <a:off x="552450" y="1752600"/>
            <a:ext cx="11087100" cy="3105150"/>
          </a:xfrm>
          <a:prstGeom xmlns:a="http://schemas.openxmlformats.org/drawingml/2006/main" prst="rect">
            <a:avLst/>
          </a:prstGeom>
          <a:solidFill xmlns:a="http://schemas.openxmlformats.org/drawingml/2006/main">
            <a:srgbClr val="FFFFFF"/>
          </a:solidFill>
          <a:ln xmlns:a="http://schemas.openxmlformats.org/drawingml/2006/main" w="11430">
            <a:solidFill>
              <a:srgbClr val="D8E2EA"/>
            </a:solidFill>
            <a:prstDash val="solid"/>
          </a:ln>
        </p:spPr>
      </p:sp>
      <p:sp>
        <p:nvSpPr>
          <p:cNvPr id="10" name="">
            <a:extLst xmlns:a="http://schemas.openxmlformats.org/drawingml/2006/main">
              <a:ext uri="{FF2B5EF4-FFF2-40B4-BE49-F238E27FC236}">
                <a16:creationId xmlns:a16="http://schemas.microsoft.com/office/drawing/2014/main" id="{B4CB740C-39A5-4466-B530-FEB881BBD16B}"/>
              </a:ext>
            </a:extLst>
          </p:cNvPr>
          <p:cNvSpPr>
            <a:spLocks xmlns:a="http://schemas.openxmlformats.org/drawingml/2006/main" noGrp="1"/>
          </p:cNvSpPr>
          <p:nvPr/>
        </p:nvSpPr>
        <p:spPr>
          <a:xfrm xmlns:a="http://schemas.openxmlformats.org/drawingml/2006/main">
            <a:off x="704850" y="1866900"/>
            <a:ext cx="10782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F6B7A"/>
                </a:solidFill>
                <a:latin typeface="Aptos"/>
                <a:ea typeface="Aptos"/>
                <a:cs typeface="Aptos"/>
              </a:defRPr>
            </a:pPr>
            <a:r>
              <a:rPr sz="863" b="1">
                <a:solidFill>
                  <a:srgbClr val="5F6B7A"/>
                </a:solidFill>
                <a:latin typeface="Aptos"/>
                <a:ea typeface="Aptos"/>
                <a:cs typeface="Aptos"/>
              </a:rPr>
              <a:t>Object transformations: ValidatedPlan to Artifacts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526914363524f5b"/>
          <a:stretch xmlns:a="http://schemas.openxmlformats.org/drawingml/2006/main"/>
        </p:blipFill>
        <p:spPr>
          <a:xfrm xmlns:a="http://schemas.openxmlformats.org/drawingml/2006/main">
            <a:off x="1238766" y="2133600"/>
            <a:ext cx="9714468" cy="2457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776D03A-2193-4544-A2AA-49EBD1981613}"/>
              </a:ext>
            </a:extLst>
          </p:cNvPr>
          <p:cNvSpPr>
            <a:spLocks xmlns:a="http://schemas.openxmlformats.org/drawingml/2006/main" noGrp="1"/>
          </p:cNvSpPr>
          <p:nvPr/>
        </p:nvSpPr>
        <p:spPr>
          <a:xfrm xmlns:a="http://schemas.openxmlformats.org/drawingml/2006/main">
            <a:off x="552450" y="4991100"/>
            <a:ext cx="11087100" cy="876300"/>
          </a:xfrm>
          <a:prstGeom xmlns:a="http://schemas.openxmlformats.org/drawingml/2006/main" prst="rect">
            <a:avLst/>
          </a:prstGeom>
          <a:solidFill xmlns:a="http://schemas.openxmlformats.org/drawingml/2006/main">
            <a:srgbClr val="FFFFFF"/>
          </a:solidFill>
          <a:ln xmlns:a="http://schemas.openxmlformats.org/drawingml/2006/main" w="10478">
            <a:solidFill>
              <a:srgbClr val="D8E2EA"/>
            </a:solidFill>
            <a:prstDash val="solid"/>
          </a:ln>
        </p:spPr>
      </p:sp>
      <p:sp>
        <p:nvSpPr>
          <p:cNvPr id="13" name="">
            <a:extLst xmlns:a="http://schemas.openxmlformats.org/drawingml/2006/main">
              <a:ext uri="{FF2B5EF4-FFF2-40B4-BE49-F238E27FC236}">
                <a16:creationId xmlns:a16="http://schemas.microsoft.com/office/drawing/2014/main" id="{C31AE007-E954-468F-B00E-A5FB30642F49}"/>
              </a:ext>
            </a:extLst>
          </p:cNvPr>
          <p:cNvSpPr>
            <a:spLocks xmlns:a="http://schemas.openxmlformats.org/drawingml/2006/main" noGrp="1"/>
          </p:cNvSpPr>
          <p:nvPr/>
        </p:nvSpPr>
        <p:spPr>
          <a:xfrm xmlns:a="http://schemas.openxmlformats.org/drawingml/2006/main">
            <a:off x="552450" y="4991100"/>
            <a:ext cx="57150" cy="87630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E66798D-46AC-4A3C-8CB3-1ADC762333DF}"/>
              </a:ext>
            </a:extLst>
          </p:cNvPr>
          <p:cNvSpPr>
            <a:spLocks xmlns:a="http://schemas.openxmlformats.org/drawingml/2006/main" noGrp="1"/>
          </p:cNvSpPr>
          <p:nvPr/>
        </p:nvSpPr>
        <p:spPr>
          <a:xfrm xmlns:a="http://schemas.openxmlformats.org/drawingml/2006/main">
            <a:off x="638175" y="5076825"/>
            <a:ext cx="10915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172033"/>
                </a:solidFill>
                <a:latin typeface="Aptos"/>
                <a:ea typeface="Aptos"/>
                <a:cs typeface="Aptos"/>
              </a:defRPr>
            </a:pPr>
            <a:r>
              <a:rPr sz="825" b="1">
                <a:solidFill>
                  <a:srgbClr val="172033"/>
                </a:solidFill>
                <a:latin typeface="Aptos"/>
                <a:ea typeface="Aptos"/>
                <a:cs typeface="Aptos"/>
              </a:rPr>
              <a:t>Transition summary</a:t>
            </a:r>
          </a:p>
        </p:txBody>
      </p:sp>
      <p:sp>
        <p:nvSpPr>
          <p:cNvPr id="15" name="">
            <a:extLst xmlns:a="http://schemas.openxmlformats.org/drawingml/2006/main">
              <a:ext uri="{FF2B5EF4-FFF2-40B4-BE49-F238E27FC236}">
                <a16:creationId xmlns:a16="http://schemas.microsoft.com/office/drawing/2014/main" id="{A4900762-5B00-4D77-8962-F157C3A7CA16}"/>
              </a:ext>
            </a:extLst>
          </p:cNvPr>
          <p:cNvSpPr>
            <a:spLocks xmlns:a="http://schemas.openxmlformats.org/drawingml/2006/main" noGrp="1"/>
          </p:cNvSpPr>
          <p:nvPr/>
        </p:nvSpPr>
        <p:spPr>
          <a:xfrm xmlns:a="http://schemas.openxmlformats.org/drawingml/2006/main">
            <a:off x="638175" y="5279708"/>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16" name="">
            <a:extLst xmlns:a="http://schemas.openxmlformats.org/drawingml/2006/main">
              <a:ext uri="{FF2B5EF4-FFF2-40B4-BE49-F238E27FC236}">
                <a16:creationId xmlns:a16="http://schemas.microsoft.com/office/drawing/2014/main" id="{63E84BC3-B2F8-4C94-B2E2-AE402C8FE17C}"/>
              </a:ext>
            </a:extLst>
          </p:cNvPr>
          <p:cNvSpPr>
            <a:spLocks xmlns:a="http://schemas.openxmlformats.org/drawingml/2006/main" noGrp="1"/>
          </p:cNvSpPr>
          <p:nvPr/>
        </p:nvSpPr>
        <p:spPr>
          <a:xfrm xmlns:a="http://schemas.openxmlformats.org/drawingml/2006/main">
            <a:off x="638175" y="530828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8C92CF5-B220-4606-A737-B8E486FB17D7}"/>
              </a:ext>
            </a:extLst>
          </p:cNvPr>
          <p:cNvSpPr>
            <a:spLocks xmlns:a="http://schemas.openxmlformats.org/drawingml/2006/main" noGrp="1"/>
          </p:cNvSpPr>
          <p:nvPr/>
        </p:nvSpPr>
        <p:spPr>
          <a:xfrm xmlns:a="http://schemas.openxmlformats.org/drawingml/2006/main">
            <a:off x="904875" y="5260658"/>
            <a:ext cx="326390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172033"/>
                </a:solidFill>
                <a:latin typeface="Aptos"/>
                <a:ea typeface="Aptos"/>
                <a:cs typeface="Aptos"/>
              </a:defRPr>
            </a:pPr>
            <a:r>
              <a:rPr sz="585" b="0">
                <a:solidFill>
                  <a:srgbClr val="172033"/>
                </a:solidFill>
                <a:latin typeface="Aptos"/>
                <a:ea typeface="Aptos"/>
                <a:cs typeface="Aptos"/>
              </a:rPr>
              <a:t>System runs SQL and dry-run/live API.</a:t>
            </a:r>
          </a:p>
        </p:txBody>
      </p:sp>
      <p:sp>
        <p:nvSpPr>
          <p:cNvPr id="18" name="">
            <a:extLst xmlns:a="http://schemas.openxmlformats.org/drawingml/2006/main">
              <a:ext uri="{FF2B5EF4-FFF2-40B4-BE49-F238E27FC236}">
                <a16:creationId xmlns:a16="http://schemas.microsoft.com/office/drawing/2014/main" id="{DF1779DE-882F-4BA2-BB5A-D46B179A63A7}"/>
              </a:ext>
            </a:extLst>
          </p:cNvPr>
          <p:cNvSpPr>
            <a:spLocks xmlns:a="http://schemas.openxmlformats.org/drawingml/2006/main" noGrp="1"/>
          </p:cNvSpPr>
          <p:nvPr/>
        </p:nvSpPr>
        <p:spPr>
          <a:xfrm xmlns:a="http://schemas.openxmlformats.org/drawingml/2006/main">
            <a:off x="638175" y="5540216"/>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19" name="">
            <a:extLst xmlns:a="http://schemas.openxmlformats.org/drawingml/2006/main">
              <a:ext uri="{FF2B5EF4-FFF2-40B4-BE49-F238E27FC236}">
                <a16:creationId xmlns:a16="http://schemas.microsoft.com/office/drawing/2014/main" id="{23B26CFD-F46B-4D00-B83A-D76998467844}"/>
              </a:ext>
            </a:extLst>
          </p:cNvPr>
          <p:cNvSpPr>
            <a:spLocks xmlns:a="http://schemas.openxmlformats.org/drawingml/2006/main" noGrp="1"/>
          </p:cNvSpPr>
          <p:nvPr/>
        </p:nvSpPr>
        <p:spPr>
          <a:xfrm xmlns:a="http://schemas.openxmlformats.org/drawingml/2006/main">
            <a:off x="638175" y="5568791"/>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9126E709-FFE2-40AE-8A6B-1E99594EFF16}"/>
              </a:ext>
            </a:extLst>
          </p:cNvPr>
          <p:cNvSpPr>
            <a:spLocks xmlns:a="http://schemas.openxmlformats.org/drawingml/2006/main" noGrp="1"/>
          </p:cNvSpPr>
          <p:nvPr/>
        </p:nvSpPr>
        <p:spPr>
          <a:xfrm xmlns:a="http://schemas.openxmlformats.org/drawingml/2006/main">
            <a:off x="904875" y="5521166"/>
            <a:ext cx="326390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172033"/>
                </a:solidFill>
                <a:latin typeface="Aptos"/>
                <a:ea typeface="Aptos"/>
                <a:cs typeface="Aptos"/>
              </a:defRPr>
            </a:pPr>
            <a:r>
              <a:rPr sz="585" b="0">
                <a:solidFill>
                  <a:srgbClr val="172033"/>
                </a:solidFill>
                <a:latin typeface="Aptos"/>
                <a:ea typeface="Aptos"/>
                <a:cs typeface="Aptos"/>
              </a:rPr>
              <a:t>System collects evidence.</a:t>
            </a:r>
          </a:p>
        </p:txBody>
      </p:sp>
      <p:sp>
        <p:nvSpPr>
          <p:cNvPr id="21" name="">
            <a:extLst xmlns:a="http://schemas.openxmlformats.org/drawingml/2006/main">
              <a:ext uri="{FF2B5EF4-FFF2-40B4-BE49-F238E27FC236}">
                <a16:creationId xmlns:a16="http://schemas.microsoft.com/office/drawing/2014/main" id="{E947E53F-7DFD-4762-8659-694FA01B974C}"/>
              </a:ext>
            </a:extLst>
          </p:cNvPr>
          <p:cNvSpPr>
            <a:spLocks xmlns:a="http://schemas.openxmlformats.org/drawingml/2006/main" noGrp="1"/>
          </p:cNvSpPr>
          <p:nvPr/>
        </p:nvSpPr>
        <p:spPr>
          <a:xfrm xmlns:a="http://schemas.openxmlformats.org/drawingml/2006/main">
            <a:off x="4321175" y="5279708"/>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22" name="">
            <a:extLst xmlns:a="http://schemas.openxmlformats.org/drawingml/2006/main">
              <a:ext uri="{FF2B5EF4-FFF2-40B4-BE49-F238E27FC236}">
                <a16:creationId xmlns:a16="http://schemas.microsoft.com/office/drawing/2014/main" id="{7BDD1690-DB5A-45AC-BA24-0251F0EECFDF}"/>
              </a:ext>
            </a:extLst>
          </p:cNvPr>
          <p:cNvSpPr>
            <a:spLocks xmlns:a="http://schemas.openxmlformats.org/drawingml/2006/main" noGrp="1"/>
          </p:cNvSpPr>
          <p:nvPr/>
        </p:nvSpPr>
        <p:spPr>
          <a:xfrm xmlns:a="http://schemas.openxmlformats.org/drawingml/2006/main">
            <a:off x="4321175" y="530828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C5C7F53A-62E4-4706-8E99-91EB409B4C78}"/>
              </a:ext>
            </a:extLst>
          </p:cNvPr>
          <p:cNvSpPr>
            <a:spLocks xmlns:a="http://schemas.openxmlformats.org/drawingml/2006/main" noGrp="1"/>
          </p:cNvSpPr>
          <p:nvPr/>
        </p:nvSpPr>
        <p:spPr>
          <a:xfrm xmlns:a="http://schemas.openxmlformats.org/drawingml/2006/main">
            <a:off x="4587875" y="5260658"/>
            <a:ext cx="326390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172033"/>
                </a:solidFill>
                <a:latin typeface="Aptos"/>
                <a:ea typeface="Aptos"/>
                <a:cs typeface="Aptos"/>
              </a:defRPr>
            </a:pPr>
            <a:r>
              <a:rPr sz="585" b="0">
                <a:solidFill>
                  <a:srgbClr val="172033"/>
                </a:solidFill>
                <a:latin typeface="Aptos"/>
                <a:ea typeface="Aptos"/>
                <a:cs typeface="Aptos"/>
              </a:rPr>
              <a:t>System verifies the answer.</a:t>
            </a:r>
          </a:p>
        </p:txBody>
      </p:sp>
      <p:sp>
        <p:nvSpPr>
          <p:cNvPr id="24" name="">
            <a:extLst xmlns:a="http://schemas.openxmlformats.org/drawingml/2006/main">
              <a:ext uri="{FF2B5EF4-FFF2-40B4-BE49-F238E27FC236}">
                <a16:creationId xmlns:a16="http://schemas.microsoft.com/office/drawing/2014/main" id="{4E2F1CDE-8D9D-4120-B9F3-0AAB5C73BDF6}"/>
              </a:ext>
            </a:extLst>
          </p:cNvPr>
          <p:cNvSpPr>
            <a:spLocks xmlns:a="http://schemas.openxmlformats.org/drawingml/2006/main" noGrp="1"/>
          </p:cNvSpPr>
          <p:nvPr/>
        </p:nvSpPr>
        <p:spPr>
          <a:xfrm xmlns:a="http://schemas.openxmlformats.org/drawingml/2006/main">
            <a:off x="4321175" y="5540216"/>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25" name="">
            <a:extLst xmlns:a="http://schemas.openxmlformats.org/drawingml/2006/main">
              <a:ext uri="{FF2B5EF4-FFF2-40B4-BE49-F238E27FC236}">
                <a16:creationId xmlns:a16="http://schemas.microsoft.com/office/drawing/2014/main" id="{8E652B6A-5A71-4585-95E0-AE72A832FB98}"/>
              </a:ext>
            </a:extLst>
          </p:cNvPr>
          <p:cNvSpPr>
            <a:spLocks xmlns:a="http://schemas.openxmlformats.org/drawingml/2006/main" noGrp="1"/>
          </p:cNvSpPr>
          <p:nvPr/>
        </p:nvSpPr>
        <p:spPr>
          <a:xfrm xmlns:a="http://schemas.openxmlformats.org/drawingml/2006/main">
            <a:off x="4321175" y="5568791"/>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176E47B4-A5AA-4A0F-A40E-4776A4E6C46B}"/>
              </a:ext>
            </a:extLst>
          </p:cNvPr>
          <p:cNvSpPr>
            <a:spLocks xmlns:a="http://schemas.openxmlformats.org/drawingml/2006/main" noGrp="1"/>
          </p:cNvSpPr>
          <p:nvPr/>
        </p:nvSpPr>
        <p:spPr>
          <a:xfrm xmlns:a="http://schemas.openxmlformats.org/drawingml/2006/main">
            <a:off x="4587875" y="5521166"/>
            <a:ext cx="326390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172033"/>
                </a:solidFill>
                <a:latin typeface="Aptos"/>
                <a:ea typeface="Aptos"/>
                <a:cs typeface="Aptos"/>
              </a:defRPr>
            </a:pPr>
            <a:r>
              <a:rPr sz="585" b="0">
                <a:solidFill>
                  <a:srgbClr val="172033"/>
                </a:solidFill>
                <a:latin typeface="Aptos"/>
                <a:ea typeface="Aptos"/>
                <a:cs typeface="Aptos"/>
              </a:rPr>
              <a:t>System writes metadata.json, filled_system_prompt.txt, and trajectory.json.</a:t>
            </a:r>
          </a:p>
        </p:txBody>
      </p:sp>
      <p:sp>
        <p:nvSpPr>
          <p:cNvPr id="27" name="">
            <a:extLst xmlns:a="http://schemas.openxmlformats.org/drawingml/2006/main">
              <a:ext uri="{FF2B5EF4-FFF2-40B4-BE49-F238E27FC236}">
                <a16:creationId xmlns:a16="http://schemas.microsoft.com/office/drawing/2014/main" id="{4B4333AA-89E5-4CB9-BFA7-D3C30EA73A90}"/>
              </a:ext>
            </a:extLst>
          </p:cNvPr>
          <p:cNvSpPr>
            <a:spLocks xmlns:a="http://schemas.openxmlformats.org/drawingml/2006/main" noGrp="1"/>
          </p:cNvSpPr>
          <p:nvPr/>
        </p:nvSpPr>
        <p:spPr>
          <a:xfrm xmlns:a="http://schemas.openxmlformats.org/drawingml/2006/main">
            <a:off x="8004175" y="5279708"/>
            <a:ext cx="190500" cy="190500"/>
          </a:xfrm>
          <a:prstGeom xmlns:a="http://schemas.openxmlformats.org/drawingml/2006/main" prst="rect">
            <a:avLst/>
          </a:prstGeom>
          <a:solidFill xmlns:a="http://schemas.openxmlformats.org/drawingml/2006/main">
            <a:srgbClr val="E8FAF8"/>
          </a:solidFill>
          <a:ln xmlns:a="http://schemas.openxmlformats.org/drawingml/2006/main" w="9525">
            <a:solidFill>
              <a:srgbClr val="0B8F8A"/>
            </a:solidFill>
            <a:prstDash val="solid"/>
          </a:ln>
        </p:spPr>
      </p:sp>
      <p:sp>
        <p:nvSpPr>
          <p:cNvPr id="28" name="">
            <a:extLst xmlns:a="http://schemas.openxmlformats.org/drawingml/2006/main">
              <a:ext uri="{FF2B5EF4-FFF2-40B4-BE49-F238E27FC236}">
                <a16:creationId xmlns:a16="http://schemas.microsoft.com/office/drawing/2014/main" id="{0F466B70-6595-45ED-8B57-B0872E32D257}"/>
              </a:ext>
            </a:extLst>
          </p:cNvPr>
          <p:cNvSpPr>
            <a:spLocks xmlns:a="http://schemas.openxmlformats.org/drawingml/2006/main" noGrp="1"/>
          </p:cNvSpPr>
          <p:nvPr/>
        </p:nvSpPr>
        <p:spPr>
          <a:xfrm xmlns:a="http://schemas.openxmlformats.org/drawingml/2006/main">
            <a:off x="8004175" y="530828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B8F8A"/>
                </a:solidFill>
                <a:latin typeface="Aptos"/>
                <a:ea typeface="Aptos"/>
                <a:cs typeface="Aptos"/>
              </a:defRPr>
            </a:pPr>
            <a:r>
              <a:rPr sz="713" b="1">
                <a:solidFill>
                  <a:srgbClr val="0B8F8A"/>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1D302904-6523-4F8B-97A8-432E843D95C2}"/>
              </a:ext>
            </a:extLst>
          </p:cNvPr>
          <p:cNvSpPr>
            <a:spLocks xmlns:a="http://schemas.openxmlformats.org/drawingml/2006/main" noGrp="1"/>
          </p:cNvSpPr>
          <p:nvPr/>
        </p:nvSpPr>
        <p:spPr>
          <a:xfrm xmlns:a="http://schemas.openxmlformats.org/drawingml/2006/main">
            <a:off x="8270875" y="5260658"/>
            <a:ext cx="3263900" cy="23193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172033"/>
                </a:solidFill>
                <a:latin typeface="Aptos"/>
                <a:ea typeface="Aptos"/>
                <a:cs typeface="Aptos"/>
              </a:defRPr>
            </a:pPr>
            <a:r>
              <a:rPr sz="585" b="0">
                <a:solidFill>
                  <a:srgbClr val="172033"/>
                </a:solidFill>
                <a:latin typeface="Aptos"/>
                <a:ea typeface="Aptos"/>
                <a:cs typeface="Aptos"/>
              </a:rPr>
              <a:t>Evaluation checks correctness and efficiency.</a:t>
            </a:r>
          </a:p>
        </p:txBody>
      </p:sp>
      <p:sp>
        <p:nvSpPr>
          <p:cNvPr id="30" name="">
            <a:extLst xmlns:a="http://schemas.openxmlformats.org/drawingml/2006/main">
              <a:ext uri="{FF2B5EF4-FFF2-40B4-BE49-F238E27FC236}">
                <a16:creationId xmlns:a16="http://schemas.microsoft.com/office/drawing/2014/main" id="{36BF5D9F-B634-4317-BCED-5C820A3643C3}"/>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28</a:t>
            </a:r>
          </a:p>
        </p:txBody>
      </p:sp>
    </p:spTree>
    <p:extLst>
      <p:ext uri="{BB962C8B-B14F-4D97-AF65-F5344CB8AC3E}">
        <p14:creationId xmlns:p14="http://schemas.microsoft.com/office/powerpoint/2010/main" val="703425793"/>
      </p:ext>
    </p:extLst>
  </p:cSld>
</p:sld>
</file>

<file path=ppt/slides/slide29.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BC5DB4-A624-4A3D-A463-F4AEC6D2062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3FC4139-0BD2-4296-BEF7-EDC99A25F98B}"/>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927E57EC-7286-45F4-9CD1-946654140259}"/>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Concrete dry-run example: Birthday Message</a:t>
            </a:r>
          </a:p>
        </p:txBody>
      </p:sp>
      <p:sp>
        <p:nvSpPr>
          <p:cNvPr id="4" name="">
            <a:extLst xmlns:a="http://schemas.openxmlformats.org/drawingml/2006/main">
              <a:ext uri="{FF2B5EF4-FFF2-40B4-BE49-F238E27FC236}">
                <a16:creationId xmlns:a16="http://schemas.microsoft.com/office/drawing/2014/main" id="{75581626-F15A-4A8B-9D2A-2C896409AD37}"/>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B28934A-F920-4B0B-8935-087AD7135414}"/>
              </a:ext>
            </a:extLst>
          </p:cNvPr>
          <p:cNvSpPr>
            <a:spLocks xmlns:a="http://schemas.openxmlformats.org/drawingml/2006/main" noGrp="1"/>
          </p:cNvSpPr>
          <p:nvPr/>
        </p:nvSpPr>
        <p:spPr>
          <a:xfrm xmlns:a="http://schemas.openxmlformats.org/drawingml/2006/main">
            <a:off x="552450" y="1257300"/>
            <a:ext cx="10477500" cy="400050"/>
          </a:xfrm>
          <a:prstGeom xmlns:a="http://schemas.openxmlformats.org/drawingml/2006/main" prst="rect">
            <a:avLst/>
          </a:prstGeom>
          <a:solidFill xmlns:a="http://schemas.openxmlformats.org/drawingml/2006/main">
            <a:srgbClr val="FFF7ED"/>
          </a:solidFill>
          <a:ln xmlns:a="http://schemas.openxmlformats.org/drawingml/2006/main" w="9525">
            <a:solidFill>
              <a:srgbClr val="FED7AA"/>
            </a:solidFill>
            <a:prstDash val="solid"/>
          </a:ln>
        </p:spPr>
      </p:sp>
      <p:sp>
        <p:nvSpPr>
          <p:cNvPr id="6" name="">
            <a:extLst xmlns:a="http://schemas.openxmlformats.org/drawingml/2006/main">
              <a:ext uri="{FF2B5EF4-FFF2-40B4-BE49-F238E27FC236}">
                <a16:creationId xmlns:a16="http://schemas.microsoft.com/office/drawing/2014/main" id="{2F0FAE07-DFE6-4F52-8B2F-CF71D836A62B}"/>
              </a:ext>
            </a:extLst>
          </p:cNvPr>
          <p:cNvSpPr>
            <a:spLocks xmlns:a="http://schemas.openxmlformats.org/drawingml/2006/main" noGrp="1"/>
          </p:cNvSpPr>
          <p:nvPr/>
        </p:nvSpPr>
        <p:spPr>
          <a:xfrm xmlns:a="http://schemas.openxmlformats.org/drawingml/2006/main">
            <a:off x="552450" y="1257300"/>
            <a:ext cx="57150" cy="4000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FABD496-68B3-4119-830B-FB1D2FAB4A37}"/>
              </a:ext>
            </a:extLst>
          </p:cNvPr>
          <p:cNvSpPr>
            <a:spLocks xmlns:a="http://schemas.openxmlformats.org/drawingml/2006/main" noGrp="1"/>
          </p:cNvSpPr>
          <p:nvPr/>
        </p:nvSpPr>
        <p:spPr>
          <a:xfrm xmlns:a="http://schemas.openxmlformats.org/drawingml/2006/main">
            <a:off x="685800" y="13335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D97706"/>
                </a:solidFill>
                <a:latin typeface="Aptos"/>
                <a:ea typeface="Aptos"/>
                <a:cs typeface="Aptos"/>
              </a:defRPr>
            </a:pPr>
            <a:r>
              <a:rPr sz="735" b="1">
                <a:solidFill>
                  <a:srgbClr val="D97706"/>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1F36A286-2F61-49FD-999E-2C97CCB71953}"/>
              </a:ext>
            </a:extLst>
          </p:cNvPr>
          <p:cNvSpPr>
            <a:spLocks xmlns:a="http://schemas.openxmlformats.org/drawingml/2006/main" noGrp="1"/>
          </p:cNvSpPr>
          <p:nvPr/>
        </p:nvSpPr>
        <p:spPr>
          <a:xfrm xmlns:a="http://schemas.openxmlformats.org/drawingml/2006/main">
            <a:off x="1714500" y="1314450"/>
            <a:ext cx="91630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0">
                <a:solidFill>
                  <a:srgbClr val="172033"/>
                </a:solidFill>
                <a:latin typeface="Aptos"/>
                <a:ea typeface="Aptos"/>
                <a:cs typeface="Aptos"/>
              </a:defRPr>
            </a:pPr>
            <a:r>
              <a:rPr sz="855" b="0">
                <a:solidFill>
                  <a:srgbClr val="172033"/>
                </a:solidFill>
                <a:latin typeface="Aptos"/>
                <a:ea typeface="Aptos"/>
                <a:cs typeface="Aptos"/>
              </a:rPr>
              <a:t>This example shows dry-run API evaluation. Without credentials, the system checks whether the planned API call is correct instead of claiming a live API result.</a:t>
            </a:r>
          </a:p>
        </p:txBody>
      </p:sp>
      <p:sp>
        <p:nvSpPr>
          <p:cNvPr id="9" name="">
            <a:extLst xmlns:a="http://schemas.openxmlformats.org/drawingml/2006/main">
              <a:ext uri="{FF2B5EF4-FFF2-40B4-BE49-F238E27FC236}">
                <a16:creationId xmlns:a16="http://schemas.microsoft.com/office/drawing/2014/main" id="{853428EC-C900-4367-BCA7-F0777F2AAE2F}"/>
              </a:ext>
            </a:extLst>
          </p:cNvPr>
          <p:cNvSpPr>
            <a:spLocks xmlns:a="http://schemas.openxmlformats.org/drawingml/2006/main" noGrp="1"/>
          </p:cNvSpPr>
          <p:nvPr/>
        </p:nvSpPr>
        <p:spPr>
          <a:xfrm xmlns:a="http://schemas.openxmlformats.org/drawingml/2006/main">
            <a:off x="552450" y="1752600"/>
            <a:ext cx="11087100" cy="2476500"/>
          </a:xfrm>
          <a:prstGeom xmlns:a="http://schemas.openxmlformats.org/drawingml/2006/main" prst="rect">
            <a:avLst/>
          </a:prstGeom>
          <a:solidFill xmlns:a="http://schemas.openxmlformats.org/drawingml/2006/main">
            <a:srgbClr val="FFFFFF"/>
          </a:solidFill>
          <a:ln xmlns:a="http://schemas.openxmlformats.org/drawingml/2006/main" w="11430">
            <a:solidFill>
              <a:srgbClr val="D8E2EA"/>
            </a:solidFill>
            <a:prstDash val="solid"/>
          </a:ln>
        </p:spPr>
      </p:sp>
      <p:sp>
        <p:nvSpPr>
          <p:cNvPr id="10" name="">
            <a:extLst xmlns:a="http://schemas.openxmlformats.org/drawingml/2006/main">
              <a:ext uri="{FF2B5EF4-FFF2-40B4-BE49-F238E27FC236}">
                <a16:creationId xmlns:a16="http://schemas.microsoft.com/office/drawing/2014/main" id="{F2D4DCC6-344D-438D-8A00-ACCC4D15AFB1}"/>
              </a:ext>
            </a:extLst>
          </p:cNvPr>
          <p:cNvSpPr>
            <a:spLocks xmlns:a="http://schemas.openxmlformats.org/drawingml/2006/main" noGrp="1"/>
          </p:cNvSpPr>
          <p:nvPr/>
        </p:nvSpPr>
        <p:spPr>
          <a:xfrm xmlns:a="http://schemas.openxmlformats.org/drawingml/2006/main">
            <a:off x="704850" y="1866900"/>
            <a:ext cx="10782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F6B7A"/>
                </a:solidFill>
                <a:latin typeface="Aptos"/>
                <a:ea typeface="Aptos"/>
                <a:cs typeface="Aptos"/>
              </a:defRPr>
            </a:pPr>
            <a:r>
              <a:rPr sz="863" b="1">
                <a:solidFill>
                  <a:srgbClr val="5F6B7A"/>
                </a:solidFill>
                <a:latin typeface="Aptos"/>
                <a:ea typeface="Aptos"/>
                <a:cs typeface="Aptos"/>
              </a:rPr>
              <a:t>Detailed trace: fields, payloads, and dry-run condition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787f9aa79f9410d"/>
          <a:stretch xmlns:a="http://schemas.openxmlformats.org/drawingml/2006/main"/>
        </p:blipFill>
        <p:spPr>
          <a:xfrm xmlns:a="http://schemas.openxmlformats.org/drawingml/2006/main">
            <a:off x="1257699" y="2133600"/>
            <a:ext cx="9676602" cy="1809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39DCCF8-0A93-4A56-9323-84877AFDF941}"/>
              </a:ext>
            </a:extLst>
          </p:cNvPr>
          <p:cNvSpPr>
            <a:spLocks xmlns:a="http://schemas.openxmlformats.org/drawingml/2006/main" noGrp="1"/>
          </p:cNvSpPr>
          <p:nvPr/>
        </p:nvSpPr>
        <p:spPr>
          <a:xfrm xmlns:a="http://schemas.openxmlformats.org/drawingml/2006/main">
            <a:off x="552450" y="4400550"/>
            <a:ext cx="11087100" cy="1657350"/>
          </a:xfrm>
          <a:prstGeom xmlns:a="http://schemas.openxmlformats.org/drawingml/2006/main" prst="rect">
            <a:avLst/>
          </a:prstGeom>
          <a:solidFill xmlns:a="http://schemas.openxmlformats.org/drawingml/2006/main">
            <a:srgbClr val="FFFFFF"/>
          </a:solidFill>
          <a:ln xmlns:a="http://schemas.openxmlformats.org/drawingml/2006/main" w="10478">
            <a:solidFill>
              <a:srgbClr val="D8E2EA"/>
            </a:solidFill>
            <a:prstDash val="solid"/>
          </a:ln>
        </p:spPr>
      </p:sp>
      <p:sp>
        <p:nvSpPr>
          <p:cNvPr id="13" name="">
            <a:extLst xmlns:a="http://schemas.openxmlformats.org/drawingml/2006/main">
              <a:ext uri="{FF2B5EF4-FFF2-40B4-BE49-F238E27FC236}">
                <a16:creationId xmlns:a16="http://schemas.microsoft.com/office/drawing/2014/main" id="{E3D8A092-45E2-4BF2-A2C6-1EAB268EFF6E}"/>
              </a:ext>
            </a:extLst>
          </p:cNvPr>
          <p:cNvSpPr>
            <a:spLocks xmlns:a="http://schemas.openxmlformats.org/drawingml/2006/main" noGrp="1"/>
          </p:cNvSpPr>
          <p:nvPr/>
        </p:nvSpPr>
        <p:spPr>
          <a:xfrm xmlns:a="http://schemas.openxmlformats.org/drawingml/2006/main">
            <a:off x="552450" y="4400550"/>
            <a:ext cx="57150" cy="16573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9DA6C3E-23CD-41C4-86C8-20ACF2ACB7E3}"/>
              </a:ext>
            </a:extLst>
          </p:cNvPr>
          <p:cNvSpPr>
            <a:spLocks xmlns:a="http://schemas.openxmlformats.org/drawingml/2006/main" noGrp="1"/>
          </p:cNvSpPr>
          <p:nvPr/>
        </p:nvSpPr>
        <p:spPr>
          <a:xfrm xmlns:a="http://schemas.openxmlformats.org/drawingml/2006/main">
            <a:off x="647700" y="4486275"/>
            <a:ext cx="10896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72033"/>
                </a:solidFill>
                <a:latin typeface="Aptos"/>
                <a:ea typeface="Aptos"/>
                <a:cs typeface="Aptos"/>
              </a:defRPr>
            </a:pPr>
            <a:r>
              <a:rPr sz="863" b="1">
                <a:solidFill>
                  <a:srgbClr val="172033"/>
                </a:solidFill>
                <a:latin typeface="Aptos"/>
                <a:ea typeface="Aptos"/>
                <a:cs typeface="Aptos"/>
              </a:rPr>
              <a:t>Step-by-step dry-run trace</a:t>
            </a:r>
          </a:p>
        </p:txBody>
      </p:sp>
      <p:sp>
        <p:nvSpPr>
          <p:cNvPr id="15" name="">
            <a:extLst xmlns:a="http://schemas.openxmlformats.org/drawingml/2006/main">
              <a:ext uri="{FF2B5EF4-FFF2-40B4-BE49-F238E27FC236}">
                <a16:creationId xmlns:a16="http://schemas.microsoft.com/office/drawing/2014/main" id="{91EDA483-CD58-4D45-9A44-2658AE9CBA77}"/>
              </a:ext>
            </a:extLst>
          </p:cNvPr>
          <p:cNvSpPr>
            <a:spLocks xmlns:a="http://schemas.openxmlformats.org/drawingml/2006/main" noGrp="1"/>
          </p:cNvSpPr>
          <p:nvPr/>
        </p:nvSpPr>
        <p:spPr>
          <a:xfrm xmlns:a="http://schemas.openxmlformats.org/drawingml/2006/main">
            <a:off x="647700" y="4714875"/>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16" name="">
            <a:extLst xmlns:a="http://schemas.openxmlformats.org/drawingml/2006/main">
              <a:ext uri="{FF2B5EF4-FFF2-40B4-BE49-F238E27FC236}">
                <a16:creationId xmlns:a16="http://schemas.microsoft.com/office/drawing/2014/main" id="{4B39881C-C48D-4ED0-8CAC-5FD72B98DB82}"/>
              </a:ext>
            </a:extLst>
          </p:cNvPr>
          <p:cNvSpPr>
            <a:spLocks xmlns:a="http://schemas.openxmlformats.org/drawingml/2006/main" noGrp="1"/>
          </p:cNvSpPr>
          <p:nvPr/>
        </p:nvSpPr>
        <p:spPr>
          <a:xfrm xmlns:a="http://schemas.openxmlformats.org/drawingml/2006/main">
            <a:off x="647700" y="4743450"/>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F282D9B1-7A21-4831-A0CF-269247E437C5}"/>
              </a:ext>
            </a:extLst>
          </p:cNvPr>
          <p:cNvSpPr>
            <a:spLocks xmlns:a="http://schemas.openxmlformats.org/drawingml/2006/main" noGrp="1"/>
          </p:cNvSpPr>
          <p:nvPr/>
        </p:nvSpPr>
        <p:spPr>
          <a:xfrm xmlns:a="http://schemas.openxmlformats.org/drawingml/2006/main">
            <a:off x="914400" y="4695825"/>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Question asks when Birthday Message was published.</a:t>
            </a:r>
          </a:p>
        </p:txBody>
      </p:sp>
      <p:sp>
        <p:nvSpPr>
          <p:cNvPr id="18" name="">
            <a:extLst xmlns:a="http://schemas.openxmlformats.org/drawingml/2006/main">
              <a:ext uri="{FF2B5EF4-FFF2-40B4-BE49-F238E27FC236}">
                <a16:creationId xmlns:a16="http://schemas.microsoft.com/office/drawing/2014/main" id="{B162620E-CD97-4E28-BCC6-A49048956567}"/>
              </a:ext>
            </a:extLst>
          </p:cNvPr>
          <p:cNvSpPr>
            <a:spLocks xmlns:a="http://schemas.openxmlformats.org/drawingml/2006/main" noGrp="1"/>
          </p:cNvSpPr>
          <p:nvPr/>
        </p:nvSpPr>
        <p:spPr>
          <a:xfrm xmlns:a="http://schemas.openxmlformats.org/drawingml/2006/main">
            <a:off x="647700" y="5137150"/>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19" name="">
            <a:extLst xmlns:a="http://schemas.openxmlformats.org/drawingml/2006/main">
              <a:ext uri="{FF2B5EF4-FFF2-40B4-BE49-F238E27FC236}">
                <a16:creationId xmlns:a16="http://schemas.microsoft.com/office/drawing/2014/main" id="{C5778A79-9679-4090-9AB7-AF51B3D0A244}"/>
              </a:ext>
            </a:extLst>
          </p:cNvPr>
          <p:cNvSpPr>
            <a:spLocks xmlns:a="http://schemas.openxmlformats.org/drawingml/2006/main" noGrp="1"/>
          </p:cNvSpPr>
          <p:nvPr/>
        </p:nvSpPr>
        <p:spPr>
          <a:xfrm xmlns:a="http://schemas.openxmlformats.org/drawingml/2006/main">
            <a:off x="647700" y="51657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28043555-8779-4D7C-9A73-0A8432E5B781}"/>
              </a:ext>
            </a:extLst>
          </p:cNvPr>
          <p:cNvSpPr>
            <a:spLocks xmlns:a="http://schemas.openxmlformats.org/drawingml/2006/main" noGrp="1"/>
          </p:cNvSpPr>
          <p:nvPr/>
        </p:nvSpPr>
        <p:spPr>
          <a:xfrm xmlns:a="http://schemas.openxmlformats.org/drawingml/2006/main">
            <a:off x="914400" y="5118100"/>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System extracts Birthday Message as the journey name.</a:t>
            </a:r>
          </a:p>
        </p:txBody>
      </p:sp>
      <p:sp>
        <p:nvSpPr>
          <p:cNvPr id="21" name="">
            <a:extLst xmlns:a="http://schemas.openxmlformats.org/drawingml/2006/main">
              <a:ext uri="{FF2B5EF4-FFF2-40B4-BE49-F238E27FC236}">
                <a16:creationId xmlns:a16="http://schemas.microsoft.com/office/drawing/2014/main" id="{B64EFCD6-D078-424B-B9BD-46C432A7643F}"/>
              </a:ext>
            </a:extLst>
          </p:cNvPr>
          <p:cNvSpPr>
            <a:spLocks xmlns:a="http://schemas.openxmlformats.org/drawingml/2006/main" noGrp="1"/>
          </p:cNvSpPr>
          <p:nvPr/>
        </p:nvSpPr>
        <p:spPr>
          <a:xfrm xmlns:a="http://schemas.openxmlformats.org/drawingml/2006/main">
            <a:off x="647700" y="5559425"/>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22" name="">
            <a:extLst xmlns:a="http://schemas.openxmlformats.org/drawingml/2006/main">
              <a:ext uri="{FF2B5EF4-FFF2-40B4-BE49-F238E27FC236}">
                <a16:creationId xmlns:a16="http://schemas.microsoft.com/office/drawing/2014/main" id="{1913B306-2D1F-4FF3-810C-B6D65649CDA0}"/>
              </a:ext>
            </a:extLst>
          </p:cNvPr>
          <p:cNvSpPr>
            <a:spLocks xmlns:a="http://schemas.openxmlformats.org/drawingml/2006/main" noGrp="1"/>
          </p:cNvSpPr>
          <p:nvPr/>
        </p:nvSpPr>
        <p:spPr>
          <a:xfrm xmlns:a="http://schemas.openxmlformats.org/drawingml/2006/main">
            <a:off x="647700" y="5588000"/>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761134D8-720B-4F45-9271-FCBDF80CFFA6}"/>
              </a:ext>
            </a:extLst>
          </p:cNvPr>
          <p:cNvSpPr>
            <a:spLocks xmlns:a="http://schemas.openxmlformats.org/drawingml/2006/main" noGrp="1"/>
          </p:cNvSpPr>
          <p:nvPr/>
        </p:nvSpPr>
        <p:spPr>
          <a:xfrm xmlns:a="http://schemas.openxmlformats.org/drawingml/2006/main">
            <a:off x="914400" y="5540375"/>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System checks local database table dim_campaign.</a:t>
            </a:r>
          </a:p>
        </p:txBody>
      </p:sp>
      <p:sp>
        <p:nvSpPr>
          <p:cNvPr id="24" name="">
            <a:extLst xmlns:a="http://schemas.openxmlformats.org/drawingml/2006/main">
              <a:ext uri="{FF2B5EF4-FFF2-40B4-BE49-F238E27FC236}">
                <a16:creationId xmlns:a16="http://schemas.microsoft.com/office/drawing/2014/main" id="{41FCEBB6-D429-424E-A3A3-3D463E4557C3}"/>
              </a:ext>
            </a:extLst>
          </p:cNvPr>
          <p:cNvSpPr>
            <a:spLocks xmlns:a="http://schemas.openxmlformats.org/drawingml/2006/main" noGrp="1"/>
          </p:cNvSpPr>
          <p:nvPr/>
        </p:nvSpPr>
        <p:spPr>
          <a:xfrm xmlns:a="http://schemas.openxmlformats.org/drawingml/2006/main">
            <a:off x="4324350" y="4714875"/>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42B64D6F-78FB-46AA-8BCB-AEFA1D55EED5}"/>
              </a:ext>
            </a:extLst>
          </p:cNvPr>
          <p:cNvSpPr>
            <a:spLocks xmlns:a="http://schemas.openxmlformats.org/drawingml/2006/main" noGrp="1"/>
          </p:cNvSpPr>
          <p:nvPr/>
        </p:nvSpPr>
        <p:spPr>
          <a:xfrm xmlns:a="http://schemas.openxmlformats.org/drawingml/2006/main">
            <a:off x="4324350" y="4743450"/>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A88EA8FE-A7D0-4766-B627-4BA4F87C86F5}"/>
              </a:ext>
            </a:extLst>
          </p:cNvPr>
          <p:cNvSpPr>
            <a:spLocks xmlns:a="http://schemas.openxmlformats.org/drawingml/2006/main" noGrp="1"/>
          </p:cNvSpPr>
          <p:nvPr/>
        </p:nvSpPr>
        <p:spPr>
          <a:xfrm xmlns:a="http://schemas.openxmlformats.org/drawingml/2006/main">
            <a:off x="4591050" y="4695825"/>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SQL finds lastdeployedtime is null.</a:t>
            </a:r>
          </a:p>
        </p:txBody>
      </p:sp>
      <p:sp>
        <p:nvSpPr>
          <p:cNvPr id="27" name="">
            <a:extLst xmlns:a="http://schemas.openxmlformats.org/drawingml/2006/main">
              <a:ext uri="{FF2B5EF4-FFF2-40B4-BE49-F238E27FC236}">
                <a16:creationId xmlns:a16="http://schemas.microsoft.com/office/drawing/2014/main" id="{E6931F10-9890-45E6-B87E-A6800C86959B}"/>
              </a:ext>
            </a:extLst>
          </p:cNvPr>
          <p:cNvSpPr>
            <a:spLocks xmlns:a="http://schemas.openxmlformats.org/drawingml/2006/main" noGrp="1"/>
          </p:cNvSpPr>
          <p:nvPr/>
        </p:nvSpPr>
        <p:spPr>
          <a:xfrm xmlns:a="http://schemas.openxmlformats.org/drawingml/2006/main">
            <a:off x="4324350" y="5137150"/>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28" name="">
            <a:extLst xmlns:a="http://schemas.openxmlformats.org/drawingml/2006/main">
              <a:ext uri="{FF2B5EF4-FFF2-40B4-BE49-F238E27FC236}">
                <a16:creationId xmlns:a16="http://schemas.microsoft.com/office/drawing/2014/main" id="{8E865899-BC43-4A0E-B122-08D654198ED4}"/>
              </a:ext>
            </a:extLst>
          </p:cNvPr>
          <p:cNvSpPr>
            <a:spLocks xmlns:a="http://schemas.openxmlformats.org/drawingml/2006/main" noGrp="1"/>
          </p:cNvSpPr>
          <p:nvPr/>
        </p:nvSpPr>
        <p:spPr>
          <a:xfrm xmlns:a="http://schemas.openxmlformats.org/drawingml/2006/main">
            <a:off x="4324350" y="51657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6D8DAF48-314A-4AC9-8596-63327C841DDF}"/>
              </a:ext>
            </a:extLst>
          </p:cNvPr>
          <p:cNvSpPr>
            <a:spLocks xmlns:a="http://schemas.openxmlformats.org/drawingml/2006/main" noGrp="1"/>
          </p:cNvSpPr>
          <p:nvPr/>
        </p:nvSpPr>
        <p:spPr>
          <a:xfrm xmlns:a="http://schemas.openxmlformats.org/drawingml/2006/main">
            <a:off x="4591050" y="5118100"/>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System plans API call: GET /ajo/journey?filter=name==Birthday Message.</a:t>
            </a:r>
          </a:p>
        </p:txBody>
      </p:sp>
      <p:sp>
        <p:nvSpPr>
          <p:cNvPr id="30" name="">
            <a:extLst xmlns:a="http://schemas.openxmlformats.org/drawingml/2006/main">
              <a:ext uri="{FF2B5EF4-FFF2-40B4-BE49-F238E27FC236}">
                <a16:creationId xmlns:a16="http://schemas.microsoft.com/office/drawing/2014/main" id="{3548150F-8D49-4963-89AA-EC071977775A}"/>
              </a:ext>
            </a:extLst>
          </p:cNvPr>
          <p:cNvSpPr>
            <a:spLocks xmlns:a="http://schemas.openxmlformats.org/drawingml/2006/main" noGrp="1"/>
          </p:cNvSpPr>
          <p:nvPr/>
        </p:nvSpPr>
        <p:spPr>
          <a:xfrm xmlns:a="http://schemas.openxmlformats.org/drawingml/2006/main">
            <a:off x="4324350" y="5559425"/>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31" name="">
            <a:extLst xmlns:a="http://schemas.openxmlformats.org/drawingml/2006/main">
              <a:ext uri="{FF2B5EF4-FFF2-40B4-BE49-F238E27FC236}">
                <a16:creationId xmlns:a16="http://schemas.microsoft.com/office/drawing/2014/main" id="{7BA292ED-36BB-45C7-B206-D84D9CACE0CA}"/>
              </a:ext>
            </a:extLst>
          </p:cNvPr>
          <p:cNvSpPr>
            <a:spLocks xmlns:a="http://schemas.openxmlformats.org/drawingml/2006/main" noGrp="1"/>
          </p:cNvSpPr>
          <p:nvPr/>
        </p:nvSpPr>
        <p:spPr>
          <a:xfrm xmlns:a="http://schemas.openxmlformats.org/drawingml/2006/main">
            <a:off x="4324350" y="5588000"/>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91EA313C-D098-43C5-A087-C7EDC1CF2FF8}"/>
              </a:ext>
            </a:extLst>
          </p:cNvPr>
          <p:cNvSpPr>
            <a:spLocks xmlns:a="http://schemas.openxmlformats.org/drawingml/2006/main" noGrp="1"/>
          </p:cNvSpPr>
          <p:nvPr/>
        </p:nvSpPr>
        <p:spPr>
          <a:xfrm xmlns:a="http://schemas.openxmlformats.org/drawingml/2006/main">
            <a:off x="4591050" y="5540375"/>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Because credentials are unavailable, API call is dry-run only.</a:t>
            </a:r>
          </a:p>
        </p:txBody>
      </p:sp>
      <p:sp>
        <p:nvSpPr>
          <p:cNvPr id="33" name="">
            <a:extLst xmlns:a="http://schemas.openxmlformats.org/drawingml/2006/main">
              <a:ext uri="{FF2B5EF4-FFF2-40B4-BE49-F238E27FC236}">
                <a16:creationId xmlns:a16="http://schemas.microsoft.com/office/drawing/2014/main" id="{56DC07F7-B8D3-4159-A67F-6FA8765101AA}"/>
              </a:ext>
            </a:extLst>
          </p:cNvPr>
          <p:cNvSpPr>
            <a:spLocks xmlns:a="http://schemas.openxmlformats.org/drawingml/2006/main" noGrp="1"/>
          </p:cNvSpPr>
          <p:nvPr/>
        </p:nvSpPr>
        <p:spPr>
          <a:xfrm xmlns:a="http://schemas.openxmlformats.org/drawingml/2006/main">
            <a:off x="8001000" y="4714875"/>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34" name="">
            <a:extLst xmlns:a="http://schemas.openxmlformats.org/drawingml/2006/main">
              <a:ext uri="{FF2B5EF4-FFF2-40B4-BE49-F238E27FC236}">
                <a16:creationId xmlns:a16="http://schemas.microsoft.com/office/drawing/2014/main" id="{FE48B51D-9EEA-4726-9116-398D19697E06}"/>
              </a:ext>
            </a:extLst>
          </p:cNvPr>
          <p:cNvSpPr>
            <a:spLocks xmlns:a="http://schemas.openxmlformats.org/drawingml/2006/main" noGrp="1"/>
          </p:cNvSpPr>
          <p:nvPr/>
        </p:nvSpPr>
        <p:spPr>
          <a:xfrm xmlns:a="http://schemas.openxmlformats.org/drawingml/2006/main">
            <a:off x="8001000" y="4743450"/>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7</a:t>
            </a:r>
          </a:p>
        </p:txBody>
      </p:sp>
      <p:sp>
        <p:nvSpPr>
          <p:cNvPr id="35" name="">
            <a:extLst xmlns:a="http://schemas.openxmlformats.org/drawingml/2006/main">
              <a:ext uri="{FF2B5EF4-FFF2-40B4-BE49-F238E27FC236}">
                <a16:creationId xmlns:a16="http://schemas.microsoft.com/office/drawing/2014/main" id="{61DDE5F0-F9C6-45BD-90DF-98776E066439}"/>
              </a:ext>
            </a:extLst>
          </p:cNvPr>
          <p:cNvSpPr>
            <a:spLocks xmlns:a="http://schemas.openxmlformats.org/drawingml/2006/main" noGrp="1"/>
          </p:cNvSpPr>
          <p:nvPr/>
        </p:nvSpPr>
        <p:spPr>
          <a:xfrm xmlns:a="http://schemas.openxmlformats.org/drawingml/2006/main">
            <a:off x="8267700" y="4695825"/>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The planned method, endpoint, and params are compared with public gold API.</a:t>
            </a:r>
          </a:p>
        </p:txBody>
      </p:sp>
      <p:sp>
        <p:nvSpPr>
          <p:cNvPr id="36" name="">
            <a:extLst xmlns:a="http://schemas.openxmlformats.org/drawingml/2006/main">
              <a:ext uri="{FF2B5EF4-FFF2-40B4-BE49-F238E27FC236}">
                <a16:creationId xmlns:a16="http://schemas.microsoft.com/office/drawing/2014/main" id="{1EA4195F-ECC6-462E-AE53-CCC7B4F19756}"/>
              </a:ext>
            </a:extLst>
          </p:cNvPr>
          <p:cNvSpPr>
            <a:spLocks xmlns:a="http://schemas.openxmlformats.org/drawingml/2006/main" noGrp="1"/>
          </p:cNvSpPr>
          <p:nvPr/>
        </p:nvSpPr>
        <p:spPr>
          <a:xfrm xmlns:a="http://schemas.openxmlformats.org/drawingml/2006/main">
            <a:off x="8001000" y="5137150"/>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37" name="">
            <a:extLst xmlns:a="http://schemas.openxmlformats.org/drawingml/2006/main">
              <a:ext uri="{FF2B5EF4-FFF2-40B4-BE49-F238E27FC236}">
                <a16:creationId xmlns:a16="http://schemas.microsoft.com/office/drawing/2014/main" id="{08EF752F-015C-4201-AC37-02237C31DAE4}"/>
              </a:ext>
            </a:extLst>
          </p:cNvPr>
          <p:cNvSpPr>
            <a:spLocks xmlns:a="http://schemas.openxmlformats.org/drawingml/2006/main" noGrp="1"/>
          </p:cNvSpPr>
          <p:nvPr/>
        </p:nvSpPr>
        <p:spPr>
          <a:xfrm xmlns:a="http://schemas.openxmlformats.org/drawingml/2006/main">
            <a:off x="8001000" y="51657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8</a:t>
            </a:r>
          </a:p>
        </p:txBody>
      </p:sp>
      <p:sp>
        <p:nvSpPr>
          <p:cNvPr id="38" name="">
            <a:extLst xmlns:a="http://schemas.openxmlformats.org/drawingml/2006/main">
              <a:ext uri="{FF2B5EF4-FFF2-40B4-BE49-F238E27FC236}">
                <a16:creationId xmlns:a16="http://schemas.microsoft.com/office/drawing/2014/main" id="{843409BE-789D-4335-AA28-FC09E00F40C9}"/>
              </a:ext>
            </a:extLst>
          </p:cNvPr>
          <p:cNvSpPr>
            <a:spLocks xmlns:a="http://schemas.openxmlformats.org/drawingml/2006/main" noGrp="1"/>
          </p:cNvSpPr>
          <p:nvPr/>
        </p:nvSpPr>
        <p:spPr>
          <a:xfrm xmlns:a="http://schemas.openxmlformats.org/drawingml/2006/main">
            <a:off x="8267700" y="5118100"/>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Answer verifier prevents saying that live API confirmed anything.</a:t>
            </a:r>
          </a:p>
        </p:txBody>
      </p:sp>
      <p:sp>
        <p:nvSpPr>
          <p:cNvPr id="39" name="">
            <a:extLst xmlns:a="http://schemas.openxmlformats.org/drawingml/2006/main">
              <a:ext uri="{FF2B5EF4-FFF2-40B4-BE49-F238E27FC236}">
                <a16:creationId xmlns:a16="http://schemas.microsoft.com/office/drawing/2014/main" id="{E29F0466-034D-4472-A738-ED10467A0C8F}"/>
              </a:ext>
            </a:extLst>
          </p:cNvPr>
          <p:cNvSpPr>
            <a:spLocks xmlns:a="http://schemas.openxmlformats.org/drawingml/2006/main" noGrp="1"/>
          </p:cNvSpPr>
          <p:nvPr/>
        </p:nvSpPr>
        <p:spPr>
          <a:xfrm xmlns:a="http://schemas.openxmlformats.org/drawingml/2006/main">
            <a:off x="8001000" y="5559425"/>
            <a:ext cx="190500" cy="190500"/>
          </a:xfrm>
          <a:prstGeom xmlns:a="http://schemas.openxmlformats.org/drawingml/2006/main" prst="rect">
            <a:avLst/>
          </a:prstGeom>
          <a:solidFill xmlns:a="http://schemas.openxmlformats.org/drawingml/2006/main">
            <a:srgbClr val="FFF3E0"/>
          </a:solidFill>
          <a:ln xmlns:a="http://schemas.openxmlformats.org/drawingml/2006/main" w="9525">
            <a:solidFill>
              <a:srgbClr val="D97706"/>
            </a:solidFill>
            <a:prstDash val="solid"/>
          </a:ln>
        </p:spPr>
      </p:sp>
      <p:sp>
        <p:nvSpPr>
          <p:cNvPr id="40" name="">
            <a:extLst xmlns:a="http://schemas.openxmlformats.org/drawingml/2006/main">
              <a:ext uri="{FF2B5EF4-FFF2-40B4-BE49-F238E27FC236}">
                <a16:creationId xmlns:a16="http://schemas.microsoft.com/office/drawing/2014/main" id="{32FBCF46-FCA9-4C6E-8F29-256FAB0C56C3}"/>
              </a:ext>
            </a:extLst>
          </p:cNvPr>
          <p:cNvSpPr>
            <a:spLocks xmlns:a="http://schemas.openxmlformats.org/drawingml/2006/main" noGrp="1"/>
          </p:cNvSpPr>
          <p:nvPr/>
        </p:nvSpPr>
        <p:spPr>
          <a:xfrm xmlns:a="http://schemas.openxmlformats.org/drawingml/2006/main">
            <a:off x="8001000" y="5588000"/>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D97706"/>
                </a:solidFill>
                <a:latin typeface="Aptos"/>
                <a:ea typeface="Aptos"/>
                <a:cs typeface="Aptos"/>
              </a:defRPr>
            </a:pPr>
            <a:r>
              <a:rPr sz="713" b="1">
                <a:solidFill>
                  <a:srgbClr val="D97706"/>
                </a:solidFill>
                <a:latin typeface="Aptos"/>
                <a:ea typeface="Aptos"/>
                <a:cs typeface="Aptos"/>
              </a:rPr>
              <a:t>9</a:t>
            </a:r>
          </a:p>
        </p:txBody>
      </p:sp>
      <p:sp>
        <p:nvSpPr>
          <p:cNvPr id="41" name="">
            <a:extLst xmlns:a="http://schemas.openxmlformats.org/drawingml/2006/main">
              <a:ext uri="{FF2B5EF4-FFF2-40B4-BE49-F238E27FC236}">
                <a16:creationId xmlns:a16="http://schemas.microsoft.com/office/drawing/2014/main" id="{2FC9F834-A33F-4657-B52B-D68C33CBE4D5}"/>
              </a:ext>
            </a:extLst>
          </p:cNvPr>
          <p:cNvSpPr>
            <a:spLocks xmlns:a="http://schemas.openxmlformats.org/drawingml/2006/main" noGrp="1"/>
          </p:cNvSpPr>
          <p:nvPr/>
        </p:nvSpPr>
        <p:spPr>
          <a:xfrm xmlns:a="http://schemas.openxmlformats.org/drawingml/2006/main">
            <a:off x="8267700" y="5540375"/>
            <a:ext cx="3257550" cy="39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172033"/>
                </a:solidFill>
                <a:latin typeface="Aptos"/>
                <a:ea typeface="Aptos"/>
                <a:cs typeface="Aptos"/>
              </a:defRPr>
            </a:pPr>
            <a:r>
              <a:rPr sz="600" b="0">
                <a:solidFill>
                  <a:srgbClr val="172033"/>
                </a:solidFill>
                <a:latin typeface="Aptos"/>
                <a:ea typeface="Aptos"/>
                <a:cs typeface="Aptos"/>
              </a:rPr>
              <a:t>Final answer says Birthday Message has not been published, and live API verification was not executed.</a:t>
            </a:r>
          </a:p>
        </p:txBody>
      </p:sp>
      <p:sp>
        <p:nvSpPr>
          <p:cNvPr id="42" name="">
            <a:extLst xmlns:a="http://schemas.openxmlformats.org/drawingml/2006/main">
              <a:ext uri="{FF2B5EF4-FFF2-40B4-BE49-F238E27FC236}">
                <a16:creationId xmlns:a16="http://schemas.microsoft.com/office/drawing/2014/main" id="{A6740DB5-068F-42D3-9493-A7774D196643}"/>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29</a:t>
            </a:r>
          </a:p>
        </p:txBody>
      </p:sp>
    </p:spTree>
    <p:extLst>
      <p:ext uri="{BB962C8B-B14F-4D97-AF65-F5344CB8AC3E}">
        <p14:creationId xmlns:p14="http://schemas.microsoft.com/office/powerpoint/2010/main" val="1108440941"/>
      </p:ext>
    </p:extLst>
  </p:cSld>
</p:sld>
</file>

<file path=ppt/slides/slide30.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BDD8D8-8FC9-42E9-8F28-93DDBFBA3CE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C881BA2-ECE5-47CE-B40C-6A03CEDD5426}"/>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8D6731F6-09CD-457D-969A-84AAA178DE89}"/>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Memory and cache hierarchy</a:t>
            </a:r>
          </a:p>
        </p:txBody>
      </p:sp>
      <p:sp>
        <p:nvSpPr>
          <p:cNvPr id="4" name="">
            <a:extLst xmlns:a="http://schemas.openxmlformats.org/drawingml/2006/main">
              <a:ext uri="{FF2B5EF4-FFF2-40B4-BE49-F238E27FC236}">
                <a16:creationId xmlns:a16="http://schemas.microsoft.com/office/drawing/2014/main" id="{272C9C99-9C56-48C0-ABD1-253E7C77F6FA}"/>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DC76766-F2CD-49B6-A32E-685F731CD983}"/>
              </a:ext>
            </a:extLst>
          </p:cNvPr>
          <p:cNvSpPr>
            <a:spLocks xmlns:a="http://schemas.openxmlformats.org/drawingml/2006/main" noGrp="1"/>
          </p:cNvSpPr>
          <p:nvPr/>
        </p:nvSpPr>
        <p:spPr>
          <a:xfrm xmlns:a="http://schemas.openxmlformats.org/drawingml/2006/main">
            <a:off x="552450" y="1257300"/>
            <a:ext cx="10477500" cy="400050"/>
          </a:xfrm>
          <a:prstGeom xmlns:a="http://schemas.openxmlformats.org/drawingml/2006/main" prst="rect">
            <a:avLst/>
          </a:prstGeom>
          <a:solidFill xmlns:a="http://schemas.openxmlformats.org/drawingml/2006/main">
            <a:srgbClr val="F6F7F9"/>
          </a:solidFill>
          <a:ln xmlns:a="http://schemas.openxmlformats.org/drawingml/2006/main" w="9525">
            <a:solidFill>
              <a:srgbClr val="D8E2EA"/>
            </a:solidFill>
            <a:prstDash val="solid"/>
          </a:ln>
        </p:spPr>
      </p:sp>
      <p:sp>
        <p:nvSpPr>
          <p:cNvPr id="6" name="">
            <a:extLst xmlns:a="http://schemas.openxmlformats.org/drawingml/2006/main">
              <a:ext uri="{FF2B5EF4-FFF2-40B4-BE49-F238E27FC236}">
                <a16:creationId xmlns:a16="http://schemas.microsoft.com/office/drawing/2014/main" id="{75E53E3D-18D1-4CFB-B30B-398287EBD35D}"/>
              </a:ext>
            </a:extLst>
          </p:cNvPr>
          <p:cNvSpPr>
            <a:spLocks xmlns:a="http://schemas.openxmlformats.org/drawingml/2006/main" noGrp="1"/>
          </p:cNvSpPr>
          <p:nvPr/>
        </p:nvSpPr>
        <p:spPr>
          <a:xfrm xmlns:a="http://schemas.openxmlformats.org/drawingml/2006/main">
            <a:off x="552450" y="1257300"/>
            <a:ext cx="57150" cy="400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7D6DBD6-77E5-44EE-82AE-5C931BE8B504}"/>
              </a:ext>
            </a:extLst>
          </p:cNvPr>
          <p:cNvSpPr>
            <a:spLocks xmlns:a="http://schemas.openxmlformats.org/drawingml/2006/main" noGrp="1"/>
          </p:cNvSpPr>
          <p:nvPr/>
        </p:nvSpPr>
        <p:spPr>
          <a:xfrm xmlns:a="http://schemas.openxmlformats.org/drawingml/2006/main">
            <a:off x="685800" y="13335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87386"/>
                </a:solidFill>
                <a:latin typeface="Aptos"/>
                <a:ea typeface="Aptos"/>
                <a:cs typeface="Aptos"/>
              </a:defRPr>
            </a:pPr>
            <a:r>
              <a:rPr sz="735" b="1">
                <a:solidFill>
                  <a:srgbClr val="687386"/>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F5839BDB-6F0C-4995-8CC7-7D43CDD9ABC4}"/>
              </a:ext>
            </a:extLst>
          </p:cNvPr>
          <p:cNvSpPr>
            <a:spLocks xmlns:a="http://schemas.openxmlformats.org/drawingml/2006/main" noGrp="1"/>
          </p:cNvSpPr>
          <p:nvPr/>
        </p:nvSpPr>
        <p:spPr>
          <a:xfrm xmlns:a="http://schemas.openxmlformats.org/drawingml/2006/main">
            <a:off x="1714500" y="1314450"/>
            <a:ext cx="91630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0">
                <a:solidFill>
                  <a:srgbClr val="172033"/>
                </a:solidFill>
                <a:latin typeface="Aptos"/>
                <a:ea typeface="Aptos"/>
                <a:cs typeface="Aptos"/>
              </a:defRPr>
            </a:pPr>
            <a:r>
              <a:rPr sz="855" b="0">
                <a:solidFill>
                  <a:srgbClr val="172033"/>
                </a:solidFill>
                <a:latin typeface="Aptos"/>
                <a:ea typeface="Aptos"/>
                <a:cs typeface="Aptos"/>
              </a:rPr>
              <a:t>The cache hierarchy is like using notes before searching everywhere. It checks memory, saved files, the local database, and then Adobe API when needed.</a:t>
            </a:r>
          </a:p>
        </p:txBody>
      </p:sp>
      <p:sp>
        <p:nvSpPr>
          <p:cNvPr id="9" name="">
            <a:extLst xmlns:a="http://schemas.openxmlformats.org/drawingml/2006/main">
              <a:ext uri="{FF2B5EF4-FFF2-40B4-BE49-F238E27FC236}">
                <a16:creationId xmlns:a16="http://schemas.microsoft.com/office/drawing/2014/main" id="{F03EC7AD-F4E7-4086-823B-6607A63C4EE7}"/>
              </a:ext>
            </a:extLst>
          </p:cNvPr>
          <p:cNvSpPr>
            <a:spLocks xmlns:a="http://schemas.openxmlformats.org/drawingml/2006/main" noGrp="1"/>
          </p:cNvSpPr>
          <p:nvPr/>
        </p:nvSpPr>
        <p:spPr>
          <a:xfrm xmlns:a="http://schemas.openxmlformats.org/drawingml/2006/main">
            <a:off x="552450" y="1752600"/>
            <a:ext cx="11087100" cy="2457450"/>
          </a:xfrm>
          <a:prstGeom xmlns:a="http://schemas.openxmlformats.org/drawingml/2006/main" prst="rect">
            <a:avLst/>
          </a:prstGeom>
          <a:solidFill xmlns:a="http://schemas.openxmlformats.org/drawingml/2006/main">
            <a:srgbClr val="FFFFFF"/>
          </a:solidFill>
          <a:ln xmlns:a="http://schemas.openxmlformats.org/drawingml/2006/main" w="11430">
            <a:solidFill>
              <a:srgbClr val="D8E2EA"/>
            </a:solidFill>
            <a:prstDash val="solid"/>
          </a:ln>
        </p:spPr>
      </p:sp>
      <p:sp>
        <p:nvSpPr>
          <p:cNvPr id="10" name="">
            <a:extLst xmlns:a="http://schemas.openxmlformats.org/drawingml/2006/main">
              <a:ext uri="{FF2B5EF4-FFF2-40B4-BE49-F238E27FC236}">
                <a16:creationId xmlns:a16="http://schemas.microsoft.com/office/drawing/2014/main" id="{C97B47AC-11DF-402A-BFC6-21CBC9A93973}"/>
              </a:ext>
            </a:extLst>
          </p:cNvPr>
          <p:cNvSpPr>
            <a:spLocks xmlns:a="http://schemas.openxmlformats.org/drawingml/2006/main" noGrp="1"/>
          </p:cNvSpPr>
          <p:nvPr/>
        </p:nvSpPr>
        <p:spPr>
          <a:xfrm xmlns:a="http://schemas.openxmlformats.org/drawingml/2006/main">
            <a:off x="704850" y="1866900"/>
            <a:ext cx="10782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F6B7A"/>
                </a:solidFill>
                <a:latin typeface="Aptos"/>
                <a:ea typeface="Aptos"/>
                <a:cs typeface="Aptos"/>
              </a:defRPr>
            </a:pPr>
            <a:r>
              <a:rPr sz="863" b="1">
                <a:solidFill>
                  <a:srgbClr val="5F6B7A"/>
                </a:solidFill>
                <a:latin typeface="Aptos"/>
                <a:ea typeface="Aptos"/>
                <a:cs typeface="Aptos"/>
              </a:rPr>
              <a:t>Cache hierarchy with hit/miss and freshness transitions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bf2b902c8794b2c"/>
          <a:stretch xmlns:a="http://schemas.openxmlformats.org/drawingml/2006/main"/>
        </p:blipFill>
        <p:spPr>
          <a:xfrm xmlns:a="http://schemas.openxmlformats.org/drawingml/2006/main">
            <a:off x="4658519" y="2133600"/>
            <a:ext cx="2874962" cy="17907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D42F1BC-4C54-4784-B9E1-D9926A37A2DE}"/>
              </a:ext>
            </a:extLst>
          </p:cNvPr>
          <p:cNvSpPr>
            <a:spLocks xmlns:a="http://schemas.openxmlformats.org/drawingml/2006/main" noGrp="1"/>
          </p:cNvSpPr>
          <p:nvPr/>
        </p:nvSpPr>
        <p:spPr>
          <a:xfrm xmlns:a="http://schemas.openxmlformats.org/drawingml/2006/main">
            <a:off x="552450" y="4362450"/>
            <a:ext cx="11087100" cy="1085850"/>
          </a:xfrm>
          <a:prstGeom xmlns:a="http://schemas.openxmlformats.org/drawingml/2006/main" prst="rect">
            <a:avLst/>
          </a:prstGeom>
          <a:solidFill xmlns:a="http://schemas.openxmlformats.org/drawingml/2006/main">
            <a:srgbClr val="FFFFFF"/>
          </a:solidFill>
          <a:ln xmlns:a="http://schemas.openxmlformats.org/drawingml/2006/main" w="10478">
            <a:solidFill>
              <a:srgbClr val="D8E2EA"/>
            </a:solidFill>
            <a:prstDash val="solid"/>
          </a:ln>
        </p:spPr>
      </p:sp>
      <p:sp>
        <p:nvSpPr>
          <p:cNvPr id="13" name="">
            <a:extLst xmlns:a="http://schemas.openxmlformats.org/drawingml/2006/main">
              <a:ext uri="{FF2B5EF4-FFF2-40B4-BE49-F238E27FC236}">
                <a16:creationId xmlns:a16="http://schemas.microsoft.com/office/drawing/2014/main" id="{0B7B06BF-A212-4295-9655-8A65BEC2310A}"/>
              </a:ext>
            </a:extLst>
          </p:cNvPr>
          <p:cNvSpPr>
            <a:spLocks xmlns:a="http://schemas.openxmlformats.org/drawingml/2006/main" noGrp="1"/>
          </p:cNvSpPr>
          <p:nvPr/>
        </p:nvSpPr>
        <p:spPr>
          <a:xfrm xmlns:a="http://schemas.openxmlformats.org/drawingml/2006/main">
            <a:off x="552450" y="4362450"/>
            <a:ext cx="57150" cy="10858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7E5596A-4728-44C5-BBB0-CDDDAF52B0CD}"/>
              </a:ext>
            </a:extLst>
          </p:cNvPr>
          <p:cNvSpPr>
            <a:spLocks xmlns:a="http://schemas.openxmlformats.org/drawingml/2006/main" noGrp="1"/>
          </p:cNvSpPr>
          <p:nvPr/>
        </p:nvSpPr>
        <p:spPr>
          <a:xfrm xmlns:a="http://schemas.openxmlformats.org/drawingml/2006/main">
            <a:off x="638175" y="4448175"/>
            <a:ext cx="10915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1">
                <a:solidFill>
                  <a:srgbClr val="172033"/>
                </a:solidFill>
                <a:latin typeface="Aptos"/>
                <a:ea typeface="Aptos"/>
                <a:cs typeface="Aptos"/>
              </a:defRPr>
            </a:pPr>
            <a:r>
              <a:rPr sz="840" b="1">
                <a:solidFill>
                  <a:srgbClr val="172033"/>
                </a:solidFill>
                <a:latin typeface="Aptos"/>
                <a:ea typeface="Aptos"/>
                <a:cs typeface="Aptos"/>
              </a:rPr>
              <a:t>How the cache hierarchy supports reproducibility</a:t>
            </a:r>
          </a:p>
        </p:txBody>
      </p:sp>
      <p:sp>
        <p:nvSpPr>
          <p:cNvPr id="15" name="">
            <a:extLst xmlns:a="http://schemas.openxmlformats.org/drawingml/2006/main">
              <a:ext uri="{FF2B5EF4-FFF2-40B4-BE49-F238E27FC236}">
                <a16:creationId xmlns:a16="http://schemas.microsoft.com/office/drawing/2014/main" id="{C308A7F8-2D23-4A93-9804-01856506CED1}"/>
              </a:ext>
            </a:extLst>
          </p:cNvPr>
          <p:cNvSpPr>
            <a:spLocks xmlns:a="http://schemas.openxmlformats.org/drawingml/2006/main" noGrp="1"/>
          </p:cNvSpPr>
          <p:nvPr/>
        </p:nvSpPr>
        <p:spPr>
          <a:xfrm xmlns:a="http://schemas.openxmlformats.org/drawingml/2006/main">
            <a:off x="638175" y="4651058"/>
            <a:ext cx="190500" cy="190500"/>
          </a:xfrm>
          <a:prstGeom xmlns:a="http://schemas.openxmlformats.org/drawingml/2006/main" prst="rect">
            <a:avLst/>
          </a:prstGeom>
          <a:solidFill xmlns:a="http://schemas.openxmlformats.org/drawingml/2006/main">
            <a:srgbClr val="F2F4F7"/>
          </a:solidFill>
          <a:ln xmlns:a="http://schemas.openxmlformats.org/drawingml/2006/main" w="9525">
            <a:solidFill>
              <a:srgbClr val="687386"/>
            </a:solidFill>
            <a:prstDash val="solid"/>
          </a:ln>
        </p:spPr>
      </p:sp>
      <p:sp>
        <p:nvSpPr>
          <p:cNvPr id="16" name="">
            <a:extLst xmlns:a="http://schemas.openxmlformats.org/drawingml/2006/main">
              <a:ext uri="{FF2B5EF4-FFF2-40B4-BE49-F238E27FC236}">
                <a16:creationId xmlns:a16="http://schemas.microsoft.com/office/drawing/2014/main" id="{A17004B9-5DB4-4904-9A98-36BEEFA8458B}"/>
              </a:ext>
            </a:extLst>
          </p:cNvPr>
          <p:cNvSpPr>
            <a:spLocks xmlns:a="http://schemas.openxmlformats.org/drawingml/2006/main" noGrp="1"/>
          </p:cNvSpPr>
          <p:nvPr/>
        </p:nvSpPr>
        <p:spPr>
          <a:xfrm xmlns:a="http://schemas.openxmlformats.org/drawingml/2006/main">
            <a:off x="638175" y="467963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687386"/>
                </a:solidFill>
                <a:latin typeface="Aptos"/>
                <a:ea typeface="Aptos"/>
                <a:cs typeface="Aptos"/>
              </a:defRPr>
            </a:pPr>
            <a:r>
              <a:rPr sz="713" b="1">
                <a:solidFill>
                  <a:srgbClr val="687386"/>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4E65AE9-1B85-47DE-B90F-9EF0265D7399}"/>
              </a:ext>
            </a:extLst>
          </p:cNvPr>
          <p:cNvSpPr>
            <a:spLocks xmlns:a="http://schemas.openxmlformats.org/drawingml/2006/main" noGrp="1"/>
          </p:cNvSpPr>
          <p:nvPr/>
        </p:nvSpPr>
        <p:spPr>
          <a:xfrm xmlns:a="http://schemas.openxmlformats.org/drawingml/2006/main">
            <a:off x="904875" y="4632008"/>
            <a:ext cx="3263900" cy="33670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a:ea typeface="Aptos"/>
                <a:cs typeface="Aptos"/>
              </a:defRPr>
            </a:pPr>
            <a:r>
              <a:rPr sz="615" b="0">
                <a:solidFill>
                  <a:srgbClr val="172033"/>
                </a:solidFill>
                <a:latin typeface="Aptos"/>
                <a:ea typeface="Aptos"/>
                <a:cs typeface="Aptos"/>
              </a:rPr>
              <a:t>L1 cache stores recent query analysis and template choices.</a:t>
            </a:r>
          </a:p>
        </p:txBody>
      </p:sp>
      <p:sp>
        <p:nvSpPr>
          <p:cNvPr id="18" name="">
            <a:extLst xmlns:a="http://schemas.openxmlformats.org/drawingml/2006/main">
              <a:ext uri="{FF2B5EF4-FFF2-40B4-BE49-F238E27FC236}">
                <a16:creationId xmlns:a16="http://schemas.microsoft.com/office/drawing/2014/main" id="{95A5BDC2-38B0-4E58-B651-6BD3B38BD8DA}"/>
              </a:ext>
            </a:extLst>
          </p:cNvPr>
          <p:cNvSpPr>
            <a:spLocks xmlns:a="http://schemas.openxmlformats.org/drawingml/2006/main" noGrp="1"/>
          </p:cNvSpPr>
          <p:nvPr/>
        </p:nvSpPr>
        <p:spPr>
          <a:xfrm xmlns:a="http://schemas.openxmlformats.org/drawingml/2006/main">
            <a:off x="638175" y="5016341"/>
            <a:ext cx="190500" cy="190500"/>
          </a:xfrm>
          <a:prstGeom xmlns:a="http://schemas.openxmlformats.org/drawingml/2006/main" prst="rect">
            <a:avLst/>
          </a:prstGeom>
          <a:solidFill xmlns:a="http://schemas.openxmlformats.org/drawingml/2006/main">
            <a:srgbClr val="F2F4F7"/>
          </a:solidFill>
          <a:ln xmlns:a="http://schemas.openxmlformats.org/drawingml/2006/main" w="9525">
            <a:solidFill>
              <a:srgbClr val="687386"/>
            </a:solidFill>
            <a:prstDash val="solid"/>
          </a:ln>
        </p:spPr>
      </p:sp>
      <p:sp>
        <p:nvSpPr>
          <p:cNvPr id="19" name="">
            <a:extLst xmlns:a="http://schemas.openxmlformats.org/drawingml/2006/main">
              <a:ext uri="{FF2B5EF4-FFF2-40B4-BE49-F238E27FC236}">
                <a16:creationId xmlns:a16="http://schemas.microsoft.com/office/drawing/2014/main" id="{53B398FD-EF0C-429C-9405-4C4B5A450846}"/>
              </a:ext>
            </a:extLst>
          </p:cNvPr>
          <p:cNvSpPr>
            <a:spLocks xmlns:a="http://schemas.openxmlformats.org/drawingml/2006/main" noGrp="1"/>
          </p:cNvSpPr>
          <p:nvPr/>
        </p:nvSpPr>
        <p:spPr>
          <a:xfrm xmlns:a="http://schemas.openxmlformats.org/drawingml/2006/main">
            <a:off x="638175" y="5044916"/>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687386"/>
                </a:solidFill>
                <a:latin typeface="Aptos"/>
                <a:ea typeface="Aptos"/>
                <a:cs typeface="Aptos"/>
              </a:defRPr>
            </a:pPr>
            <a:r>
              <a:rPr sz="713" b="1">
                <a:solidFill>
                  <a:srgbClr val="687386"/>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3C9AC4DA-6F0C-430F-B5F4-CE7BC7CC89B4}"/>
              </a:ext>
            </a:extLst>
          </p:cNvPr>
          <p:cNvSpPr>
            <a:spLocks xmlns:a="http://schemas.openxmlformats.org/drawingml/2006/main" noGrp="1"/>
          </p:cNvSpPr>
          <p:nvPr/>
        </p:nvSpPr>
        <p:spPr>
          <a:xfrm xmlns:a="http://schemas.openxmlformats.org/drawingml/2006/main">
            <a:off x="904875" y="4997291"/>
            <a:ext cx="3263900" cy="33670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a:ea typeface="Aptos"/>
                <a:cs typeface="Aptos"/>
              </a:defRPr>
            </a:pPr>
            <a:r>
              <a:rPr sz="615" b="0">
                <a:solidFill>
                  <a:srgbClr val="172033"/>
                </a:solidFill>
                <a:latin typeface="Aptos"/>
                <a:ea typeface="Aptos"/>
                <a:cs typeface="Aptos"/>
              </a:rPr>
              <a:t>L2 disk cache stores schema, join graph, endpoint catalog, and patterns.</a:t>
            </a:r>
          </a:p>
        </p:txBody>
      </p:sp>
      <p:sp>
        <p:nvSpPr>
          <p:cNvPr id="21" name="">
            <a:extLst xmlns:a="http://schemas.openxmlformats.org/drawingml/2006/main">
              <a:ext uri="{FF2B5EF4-FFF2-40B4-BE49-F238E27FC236}">
                <a16:creationId xmlns:a16="http://schemas.microsoft.com/office/drawing/2014/main" id="{550F1389-2556-4C6F-9BA7-CFDF5402F39F}"/>
              </a:ext>
            </a:extLst>
          </p:cNvPr>
          <p:cNvSpPr>
            <a:spLocks xmlns:a="http://schemas.openxmlformats.org/drawingml/2006/main" noGrp="1"/>
          </p:cNvSpPr>
          <p:nvPr/>
        </p:nvSpPr>
        <p:spPr>
          <a:xfrm xmlns:a="http://schemas.openxmlformats.org/drawingml/2006/main">
            <a:off x="4321175" y="4651058"/>
            <a:ext cx="190500" cy="190500"/>
          </a:xfrm>
          <a:prstGeom xmlns:a="http://schemas.openxmlformats.org/drawingml/2006/main" prst="rect">
            <a:avLst/>
          </a:prstGeom>
          <a:solidFill xmlns:a="http://schemas.openxmlformats.org/drawingml/2006/main">
            <a:srgbClr val="F2F4F7"/>
          </a:solidFill>
          <a:ln xmlns:a="http://schemas.openxmlformats.org/drawingml/2006/main" w="9525">
            <a:solidFill>
              <a:srgbClr val="687386"/>
            </a:solidFill>
            <a:prstDash val="solid"/>
          </a:ln>
        </p:spPr>
      </p:sp>
      <p:sp>
        <p:nvSpPr>
          <p:cNvPr id="22" name="">
            <a:extLst xmlns:a="http://schemas.openxmlformats.org/drawingml/2006/main">
              <a:ext uri="{FF2B5EF4-FFF2-40B4-BE49-F238E27FC236}">
                <a16:creationId xmlns:a16="http://schemas.microsoft.com/office/drawing/2014/main" id="{AB453F5C-6B35-4179-8228-F65BFE4A4FAD}"/>
              </a:ext>
            </a:extLst>
          </p:cNvPr>
          <p:cNvSpPr>
            <a:spLocks xmlns:a="http://schemas.openxmlformats.org/drawingml/2006/main" noGrp="1"/>
          </p:cNvSpPr>
          <p:nvPr/>
        </p:nvSpPr>
        <p:spPr>
          <a:xfrm xmlns:a="http://schemas.openxmlformats.org/drawingml/2006/main">
            <a:off x="4321175" y="467963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687386"/>
                </a:solidFill>
                <a:latin typeface="Aptos"/>
                <a:ea typeface="Aptos"/>
                <a:cs typeface="Aptos"/>
              </a:defRPr>
            </a:pPr>
            <a:r>
              <a:rPr sz="713" b="1">
                <a:solidFill>
                  <a:srgbClr val="687386"/>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A76CFB26-DBAD-4CF9-9F7E-BF13534B8251}"/>
              </a:ext>
            </a:extLst>
          </p:cNvPr>
          <p:cNvSpPr>
            <a:spLocks xmlns:a="http://schemas.openxmlformats.org/drawingml/2006/main" noGrp="1"/>
          </p:cNvSpPr>
          <p:nvPr/>
        </p:nvSpPr>
        <p:spPr>
          <a:xfrm xmlns:a="http://schemas.openxmlformats.org/drawingml/2006/main">
            <a:off x="4587875" y="4632008"/>
            <a:ext cx="3263900" cy="33670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a:ea typeface="Aptos"/>
                <a:cs typeface="Aptos"/>
              </a:defRPr>
            </a:pPr>
            <a:r>
              <a:rPr sz="615" b="0">
                <a:solidFill>
                  <a:srgbClr val="172033"/>
                </a:solidFill>
                <a:latin typeface="Aptos"/>
                <a:ea typeface="Aptos"/>
                <a:cs typeface="Aptos"/>
              </a:rPr>
              <a:t>L3 local database stores DuckDB/parquet evidence.</a:t>
            </a:r>
          </a:p>
        </p:txBody>
      </p:sp>
      <p:sp>
        <p:nvSpPr>
          <p:cNvPr id="24" name="">
            <a:extLst xmlns:a="http://schemas.openxmlformats.org/drawingml/2006/main">
              <a:ext uri="{FF2B5EF4-FFF2-40B4-BE49-F238E27FC236}">
                <a16:creationId xmlns:a16="http://schemas.microsoft.com/office/drawing/2014/main" id="{FFA5B8E2-A0A0-4611-8E77-0D7796F0EE01}"/>
              </a:ext>
            </a:extLst>
          </p:cNvPr>
          <p:cNvSpPr>
            <a:spLocks xmlns:a="http://schemas.openxmlformats.org/drawingml/2006/main" noGrp="1"/>
          </p:cNvSpPr>
          <p:nvPr/>
        </p:nvSpPr>
        <p:spPr>
          <a:xfrm xmlns:a="http://schemas.openxmlformats.org/drawingml/2006/main">
            <a:off x="4321175" y="5016341"/>
            <a:ext cx="190500" cy="190500"/>
          </a:xfrm>
          <a:prstGeom xmlns:a="http://schemas.openxmlformats.org/drawingml/2006/main" prst="rect">
            <a:avLst/>
          </a:prstGeom>
          <a:solidFill xmlns:a="http://schemas.openxmlformats.org/drawingml/2006/main">
            <a:srgbClr val="F2F4F7"/>
          </a:solidFill>
          <a:ln xmlns:a="http://schemas.openxmlformats.org/drawingml/2006/main" w="9525">
            <a:solidFill>
              <a:srgbClr val="687386"/>
            </a:solidFill>
            <a:prstDash val="solid"/>
          </a:ln>
        </p:spPr>
      </p:sp>
      <p:sp>
        <p:nvSpPr>
          <p:cNvPr id="25" name="">
            <a:extLst xmlns:a="http://schemas.openxmlformats.org/drawingml/2006/main">
              <a:ext uri="{FF2B5EF4-FFF2-40B4-BE49-F238E27FC236}">
                <a16:creationId xmlns:a16="http://schemas.microsoft.com/office/drawing/2014/main" id="{ACD52568-DCD4-4D73-A8EF-45FE050D0EB1}"/>
              </a:ext>
            </a:extLst>
          </p:cNvPr>
          <p:cNvSpPr>
            <a:spLocks xmlns:a="http://schemas.openxmlformats.org/drawingml/2006/main" noGrp="1"/>
          </p:cNvSpPr>
          <p:nvPr/>
        </p:nvSpPr>
        <p:spPr>
          <a:xfrm xmlns:a="http://schemas.openxmlformats.org/drawingml/2006/main">
            <a:off x="4321175" y="5044916"/>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687386"/>
                </a:solidFill>
                <a:latin typeface="Aptos"/>
                <a:ea typeface="Aptos"/>
                <a:cs typeface="Aptos"/>
              </a:defRPr>
            </a:pPr>
            <a:r>
              <a:rPr sz="713" b="1">
                <a:solidFill>
                  <a:srgbClr val="687386"/>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021B33CB-D994-4AEE-88CF-55A19D598913}"/>
              </a:ext>
            </a:extLst>
          </p:cNvPr>
          <p:cNvSpPr>
            <a:spLocks xmlns:a="http://schemas.openxmlformats.org/drawingml/2006/main" noGrp="1"/>
          </p:cNvSpPr>
          <p:nvPr/>
        </p:nvSpPr>
        <p:spPr>
          <a:xfrm xmlns:a="http://schemas.openxmlformats.org/drawingml/2006/main">
            <a:off x="4587875" y="4997291"/>
            <a:ext cx="3263900" cy="33670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a:ea typeface="Aptos"/>
                <a:cs typeface="Aptos"/>
              </a:defRPr>
            </a:pPr>
            <a:r>
              <a:rPr sz="615" b="0">
                <a:solidFill>
                  <a:srgbClr val="172033"/>
                </a:solidFill>
                <a:latin typeface="Aptos"/>
                <a:ea typeface="Aptos"/>
                <a:cs typeface="Aptos"/>
              </a:rPr>
              <a:t>L4 Adobe API is the external live source.</a:t>
            </a:r>
          </a:p>
        </p:txBody>
      </p:sp>
      <p:sp>
        <p:nvSpPr>
          <p:cNvPr id="27" name="">
            <a:extLst xmlns:a="http://schemas.openxmlformats.org/drawingml/2006/main">
              <a:ext uri="{FF2B5EF4-FFF2-40B4-BE49-F238E27FC236}">
                <a16:creationId xmlns:a16="http://schemas.microsoft.com/office/drawing/2014/main" id="{B1D539B5-A1EA-451B-809C-881F93C2EE08}"/>
              </a:ext>
            </a:extLst>
          </p:cNvPr>
          <p:cNvSpPr>
            <a:spLocks xmlns:a="http://schemas.openxmlformats.org/drawingml/2006/main" noGrp="1"/>
          </p:cNvSpPr>
          <p:nvPr/>
        </p:nvSpPr>
        <p:spPr>
          <a:xfrm xmlns:a="http://schemas.openxmlformats.org/drawingml/2006/main">
            <a:off x="8004175" y="4651058"/>
            <a:ext cx="190500" cy="190500"/>
          </a:xfrm>
          <a:prstGeom xmlns:a="http://schemas.openxmlformats.org/drawingml/2006/main" prst="rect">
            <a:avLst/>
          </a:prstGeom>
          <a:solidFill xmlns:a="http://schemas.openxmlformats.org/drawingml/2006/main">
            <a:srgbClr val="F2F4F7"/>
          </a:solidFill>
          <a:ln xmlns:a="http://schemas.openxmlformats.org/drawingml/2006/main" w="9525">
            <a:solidFill>
              <a:srgbClr val="687386"/>
            </a:solidFill>
            <a:prstDash val="solid"/>
          </a:ln>
        </p:spPr>
      </p:sp>
      <p:sp>
        <p:nvSpPr>
          <p:cNvPr id="28" name="">
            <a:extLst xmlns:a="http://schemas.openxmlformats.org/drawingml/2006/main">
              <a:ext uri="{FF2B5EF4-FFF2-40B4-BE49-F238E27FC236}">
                <a16:creationId xmlns:a16="http://schemas.microsoft.com/office/drawing/2014/main" id="{5A25FFC4-A484-4911-8419-1D31BCF95803}"/>
              </a:ext>
            </a:extLst>
          </p:cNvPr>
          <p:cNvSpPr>
            <a:spLocks xmlns:a="http://schemas.openxmlformats.org/drawingml/2006/main" noGrp="1"/>
          </p:cNvSpPr>
          <p:nvPr/>
        </p:nvSpPr>
        <p:spPr>
          <a:xfrm xmlns:a="http://schemas.openxmlformats.org/drawingml/2006/main">
            <a:off x="8004175" y="4679633"/>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687386"/>
                </a:solidFill>
                <a:latin typeface="Aptos"/>
                <a:ea typeface="Aptos"/>
                <a:cs typeface="Aptos"/>
              </a:defRPr>
            </a:pPr>
            <a:r>
              <a:rPr sz="713" b="1">
                <a:solidFill>
                  <a:srgbClr val="687386"/>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600DA3B9-12B5-4EDE-A335-D9ACFDBB45CD}"/>
              </a:ext>
            </a:extLst>
          </p:cNvPr>
          <p:cNvSpPr>
            <a:spLocks xmlns:a="http://schemas.openxmlformats.org/drawingml/2006/main" noGrp="1"/>
          </p:cNvSpPr>
          <p:nvPr/>
        </p:nvSpPr>
        <p:spPr>
          <a:xfrm xmlns:a="http://schemas.openxmlformats.org/drawingml/2006/main">
            <a:off x="8270875" y="4632008"/>
            <a:ext cx="3263900" cy="33670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a:ea typeface="Aptos"/>
                <a:cs typeface="Aptos"/>
              </a:defRPr>
            </a:pPr>
            <a:r>
              <a:rPr sz="615" b="0">
                <a:solidFill>
                  <a:srgbClr val="172033"/>
                </a:solidFill>
                <a:latin typeface="Aptos"/>
                <a:ea typeface="Aptos"/>
                <a:cs typeface="Aptos"/>
              </a:rPr>
              <a:t>Artifact store saves metadata, prompt, trajectory, reports, and submission files.</a:t>
            </a:r>
          </a:p>
        </p:txBody>
      </p:sp>
      <p:sp>
        <p:nvSpPr>
          <p:cNvPr id="30" name="">
            <a:extLst xmlns:a="http://schemas.openxmlformats.org/drawingml/2006/main">
              <a:ext uri="{FF2B5EF4-FFF2-40B4-BE49-F238E27FC236}">
                <a16:creationId xmlns:a16="http://schemas.microsoft.com/office/drawing/2014/main" id="{95337143-EB85-48A1-8347-775991B36275}"/>
              </a:ext>
            </a:extLst>
          </p:cNvPr>
          <p:cNvSpPr>
            <a:spLocks xmlns:a="http://schemas.openxmlformats.org/drawingml/2006/main" noGrp="1"/>
          </p:cNvSpPr>
          <p:nvPr/>
        </p:nvSpPr>
        <p:spPr>
          <a:xfrm xmlns:a="http://schemas.openxmlformats.org/drawingml/2006/main">
            <a:off x="8004175" y="5016341"/>
            <a:ext cx="190500" cy="190500"/>
          </a:xfrm>
          <a:prstGeom xmlns:a="http://schemas.openxmlformats.org/drawingml/2006/main" prst="rect">
            <a:avLst/>
          </a:prstGeom>
          <a:solidFill xmlns:a="http://schemas.openxmlformats.org/drawingml/2006/main">
            <a:srgbClr val="F2F4F7"/>
          </a:solidFill>
          <a:ln xmlns:a="http://schemas.openxmlformats.org/drawingml/2006/main" w="9525">
            <a:solidFill>
              <a:srgbClr val="687386"/>
            </a:solidFill>
            <a:prstDash val="solid"/>
          </a:ln>
        </p:spPr>
      </p:sp>
      <p:sp>
        <p:nvSpPr>
          <p:cNvPr id="31" name="">
            <a:extLst xmlns:a="http://schemas.openxmlformats.org/drawingml/2006/main">
              <a:ext uri="{FF2B5EF4-FFF2-40B4-BE49-F238E27FC236}">
                <a16:creationId xmlns:a16="http://schemas.microsoft.com/office/drawing/2014/main" id="{E0FC2E02-4E50-4086-9DC6-8E6D9080AC74}"/>
              </a:ext>
            </a:extLst>
          </p:cNvPr>
          <p:cNvSpPr>
            <a:spLocks xmlns:a="http://schemas.openxmlformats.org/drawingml/2006/main" noGrp="1"/>
          </p:cNvSpPr>
          <p:nvPr/>
        </p:nvSpPr>
        <p:spPr>
          <a:xfrm xmlns:a="http://schemas.openxmlformats.org/drawingml/2006/main">
            <a:off x="8004175" y="5044916"/>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687386"/>
                </a:solidFill>
                <a:latin typeface="Aptos"/>
                <a:ea typeface="Aptos"/>
                <a:cs typeface="Aptos"/>
              </a:defRPr>
            </a:pPr>
            <a:r>
              <a:rPr sz="713" b="1">
                <a:solidFill>
                  <a:srgbClr val="687386"/>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892DF90A-DF27-45A6-8443-C11CADB12023}"/>
              </a:ext>
            </a:extLst>
          </p:cNvPr>
          <p:cNvSpPr>
            <a:spLocks xmlns:a="http://schemas.openxmlformats.org/drawingml/2006/main" noGrp="1"/>
          </p:cNvSpPr>
          <p:nvPr/>
        </p:nvSpPr>
        <p:spPr>
          <a:xfrm xmlns:a="http://schemas.openxmlformats.org/drawingml/2006/main">
            <a:off x="8270875" y="4997291"/>
            <a:ext cx="3263900" cy="33670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a:ea typeface="Aptos"/>
                <a:cs typeface="Aptos"/>
              </a:defRPr>
            </a:pPr>
            <a:r>
              <a:rPr sz="615" b="0">
                <a:solidFill>
                  <a:srgbClr val="172033"/>
                </a:solidFill>
                <a:latin typeface="Aptos"/>
                <a:ea typeface="Aptos"/>
                <a:cs typeface="Aptos"/>
              </a:rPr>
              <a:t>This reduces repeated work while keeping the system reproducible.</a:t>
            </a:r>
          </a:p>
        </p:txBody>
      </p:sp>
      <p:sp>
        <p:nvSpPr>
          <p:cNvPr id="33" name="">
            <a:extLst xmlns:a="http://schemas.openxmlformats.org/drawingml/2006/main">
              <a:ext uri="{FF2B5EF4-FFF2-40B4-BE49-F238E27FC236}">
                <a16:creationId xmlns:a16="http://schemas.microsoft.com/office/drawing/2014/main" id="{A7E6E629-D488-4738-9386-5A8B4DE4BE8A}"/>
              </a:ext>
            </a:extLst>
          </p:cNvPr>
          <p:cNvSpPr>
            <a:spLocks xmlns:a="http://schemas.openxmlformats.org/drawingml/2006/main" noGrp="1"/>
          </p:cNvSpPr>
          <p:nvPr/>
        </p:nvSpPr>
        <p:spPr>
          <a:xfrm xmlns:a="http://schemas.openxmlformats.org/drawingml/2006/main">
            <a:off x="857250" y="5619750"/>
            <a:ext cx="10287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34" name="">
            <a:extLst xmlns:a="http://schemas.openxmlformats.org/drawingml/2006/main">
              <a:ext uri="{FF2B5EF4-FFF2-40B4-BE49-F238E27FC236}">
                <a16:creationId xmlns:a16="http://schemas.microsoft.com/office/drawing/2014/main" id="{254C9A3A-4189-4F42-B1A2-16EC736BE2B2}"/>
              </a:ext>
            </a:extLst>
          </p:cNvPr>
          <p:cNvSpPr>
            <a:spLocks xmlns:a="http://schemas.openxmlformats.org/drawingml/2006/main" noGrp="1"/>
          </p:cNvSpPr>
          <p:nvPr/>
        </p:nvSpPr>
        <p:spPr>
          <a:xfrm xmlns:a="http://schemas.openxmlformats.org/drawingml/2006/main">
            <a:off x="857250" y="5619750"/>
            <a:ext cx="66675" cy="400050"/>
          </a:xfrm>
          <a:prstGeom xmlns:a="http://schemas.openxmlformats.org/drawingml/2006/main" prst="rect">
            <a:avLst/>
          </a:prstGeom>
          <a:solidFill xmlns:a="http://schemas.openxmlformats.org/drawingml/2006/main">
            <a:srgbClr val="687386"/>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C09546B2-1658-4114-94AE-4DBAD4985321}"/>
              </a:ext>
            </a:extLst>
          </p:cNvPr>
          <p:cNvSpPr>
            <a:spLocks xmlns:a="http://schemas.openxmlformats.org/drawingml/2006/main" noGrp="1"/>
          </p:cNvSpPr>
          <p:nvPr/>
        </p:nvSpPr>
        <p:spPr>
          <a:xfrm xmlns:a="http://schemas.openxmlformats.org/drawingml/2006/main">
            <a:off x="1028700" y="5753100"/>
            <a:ext cx="994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033"/>
                </a:solidFill>
                <a:latin typeface="Aptos"/>
                <a:ea typeface="Aptos"/>
                <a:cs typeface="Aptos"/>
              </a:defRPr>
            </a:pPr>
            <a:r>
              <a:rPr sz="788" b="1">
                <a:solidFill>
                  <a:srgbClr val="172033"/>
                </a:solidFill>
                <a:latin typeface="Aptos"/>
                <a:ea typeface="Aptos"/>
                <a:cs typeface="Aptos"/>
              </a:rPr>
              <a:t>Cache boundary</a:t>
            </a:r>
          </a:p>
        </p:txBody>
      </p:sp>
      <p:sp>
        <p:nvSpPr>
          <p:cNvPr id="36" name="">
            <a:extLst xmlns:a="http://schemas.openxmlformats.org/drawingml/2006/main">
              <a:ext uri="{FF2B5EF4-FFF2-40B4-BE49-F238E27FC236}">
                <a16:creationId xmlns:a16="http://schemas.microsoft.com/office/drawing/2014/main" id="{3C5A9AB4-E268-4E2D-A4FE-10D0E5565362}"/>
              </a:ext>
            </a:extLst>
          </p:cNvPr>
          <p:cNvSpPr>
            <a:spLocks xmlns:a="http://schemas.openxmlformats.org/drawingml/2006/main" noGrp="1"/>
          </p:cNvSpPr>
          <p:nvPr/>
        </p:nvSpPr>
        <p:spPr>
          <a:xfrm xmlns:a="http://schemas.openxmlformats.org/drawingml/2006/main">
            <a:off x="1028700" y="6057900"/>
            <a:ext cx="99441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5F6B7A"/>
                </a:solidFill>
                <a:latin typeface="Aptos"/>
                <a:ea typeface="Aptos"/>
                <a:cs typeface="Aptos"/>
              </a:defRPr>
            </a:pPr>
            <a:r>
              <a:rPr sz="735" b="0">
                <a:solidFill>
                  <a:srgbClr val="5F6B7A"/>
                </a:solidFill>
                <a:latin typeface="Aptos"/>
                <a:ea typeface="Aptos"/>
                <a:cs typeface="Aptos"/>
              </a:rPr>
              <a:t>Live API response caching is disabled for final live mode unless explicitly enabled; dry-run/dev artifacts stay reproducible.</a:t>
            </a:r>
          </a:p>
        </p:txBody>
      </p:sp>
      <p:sp>
        <p:nvSpPr>
          <p:cNvPr id="37" name="">
            <a:extLst xmlns:a="http://schemas.openxmlformats.org/drawingml/2006/main">
              <a:ext uri="{FF2B5EF4-FFF2-40B4-BE49-F238E27FC236}">
                <a16:creationId xmlns:a16="http://schemas.microsoft.com/office/drawing/2014/main" id="{8097E03B-EB57-48CF-AE88-B7F6F5C00514}"/>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30</a:t>
            </a:r>
          </a:p>
        </p:txBody>
      </p:sp>
    </p:spTree>
    <p:extLst>
      <p:ext uri="{BB962C8B-B14F-4D97-AF65-F5344CB8AC3E}">
        <p14:creationId xmlns:p14="http://schemas.microsoft.com/office/powerpoint/2010/main" val="1148119"/>
      </p:ext>
    </p:extLst>
  </p:cSld>
</p:sld>
</file>

<file path=ppt/slides/slide31.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E74798-873D-4FCC-9285-85E854A7DB0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A6F17C9-4CC3-428E-8055-D9D3B7091339}"/>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85D3C243-4C3B-49B8-92A8-B3547C1E2470}"/>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Current metrics: compact and submission-ready</a:t>
            </a:r>
          </a:p>
        </p:txBody>
      </p:sp>
      <p:sp>
        <p:nvSpPr>
          <p:cNvPr id="4" name="">
            <a:extLst xmlns:a="http://schemas.openxmlformats.org/drawingml/2006/main">
              <a:ext uri="{FF2B5EF4-FFF2-40B4-BE49-F238E27FC236}">
                <a16:creationId xmlns:a16="http://schemas.microsoft.com/office/drawing/2014/main" id="{7E9D408A-359E-4C1C-937C-26BC6846A6AF}"/>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EC3AEA5-0FDF-426A-B23D-FFD05F82A614}"/>
              </a:ext>
            </a:extLst>
          </p:cNvPr>
          <p:cNvSpPr>
            <a:spLocks xmlns:a="http://schemas.openxmlformats.org/drawingml/2006/main" noGrp="1"/>
          </p:cNvSpPr>
          <p:nvPr/>
        </p:nvSpPr>
        <p:spPr>
          <a:xfrm xmlns:a="http://schemas.openxmlformats.org/drawingml/2006/main">
            <a:off x="666750" y="1257300"/>
            <a:ext cx="10668000" cy="4000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61D5F133-086E-4811-8C7A-EF8CA02F56B6}"/>
              </a:ext>
            </a:extLst>
          </p:cNvPr>
          <p:cNvSpPr>
            <a:spLocks xmlns:a="http://schemas.openxmlformats.org/drawingml/2006/main" noGrp="1"/>
          </p:cNvSpPr>
          <p:nvPr/>
        </p:nvSpPr>
        <p:spPr>
          <a:xfrm xmlns:a="http://schemas.openxmlformats.org/drawingml/2006/main">
            <a:off x="666750" y="1257300"/>
            <a:ext cx="57150" cy="4000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213B02C-F62C-4145-A2AF-78059D87FCDF}"/>
              </a:ext>
            </a:extLst>
          </p:cNvPr>
          <p:cNvSpPr>
            <a:spLocks xmlns:a="http://schemas.openxmlformats.org/drawingml/2006/main" noGrp="1"/>
          </p:cNvSpPr>
          <p:nvPr/>
        </p:nvSpPr>
        <p:spPr>
          <a:xfrm xmlns:a="http://schemas.openxmlformats.org/drawingml/2006/main">
            <a:off x="800100" y="13335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C5A70835-B0B4-4ACF-8346-E058B215E0BB}"/>
              </a:ext>
            </a:extLst>
          </p:cNvPr>
          <p:cNvSpPr>
            <a:spLocks xmlns:a="http://schemas.openxmlformats.org/drawingml/2006/main" noGrp="1"/>
          </p:cNvSpPr>
          <p:nvPr/>
        </p:nvSpPr>
        <p:spPr>
          <a:xfrm xmlns:a="http://schemas.openxmlformats.org/drawingml/2006/main">
            <a:off x="1828800" y="1314450"/>
            <a:ext cx="9353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172033"/>
                </a:solidFill>
                <a:latin typeface="Aptos"/>
                <a:ea typeface="Aptos"/>
                <a:cs typeface="Aptos"/>
              </a:defRPr>
            </a:pPr>
            <a:r>
              <a:rPr sz="885" b="0">
                <a:solidFill>
                  <a:srgbClr val="172033"/>
                </a:solidFill>
                <a:latin typeface="Aptos"/>
                <a:ea typeface="Aptos"/>
                <a:cs typeface="Aptos"/>
              </a:rPr>
              <a:t>The current best strategy is SQL_FIRST_API_VERIFY. It gives the best balance between correctness and efficiency.</a:t>
            </a:r>
          </a:p>
        </p:txBody>
      </p:sp>
      <p:sp>
        <p:nvSpPr>
          <p:cNvPr id="9" name="">
            <a:extLst xmlns:a="http://schemas.openxmlformats.org/drawingml/2006/main">
              <a:ext uri="{FF2B5EF4-FFF2-40B4-BE49-F238E27FC236}">
                <a16:creationId xmlns:a16="http://schemas.microsoft.com/office/drawing/2014/main" id="{A3BBD7E1-F0BA-4A9F-8F82-707333CE644F}"/>
              </a:ext>
            </a:extLst>
          </p:cNvPr>
          <p:cNvSpPr>
            <a:spLocks xmlns:a="http://schemas.openxmlformats.org/drawingml/2006/main" noGrp="1"/>
          </p:cNvSpPr>
          <p:nvPr/>
        </p:nvSpPr>
        <p:spPr>
          <a:xfrm xmlns:a="http://schemas.openxmlformats.org/drawingml/2006/main">
            <a:off x="666750" y="1847850"/>
            <a:ext cx="16192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0" name="">
            <a:extLst xmlns:a="http://schemas.openxmlformats.org/drawingml/2006/main">
              <a:ext uri="{FF2B5EF4-FFF2-40B4-BE49-F238E27FC236}">
                <a16:creationId xmlns:a16="http://schemas.microsoft.com/office/drawing/2014/main" id="{2CE6902B-3D38-444E-B02B-AE9A67F7B17C}"/>
              </a:ext>
            </a:extLst>
          </p:cNvPr>
          <p:cNvSpPr>
            <a:spLocks xmlns:a="http://schemas.openxmlformats.org/drawingml/2006/main" noGrp="1"/>
          </p:cNvSpPr>
          <p:nvPr/>
        </p:nvSpPr>
        <p:spPr>
          <a:xfrm xmlns:a="http://schemas.openxmlformats.org/drawingml/2006/main">
            <a:off x="838200" y="2000250"/>
            <a:ext cx="1276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F6B7A"/>
                </a:solidFill>
                <a:latin typeface="Aptos"/>
                <a:ea typeface="Aptos"/>
                <a:cs typeface="Aptos"/>
              </a:defRPr>
            </a:pPr>
            <a:r>
              <a:rPr sz="975" b="1">
                <a:solidFill>
                  <a:srgbClr val="5F6B7A"/>
                </a:solidFill>
                <a:latin typeface="Aptos"/>
                <a:ea typeface="Aptos"/>
                <a:cs typeface="Aptos"/>
              </a:rPr>
              <a:t>Correctness</a:t>
            </a:r>
          </a:p>
        </p:txBody>
      </p:sp>
      <p:sp>
        <p:nvSpPr>
          <p:cNvPr id="11" name="">
            <a:extLst xmlns:a="http://schemas.openxmlformats.org/drawingml/2006/main">
              <a:ext uri="{FF2B5EF4-FFF2-40B4-BE49-F238E27FC236}">
                <a16:creationId xmlns:a16="http://schemas.microsoft.com/office/drawing/2014/main" id="{EEBD39AC-87BE-457A-92BD-5E6D4C3477ED}"/>
              </a:ext>
            </a:extLst>
          </p:cNvPr>
          <p:cNvSpPr>
            <a:spLocks xmlns:a="http://schemas.openxmlformats.org/drawingml/2006/main" noGrp="1"/>
          </p:cNvSpPr>
          <p:nvPr/>
        </p:nvSpPr>
        <p:spPr>
          <a:xfrm xmlns:a="http://schemas.openxmlformats.org/drawingml/2006/main">
            <a:off x="838200" y="2219325"/>
            <a:ext cx="1276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A7F52"/>
                </a:solidFill>
                <a:latin typeface="Aptos Display"/>
                <a:ea typeface="Aptos Display"/>
                <a:cs typeface="Aptos Display"/>
              </a:defRPr>
            </a:pPr>
            <a:r>
              <a:rPr sz="2100" b="1">
                <a:solidFill>
                  <a:srgbClr val="1A7F52"/>
                </a:solidFill>
                <a:latin typeface="Aptos Display"/>
                <a:ea typeface="Aptos Display"/>
                <a:cs typeface="Aptos Display"/>
              </a:rPr>
              <a:t>0.8407</a:t>
            </a:r>
          </a:p>
        </p:txBody>
      </p:sp>
      <p:sp>
        <p:nvSpPr>
          <p:cNvPr id="12" name="">
            <a:extLst xmlns:a="http://schemas.openxmlformats.org/drawingml/2006/main">
              <a:ext uri="{FF2B5EF4-FFF2-40B4-BE49-F238E27FC236}">
                <a16:creationId xmlns:a16="http://schemas.microsoft.com/office/drawing/2014/main" id="{D57E8528-FE6D-44B9-A49A-DDEE48977877}"/>
              </a:ext>
            </a:extLst>
          </p:cNvPr>
          <p:cNvSpPr>
            <a:spLocks xmlns:a="http://schemas.openxmlformats.org/drawingml/2006/main" noGrp="1"/>
          </p:cNvSpPr>
          <p:nvPr/>
        </p:nvSpPr>
        <p:spPr>
          <a:xfrm xmlns:a="http://schemas.openxmlformats.org/drawingml/2006/main">
            <a:off x="838200" y="2571750"/>
            <a:ext cx="1276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F6B7A"/>
                </a:solidFill>
                <a:latin typeface="Aptos"/>
                <a:ea typeface="Aptos"/>
                <a:cs typeface="Aptos"/>
              </a:defRPr>
            </a:pPr>
            <a:r>
              <a:rPr sz="825" b="0">
                <a:solidFill>
                  <a:srgbClr val="5F6B7A"/>
                </a:solidFill>
                <a:latin typeface="Aptos"/>
                <a:ea typeface="Aptos"/>
                <a:cs typeface="Aptos"/>
              </a:rPr>
              <a:t>combined SQL/API/answer</a:t>
            </a:r>
          </a:p>
        </p:txBody>
      </p:sp>
      <p:sp>
        <p:nvSpPr>
          <p:cNvPr id="13" name="">
            <a:extLst xmlns:a="http://schemas.openxmlformats.org/drawingml/2006/main">
              <a:ext uri="{FF2B5EF4-FFF2-40B4-BE49-F238E27FC236}">
                <a16:creationId xmlns:a16="http://schemas.microsoft.com/office/drawing/2014/main" id="{6BD3D691-BCE9-48FD-AE64-EF06469370FA}"/>
              </a:ext>
            </a:extLst>
          </p:cNvPr>
          <p:cNvSpPr>
            <a:spLocks xmlns:a="http://schemas.openxmlformats.org/drawingml/2006/main" noGrp="1"/>
          </p:cNvSpPr>
          <p:nvPr/>
        </p:nvSpPr>
        <p:spPr>
          <a:xfrm xmlns:a="http://schemas.openxmlformats.org/drawingml/2006/main">
            <a:off x="2476500" y="1847850"/>
            <a:ext cx="1809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4" name="">
            <a:extLst xmlns:a="http://schemas.openxmlformats.org/drawingml/2006/main">
              <a:ext uri="{FF2B5EF4-FFF2-40B4-BE49-F238E27FC236}">
                <a16:creationId xmlns:a16="http://schemas.microsoft.com/office/drawing/2014/main" id="{A318C20A-7773-4193-8336-9DCE213461DD}"/>
              </a:ext>
            </a:extLst>
          </p:cNvPr>
          <p:cNvSpPr>
            <a:spLocks xmlns:a="http://schemas.openxmlformats.org/drawingml/2006/main" noGrp="1"/>
          </p:cNvSpPr>
          <p:nvPr/>
        </p:nvSpPr>
        <p:spPr>
          <a:xfrm xmlns:a="http://schemas.openxmlformats.org/drawingml/2006/main">
            <a:off x="2647950" y="2000250"/>
            <a:ext cx="1466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F6B7A"/>
                </a:solidFill>
                <a:latin typeface="Aptos"/>
                <a:ea typeface="Aptos"/>
                <a:cs typeface="Aptos"/>
              </a:defRPr>
            </a:pPr>
            <a:r>
              <a:rPr sz="975" b="1">
                <a:solidFill>
                  <a:srgbClr val="5F6B7A"/>
                </a:solidFill>
                <a:latin typeface="Aptos"/>
                <a:ea typeface="Aptos"/>
                <a:cs typeface="Aptos"/>
              </a:rPr>
              <a:t>Answer correctness</a:t>
            </a:r>
          </a:p>
        </p:txBody>
      </p:sp>
      <p:sp>
        <p:nvSpPr>
          <p:cNvPr id="15" name="">
            <a:extLst xmlns:a="http://schemas.openxmlformats.org/drawingml/2006/main">
              <a:ext uri="{FF2B5EF4-FFF2-40B4-BE49-F238E27FC236}">
                <a16:creationId xmlns:a16="http://schemas.microsoft.com/office/drawing/2014/main" id="{96F117B1-0479-461E-B54E-2336B171CD90}"/>
              </a:ext>
            </a:extLst>
          </p:cNvPr>
          <p:cNvSpPr>
            <a:spLocks xmlns:a="http://schemas.openxmlformats.org/drawingml/2006/main" noGrp="1"/>
          </p:cNvSpPr>
          <p:nvPr/>
        </p:nvSpPr>
        <p:spPr>
          <a:xfrm xmlns:a="http://schemas.openxmlformats.org/drawingml/2006/main">
            <a:off x="2647950" y="2219325"/>
            <a:ext cx="1466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B8F8A"/>
                </a:solidFill>
                <a:latin typeface="Aptos Display"/>
                <a:ea typeface="Aptos Display"/>
                <a:cs typeface="Aptos Display"/>
              </a:defRPr>
            </a:pPr>
            <a:r>
              <a:rPr sz="2100" b="1">
                <a:solidFill>
                  <a:srgbClr val="0B8F8A"/>
                </a:solidFill>
                <a:latin typeface="Aptos Display"/>
                <a:ea typeface="Aptos Display"/>
                <a:cs typeface="Aptos Display"/>
              </a:rPr>
              <a:t>0.5208</a:t>
            </a:r>
          </a:p>
        </p:txBody>
      </p:sp>
      <p:sp>
        <p:nvSpPr>
          <p:cNvPr id="16" name="">
            <a:extLst xmlns:a="http://schemas.openxmlformats.org/drawingml/2006/main">
              <a:ext uri="{FF2B5EF4-FFF2-40B4-BE49-F238E27FC236}">
                <a16:creationId xmlns:a16="http://schemas.microsoft.com/office/drawing/2014/main" id="{50E7FC5D-4522-43D5-9E48-E5B6D08B3BED}"/>
              </a:ext>
            </a:extLst>
          </p:cNvPr>
          <p:cNvSpPr>
            <a:spLocks xmlns:a="http://schemas.openxmlformats.org/drawingml/2006/main" noGrp="1"/>
          </p:cNvSpPr>
          <p:nvPr/>
        </p:nvSpPr>
        <p:spPr>
          <a:xfrm xmlns:a="http://schemas.openxmlformats.org/drawingml/2006/main">
            <a:off x="2647950" y="2571750"/>
            <a:ext cx="1466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F6B7A"/>
                </a:solidFill>
                <a:latin typeface="Aptos"/>
                <a:ea typeface="Aptos"/>
                <a:cs typeface="Aptos"/>
              </a:defRPr>
            </a:pPr>
            <a:r>
              <a:rPr sz="825" b="0">
                <a:solidFill>
                  <a:srgbClr val="5F6B7A"/>
                </a:solidFill>
                <a:latin typeface="Aptos"/>
                <a:ea typeface="Aptos"/>
                <a:cs typeface="Aptos"/>
              </a:rPr>
              <a:t>weakest dimension</a:t>
            </a:r>
          </a:p>
        </p:txBody>
      </p:sp>
      <p:sp>
        <p:nvSpPr>
          <p:cNvPr id="17" name="">
            <a:extLst xmlns:a="http://schemas.openxmlformats.org/drawingml/2006/main">
              <a:ext uri="{FF2B5EF4-FFF2-40B4-BE49-F238E27FC236}">
                <a16:creationId xmlns:a16="http://schemas.microsoft.com/office/drawing/2014/main" id="{D5151B2F-A5C1-4A41-AAEA-8B168367C46E}"/>
              </a:ext>
            </a:extLst>
          </p:cNvPr>
          <p:cNvSpPr>
            <a:spLocks xmlns:a="http://schemas.openxmlformats.org/drawingml/2006/main" noGrp="1"/>
          </p:cNvSpPr>
          <p:nvPr/>
        </p:nvSpPr>
        <p:spPr>
          <a:xfrm xmlns:a="http://schemas.openxmlformats.org/drawingml/2006/main">
            <a:off x="4476750" y="1847850"/>
            <a:ext cx="16192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8" name="">
            <a:extLst xmlns:a="http://schemas.openxmlformats.org/drawingml/2006/main">
              <a:ext uri="{FF2B5EF4-FFF2-40B4-BE49-F238E27FC236}">
                <a16:creationId xmlns:a16="http://schemas.microsoft.com/office/drawing/2014/main" id="{C34B4ED7-388F-43E8-8DEC-82163620D3E8}"/>
              </a:ext>
            </a:extLst>
          </p:cNvPr>
          <p:cNvSpPr>
            <a:spLocks xmlns:a="http://schemas.openxmlformats.org/drawingml/2006/main" noGrp="1"/>
          </p:cNvSpPr>
          <p:nvPr/>
        </p:nvSpPr>
        <p:spPr>
          <a:xfrm xmlns:a="http://schemas.openxmlformats.org/drawingml/2006/main">
            <a:off x="4648200" y="2000250"/>
            <a:ext cx="1276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F6B7A"/>
                </a:solidFill>
                <a:latin typeface="Aptos"/>
                <a:ea typeface="Aptos"/>
                <a:cs typeface="Aptos"/>
              </a:defRPr>
            </a:pPr>
            <a:r>
              <a:rPr sz="975" b="1">
                <a:solidFill>
                  <a:srgbClr val="5F6B7A"/>
                </a:solidFill>
                <a:latin typeface="Aptos"/>
                <a:ea typeface="Aptos"/>
                <a:cs typeface="Aptos"/>
              </a:rPr>
              <a:t>Final score</a:t>
            </a:r>
          </a:p>
        </p:txBody>
      </p:sp>
      <p:sp>
        <p:nvSpPr>
          <p:cNvPr id="19" name="">
            <a:extLst xmlns:a="http://schemas.openxmlformats.org/drawingml/2006/main">
              <a:ext uri="{FF2B5EF4-FFF2-40B4-BE49-F238E27FC236}">
                <a16:creationId xmlns:a16="http://schemas.microsoft.com/office/drawing/2014/main" id="{88117F22-DFB0-4162-A377-2385F8AF90FA}"/>
              </a:ext>
            </a:extLst>
          </p:cNvPr>
          <p:cNvSpPr>
            <a:spLocks xmlns:a="http://schemas.openxmlformats.org/drawingml/2006/main" noGrp="1"/>
          </p:cNvSpPr>
          <p:nvPr/>
        </p:nvSpPr>
        <p:spPr>
          <a:xfrm xmlns:a="http://schemas.openxmlformats.org/drawingml/2006/main">
            <a:off x="4648200" y="2219325"/>
            <a:ext cx="1276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6D5BD0"/>
                </a:solidFill>
                <a:latin typeface="Aptos Display"/>
                <a:ea typeface="Aptos Display"/>
                <a:cs typeface="Aptos Display"/>
              </a:defRPr>
            </a:pPr>
            <a:r>
              <a:rPr sz="2100" b="1">
                <a:solidFill>
                  <a:srgbClr val="6D5BD0"/>
                </a:solidFill>
                <a:latin typeface="Aptos Display"/>
                <a:ea typeface="Aptos Display"/>
                <a:cs typeface="Aptos Display"/>
              </a:rPr>
              <a:t>0.8154</a:t>
            </a:r>
          </a:p>
        </p:txBody>
      </p:sp>
      <p:sp>
        <p:nvSpPr>
          <p:cNvPr id="20" name="">
            <a:extLst xmlns:a="http://schemas.openxmlformats.org/drawingml/2006/main">
              <a:ext uri="{FF2B5EF4-FFF2-40B4-BE49-F238E27FC236}">
                <a16:creationId xmlns:a16="http://schemas.microsoft.com/office/drawing/2014/main" id="{88E38F86-8C19-4056-8303-D114306A22E0}"/>
              </a:ext>
            </a:extLst>
          </p:cNvPr>
          <p:cNvSpPr>
            <a:spLocks xmlns:a="http://schemas.openxmlformats.org/drawingml/2006/main" noGrp="1"/>
          </p:cNvSpPr>
          <p:nvPr/>
        </p:nvSpPr>
        <p:spPr>
          <a:xfrm xmlns:a="http://schemas.openxmlformats.org/drawingml/2006/main">
            <a:off x="4648200" y="2571750"/>
            <a:ext cx="1276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F6B7A"/>
                </a:solidFill>
                <a:latin typeface="Aptos"/>
                <a:ea typeface="Aptos"/>
                <a:cs typeface="Aptos"/>
              </a:defRPr>
            </a:pPr>
            <a:r>
              <a:rPr sz="825" b="0">
                <a:solidFill>
                  <a:srgbClr val="5F6B7A"/>
                </a:solidFill>
                <a:latin typeface="Aptos"/>
                <a:ea typeface="Aptos"/>
                <a:cs typeface="Aptos"/>
              </a:rPr>
              <a:t>efficiency-adjusted</a:t>
            </a:r>
          </a:p>
        </p:txBody>
      </p:sp>
      <p:sp>
        <p:nvSpPr>
          <p:cNvPr id="21" name="">
            <a:extLst xmlns:a="http://schemas.openxmlformats.org/drawingml/2006/main">
              <a:ext uri="{FF2B5EF4-FFF2-40B4-BE49-F238E27FC236}">
                <a16:creationId xmlns:a16="http://schemas.microsoft.com/office/drawing/2014/main" id="{44E404F5-1CB4-4696-9AA6-77C2B2043B78}"/>
              </a:ext>
            </a:extLst>
          </p:cNvPr>
          <p:cNvSpPr>
            <a:spLocks xmlns:a="http://schemas.openxmlformats.org/drawingml/2006/main" noGrp="1"/>
          </p:cNvSpPr>
          <p:nvPr/>
        </p:nvSpPr>
        <p:spPr>
          <a:xfrm xmlns:a="http://schemas.openxmlformats.org/drawingml/2006/main">
            <a:off x="6286500" y="1847850"/>
            <a:ext cx="16192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22" name="">
            <a:extLst xmlns:a="http://schemas.openxmlformats.org/drawingml/2006/main">
              <a:ext uri="{FF2B5EF4-FFF2-40B4-BE49-F238E27FC236}">
                <a16:creationId xmlns:a16="http://schemas.microsoft.com/office/drawing/2014/main" id="{804ED730-AB8D-4F69-8F53-85F42FD4A93D}"/>
              </a:ext>
            </a:extLst>
          </p:cNvPr>
          <p:cNvSpPr>
            <a:spLocks xmlns:a="http://schemas.openxmlformats.org/drawingml/2006/main" noGrp="1"/>
          </p:cNvSpPr>
          <p:nvPr/>
        </p:nvSpPr>
        <p:spPr>
          <a:xfrm xmlns:a="http://schemas.openxmlformats.org/drawingml/2006/main">
            <a:off x="6457950" y="2000250"/>
            <a:ext cx="1276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F6B7A"/>
                </a:solidFill>
                <a:latin typeface="Aptos"/>
                <a:ea typeface="Aptos"/>
                <a:cs typeface="Aptos"/>
              </a:defRPr>
            </a:pPr>
            <a:r>
              <a:rPr sz="975" b="1">
                <a:solidFill>
                  <a:srgbClr val="5F6B7A"/>
                </a:solidFill>
                <a:latin typeface="Aptos"/>
                <a:ea typeface="Aptos"/>
                <a:cs typeface="Aptos"/>
              </a:rPr>
              <a:t>Tool calls</a:t>
            </a:r>
          </a:p>
        </p:txBody>
      </p:sp>
      <p:sp>
        <p:nvSpPr>
          <p:cNvPr id="23" name="">
            <a:extLst xmlns:a="http://schemas.openxmlformats.org/drawingml/2006/main">
              <a:ext uri="{FF2B5EF4-FFF2-40B4-BE49-F238E27FC236}">
                <a16:creationId xmlns:a16="http://schemas.microsoft.com/office/drawing/2014/main" id="{9B575A18-0C18-492B-8534-98C2E6EAF1E3}"/>
              </a:ext>
            </a:extLst>
          </p:cNvPr>
          <p:cNvSpPr>
            <a:spLocks xmlns:a="http://schemas.openxmlformats.org/drawingml/2006/main" noGrp="1"/>
          </p:cNvSpPr>
          <p:nvPr/>
        </p:nvSpPr>
        <p:spPr>
          <a:xfrm xmlns:a="http://schemas.openxmlformats.org/drawingml/2006/main">
            <a:off x="6457950" y="2219325"/>
            <a:ext cx="1276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69AA"/>
                </a:solidFill>
                <a:latin typeface="Aptos Display"/>
                <a:ea typeface="Aptos Display"/>
                <a:cs typeface="Aptos Display"/>
              </a:defRPr>
            </a:pPr>
            <a:r>
              <a:rPr sz="2100" b="1">
                <a:solidFill>
                  <a:srgbClr val="1769AA"/>
                </a:solidFill>
                <a:latin typeface="Aptos Display"/>
                <a:ea typeface="Aptos Display"/>
                <a:cs typeface="Aptos Display"/>
              </a:rPr>
              <a:t>1.4571</a:t>
            </a:r>
          </a:p>
        </p:txBody>
      </p:sp>
      <p:sp>
        <p:nvSpPr>
          <p:cNvPr id="24" name="">
            <a:extLst xmlns:a="http://schemas.openxmlformats.org/drawingml/2006/main">
              <a:ext uri="{FF2B5EF4-FFF2-40B4-BE49-F238E27FC236}">
                <a16:creationId xmlns:a16="http://schemas.microsoft.com/office/drawing/2014/main" id="{827126A8-CE21-4E1A-91AF-32DE7753CE95}"/>
              </a:ext>
            </a:extLst>
          </p:cNvPr>
          <p:cNvSpPr>
            <a:spLocks xmlns:a="http://schemas.openxmlformats.org/drawingml/2006/main" noGrp="1"/>
          </p:cNvSpPr>
          <p:nvPr/>
        </p:nvSpPr>
        <p:spPr>
          <a:xfrm xmlns:a="http://schemas.openxmlformats.org/drawingml/2006/main">
            <a:off x="6457950" y="2571750"/>
            <a:ext cx="1276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F6B7A"/>
                </a:solidFill>
                <a:latin typeface="Aptos"/>
                <a:ea typeface="Aptos"/>
                <a:cs typeface="Aptos"/>
              </a:defRPr>
            </a:pPr>
            <a:r>
              <a:rPr sz="825" b="0">
                <a:solidFill>
                  <a:srgbClr val="5F6B7A"/>
                </a:solidFill>
                <a:latin typeface="Aptos"/>
                <a:ea typeface="Aptos"/>
                <a:cs typeface="Aptos"/>
              </a:rPr>
              <a:t>avg per query</a:t>
            </a:r>
          </a:p>
        </p:txBody>
      </p:sp>
      <p:sp>
        <p:nvSpPr>
          <p:cNvPr id="25" name="">
            <a:extLst xmlns:a="http://schemas.openxmlformats.org/drawingml/2006/main">
              <a:ext uri="{FF2B5EF4-FFF2-40B4-BE49-F238E27FC236}">
                <a16:creationId xmlns:a16="http://schemas.microsoft.com/office/drawing/2014/main" id="{B7CF42C0-C294-4F0C-988E-4915157F4C1F}"/>
              </a:ext>
            </a:extLst>
          </p:cNvPr>
          <p:cNvSpPr>
            <a:spLocks xmlns:a="http://schemas.openxmlformats.org/drawingml/2006/main" noGrp="1"/>
          </p:cNvSpPr>
          <p:nvPr/>
        </p:nvSpPr>
        <p:spPr>
          <a:xfrm xmlns:a="http://schemas.openxmlformats.org/drawingml/2006/main">
            <a:off x="8096250" y="1847850"/>
            <a:ext cx="1428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26" name="">
            <a:extLst xmlns:a="http://schemas.openxmlformats.org/drawingml/2006/main">
              <a:ext uri="{FF2B5EF4-FFF2-40B4-BE49-F238E27FC236}">
                <a16:creationId xmlns:a16="http://schemas.microsoft.com/office/drawing/2014/main" id="{42704988-8A84-4511-97F8-3E679F6BF856}"/>
              </a:ext>
            </a:extLst>
          </p:cNvPr>
          <p:cNvSpPr>
            <a:spLocks xmlns:a="http://schemas.openxmlformats.org/drawingml/2006/main" noGrp="1"/>
          </p:cNvSpPr>
          <p:nvPr/>
        </p:nvSpPr>
        <p:spPr>
          <a:xfrm xmlns:a="http://schemas.openxmlformats.org/drawingml/2006/main">
            <a:off x="8267700" y="2000250"/>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F6B7A"/>
                </a:solidFill>
                <a:latin typeface="Aptos"/>
                <a:ea typeface="Aptos"/>
                <a:cs typeface="Aptos"/>
              </a:defRPr>
            </a:pPr>
            <a:r>
              <a:rPr sz="975" b="1">
                <a:solidFill>
                  <a:srgbClr val="5F6B7A"/>
                </a:solidFill>
                <a:latin typeface="Aptos"/>
                <a:ea typeface="Aptos"/>
                <a:cs typeface="Aptos"/>
              </a:rPr>
              <a:t>Tokens</a:t>
            </a:r>
          </a:p>
        </p:txBody>
      </p:sp>
      <p:sp>
        <p:nvSpPr>
          <p:cNvPr id="27" name="">
            <a:extLst xmlns:a="http://schemas.openxmlformats.org/drawingml/2006/main">
              <a:ext uri="{FF2B5EF4-FFF2-40B4-BE49-F238E27FC236}">
                <a16:creationId xmlns:a16="http://schemas.microsoft.com/office/drawing/2014/main" id="{E3053E2E-B6AC-488B-97DB-5F9404234FC0}"/>
              </a:ext>
            </a:extLst>
          </p:cNvPr>
          <p:cNvSpPr>
            <a:spLocks xmlns:a="http://schemas.openxmlformats.org/drawingml/2006/main" noGrp="1"/>
          </p:cNvSpPr>
          <p:nvPr/>
        </p:nvSpPr>
        <p:spPr>
          <a:xfrm xmlns:a="http://schemas.openxmlformats.org/drawingml/2006/main">
            <a:off x="8267700" y="2219325"/>
            <a:ext cx="1085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D97706"/>
                </a:solidFill>
                <a:latin typeface="Aptos Display"/>
                <a:ea typeface="Aptos Display"/>
                <a:cs typeface="Aptos Display"/>
              </a:defRPr>
            </a:pPr>
            <a:r>
              <a:rPr sz="2100" b="1">
                <a:solidFill>
                  <a:srgbClr val="D97706"/>
                </a:solidFill>
                <a:latin typeface="Aptos Display"/>
                <a:ea typeface="Aptos Display"/>
                <a:cs typeface="Aptos Display"/>
              </a:rPr>
              <a:t>851.6</a:t>
            </a:r>
          </a:p>
        </p:txBody>
      </p:sp>
      <p:sp>
        <p:nvSpPr>
          <p:cNvPr id="28" name="">
            <a:extLst xmlns:a="http://schemas.openxmlformats.org/drawingml/2006/main">
              <a:ext uri="{FF2B5EF4-FFF2-40B4-BE49-F238E27FC236}">
                <a16:creationId xmlns:a16="http://schemas.microsoft.com/office/drawing/2014/main" id="{A2372F93-227E-4C6D-A462-904BF7B2A90F}"/>
              </a:ext>
            </a:extLst>
          </p:cNvPr>
          <p:cNvSpPr>
            <a:spLocks xmlns:a="http://schemas.openxmlformats.org/drawingml/2006/main" noGrp="1"/>
          </p:cNvSpPr>
          <p:nvPr/>
        </p:nvSpPr>
        <p:spPr>
          <a:xfrm xmlns:a="http://schemas.openxmlformats.org/drawingml/2006/main">
            <a:off x="8267700" y="2571750"/>
            <a:ext cx="1085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F6B7A"/>
                </a:solidFill>
                <a:latin typeface="Aptos"/>
                <a:ea typeface="Aptos"/>
                <a:cs typeface="Aptos"/>
              </a:defRPr>
            </a:pPr>
            <a:r>
              <a:rPr sz="825" b="0">
                <a:solidFill>
                  <a:srgbClr val="5F6B7A"/>
                </a:solidFill>
                <a:latin typeface="Aptos"/>
                <a:ea typeface="Aptos"/>
                <a:cs typeface="Aptos"/>
              </a:rPr>
              <a:t>estimated avg</a:t>
            </a:r>
          </a:p>
        </p:txBody>
      </p:sp>
      <p:sp>
        <p:nvSpPr>
          <p:cNvPr id="29" name="">
            <a:extLst xmlns:a="http://schemas.openxmlformats.org/drawingml/2006/main">
              <a:ext uri="{FF2B5EF4-FFF2-40B4-BE49-F238E27FC236}">
                <a16:creationId xmlns:a16="http://schemas.microsoft.com/office/drawing/2014/main" id="{35710002-06B1-42CF-9FA3-517B821A3D85}"/>
              </a:ext>
            </a:extLst>
          </p:cNvPr>
          <p:cNvSpPr>
            <a:spLocks xmlns:a="http://schemas.openxmlformats.org/drawingml/2006/main" noGrp="1"/>
          </p:cNvSpPr>
          <p:nvPr/>
        </p:nvSpPr>
        <p:spPr>
          <a:xfrm xmlns:a="http://schemas.openxmlformats.org/drawingml/2006/main">
            <a:off x="9715500" y="1847850"/>
            <a:ext cx="16192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30" name="">
            <a:extLst xmlns:a="http://schemas.openxmlformats.org/drawingml/2006/main">
              <a:ext uri="{FF2B5EF4-FFF2-40B4-BE49-F238E27FC236}">
                <a16:creationId xmlns:a16="http://schemas.microsoft.com/office/drawing/2014/main" id="{229104E6-CBD2-465E-BE88-7707A254CC0A}"/>
              </a:ext>
            </a:extLst>
          </p:cNvPr>
          <p:cNvSpPr>
            <a:spLocks xmlns:a="http://schemas.openxmlformats.org/drawingml/2006/main" noGrp="1"/>
          </p:cNvSpPr>
          <p:nvPr/>
        </p:nvSpPr>
        <p:spPr>
          <a:xfrm xmlns:a="http://schemas.openxmlformats.org/drawingml/2006/main">
            <a:off x="9886950" y="2000250"/>
            <a:ext cx="1276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F6B7A"/>
                </a:solidFill>
                <a:latin typeface="Aptos"/>
                <a:ea typeface="Aptos"/>
                <a:cs typeface="Aptos"/>
              </a:defRPr>
            </a:pPr>
            <a:r>
              <a:rPr sz="975" b="1">
                <a:solidFill>
                  <a:srgbClr val="5F6B7A"/>
                </a:solidFill>
                <a:latin typeface="Aptos"/>
                <a:ea typeface="Aptos"/>
                <a:cs typeface="Aptos"/>
              </a:rPr>
              <a:t>Tests</a:t>
            </a:r>
          </a:p>
        </p:txBody>
      </p:sp>
      <p:sp>
        <p:nvSpPr>
          <p:cNvPr id="31" name="">
            <a:extLst xmlns:a="http://schemas.openxmlformats.org/drawingml/2006/main">
              <a:ext uri="{FF2B5EF4-FFF2-40B4-BE49-F238E27FC236}">
                <a16:creationId xmlns:a16="http://schemas.microsoft.com/office/drawing/2014/main" id="{4EA6D167-6CE9-4325-82DB-AA06CE1BEA64}"/>
              </a:ext>
            </a:extLst>
          </p:cNvPr>
          <p:cNvSpPr>
            <a:spLocks xmlns:a="http://schemas.openxmlformats.org/drawingml/2006/main" noGrp="1"/>
          </p:cNvSpPr>
          <p:nvPr/>
        </p:nvSpPr>
        <p:spPr>
          <a:xfrm xmlns:a="http://schemas.openxmlformats.org/drawingml/2006/main">
            <a:off x="9886950" y="2219325"/>
            <a:ext cx="1276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687386"/>
                </a:solidFill>
                <a:latin typeface="Aptos Display"/>
                <a:ea typeface="Aptos Display"/>
                <a:cs typeface="Aptos Display"/>
              </a:defRPr>
            </a:pPr>
            <a:r>
              <a:rPr sz="2100" b="1">
                <a:solidFill>
                  <a:srgbClr val="687386"/>
                </a:solidFill>
                <a:latin typeface="Aptos Display"/>
                <a:ea typeface="Aptos Display"/>
                <a:cs typeface="Aptos Display"/>
              </a:rPr>
              <a:t>46 passed</a:t>
            </a:r>
          </a:p>
        </p:txBody>
      </p:sp>
      <p:sp>
        <p:nvSpPr>
          <p:cNvPr id="32" name="">
            <a:extLst xmlns:a="http://schemas.openxmlformats.org/drawingml/2006/main">
              <a:ext uri="{FF2B5EF4-FFF2-40B4-BE49-F238E27FC236}">
                <a16:creationId xmlns:a16="http://schemas.microsoft.com/office/drawing/2014/main" id="{6EE85F8A-EC4D-4A82-9683-C6029504CB4D}"/>
              </a:ext>
            </a:extLst>
          </p:cNvPr>
          <p:cNvSpPr>
            <a:spLocks xmlns:a="http://schemas.openxmlformats.org/drawingml/2006/main" noGrp="1"/>
          </p:cNvSpPr>
          <p:nvPr/>
        </p:nvSpPr>
        <p:spPr>
          <a:xfrm xmlns:a="http://schemas.openxmlformats.org/drawingml/2006/main">
            <a:off x="9886950" y="2571750"/>
            <a:ext cx="1276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F6B7A"/>
                </a:solidFill>
                <a:latin typeface="Aptos"/>
                <a:ea typeface="Aptos"/>
                <a:cs typeface="Aptos"/>
              </a:defRPr>
            </a:pPr>
            <a:r>
              <a:rPr sz="825" b="0">
                <a:solidFill>
                  <a:srgbClr val="5F6B7A"/>
                </a:solidFill>
                <a:latin typeface="Aptos"/>
                <a:ea typeface="Aptos"/>
                <a:cs typeface="Aptos"/>
              </a:rPr>
              <a:t>readiness passed</a:t>
            </a:r>
          </a:p>
        </p:txBody>
      </p:sp>
      <p:sp>
        <p:nvSpPr>
          <p:cNvPr id="33" name="">
            <a:extLst xmlns:a="http://schemas.openxmlformats.org/drawingml/2006/main">
              <a:ext uri="{FF2B5EF4-FFF2-40B4-BE49-F238E27FC236}">
                <a16:creationId xmlns:a16="http://schemas.microsoft.com/office/drawing/2014/main" id="{E086117A-6481-4212-8E71-F5FC3234A895}"/>
              </a:ext>
            </a:extLst>
          </p:cNvPr>
          <p:cNvSpPr>
            <a:spLocks xmlns:a="http://schemas.openxmlformats.org/drawingml/2006/main" noGrp="1"/>
          </p:cNvSpPr>
          <p:nvPr/>
        </p:nvSpPr>
        <p:spPr>
          <a:xfrm xmlns:a="http://schemas.openxmlformats.org/drawingml/2006/main">
            <a:off x="1504950" y="3390900"/>
            <a:ext cx="2857500" cy="3619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737D639C-1194-4F10-8F8A-CC02956EA9EE}"/>
              </a:ext>
            </a:extLst>
          </p:cNvPr>
          <p:cNvSpPr>
            <a:spLocks xmlns:a="http://schemas.openxmlformats.org/drawingml/2006/main" noGrp="1"/>
          </p:cNvSpPr>
          <p:nvPr/>
        </p:nvSpPr>
        <p:spPr>
          <a:xfrm xmlns:a="http://schemas.openxmlformats.org/drawingml/2006/main">
            <a:off x="1581150" y="3467100"/>
            <a:ext cx="2705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Strategy</a:t>
            </a:r>
          </a:p>
        </p:txBody>
      </p:sp>
      <p:sp>
        <p:nvSpPr>
          <p:cNvPr id="35" name="">
            <a:extLst xmlns:a="http://schemas.openxmlformats.org/drawingml/2006/main">
              <a:ext uri="{FF2B5EF4-FFF2-40B4-BE49-F238E27FC236}">
                <a16:creationId xmlns:a16="http://schemas.microsoft.com/office/drawing/2014/main" id="{148216E8-2A73-4CED-B55B-6746BC1BCD99}"/>
              </a:ext>
            </a:extLst>
          </p:cNvPr>
          <p:cNvSpPr>
            <a:spLocks xmlns:a="http://schemas.openxmlformats.org/drawingml/2006/main" noGrp="1"/>
          </p:cNvSpPr>
          <p:nvPr/>
        </p:nvSpPr>
        <p:spPr>
          <a:xfrm xmlns:a="http://schemas.openxmlformats.org/drawingml/2006/main">
            <a:off x="4362450" y="3390900"/>
            <a:ext cx="1714500" cy="3619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3AD4A028-AFCA-4AE1-9376-5AAADE973D84}"/>
              </a:ext>
            </a:extLst>
          </p:cNvPr>
          <p:cNvSpPr>
            <a:spLocks xmlns:a="http://schemas.openxmlformats.org/drawingml/2006/main" noGrp="1"/>
          </p:cNvSpPr>
          <p:nvPr/>
        </p:nvSpPr>
        <p:spPr>
          <a:xfrm xmlns:a="http://schemas.openxmlformats.org/drawingml/2006/main">
            <a:off x="4438650" y="3467100"/>
            <a:ext cx="1562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Correctness</a:t>
            </a:r>
          </a:p>
        </p:txBody>
      </p:sp>
      <p:sp>
        <p:nvSpPr>
          <p:cNvPr id="37" name="">
            <a:extLst xmlns:a="http://schemas.openxmlformats.org/drawingml/2006/main">
              <a:ext uri="{FF2B5EF4-FFF2-40B4-BE49-F238E27FC236}">
                <a16:creationId xmlns:a16="http://schemas.microsoft.com/office/drawing/2014/main" id="{2C8F02C8-E57A-4E11-8EE4-219F4494F710}"/>
              </a:ext>
            </a:extLst>
          </p:cNvPr>
          <p:cNvSpPr>
            <a:spLocks xmlns:a="http://schemas.openxmlformats.org/drawingml/2006/main" noGrp="1"/>
          </p:cNvSpPr>
          <p:nvPr/>
        </p:nvSpPr>
        <p:spPr>
          <a:xfrm xmlns:a="http://schemas.openxmlformats.org/drawingml/2006/main">
            <a:off x="6076950" y="3390900"/>
            <a:ext cx="1714500" cy="3619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D58B5832-D3E5-4F87-91A0-4C32B21957D8}"/>
              </a:ext>
            </a:extLst>
          </p:cNvPr>
          <p:cNvSpPr>
            <a:spLocks xmlns:a="http://schemas.openxmlformats.org/drawingml/2006/main" noGrp="1"/>
          </p:cNvSpPr>
          <p:nvPr/>
        </p:nvSpPr>
        <p:spPr>
          <a:xfrm xmlns:a="http://schemas.openxmlformats.org/drawingml/2006/main">
            <a:off x="6153150" y="3467100"/>
            <a:ext cx="1562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Final score</a:t>
            </a:r>
          </a:p>
        </p:txBody>
      </p:sp>
      <p:sp>
        <p:nvSpPr>
          <p:cNvPr id="39" name="">
            <a:extLst xmlns:a="http://schemas.openxmlformats.org/drawingml/2006/main">
              <a:ext uri="{FF2B5EF4-FFF2-40B4-BE49-F238E27FC236}">
                <a16:creationId xmlns:a16="http://schemas.microsoft.com/office/drawing/2014/main" id="{ECD214DC-2052-4DA1-B412-AD1279462F65}"/>
              </a:ext>
            </a:extLst>
          </p:cNvPr>
          <p:cNvSpPr>
            <a:spLocks xmlns:a="http://schemas.openxmlformats.org/drawingml/2006/main" noGrp="1"/>
          </p:cNvSpPr>
          <p:nvPr/>
        </p:nvSpPr>
        <p:spPr>
          <a:xfrm xmlns:a="http://schemas.openxmlformats.org/drawingml/2006/main">
            <a:off x="7791450" y="3390900"/>
            <a:ext cx="4381500" cy="36195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046F65FD-516D-4A22-BC0B-66E623B22531}"/>
              </a:ext>
            </a:extLst>
          </p:cNvPr>
          <p:cNvSpPr>
            <a:spLocks xmlns:a="http://schemas.openxmlformats.org/drawingml/2006/main" noGrp="1"/>
          </p:cNvSpPr>
          <p:nvPr/>
        </p:nvSpPr>
        <p:spPr>
          <a:xfrm xmlns:a="http://schemas.openxmlformats.org/drawingml/2006/main">
            <a:off x="7867650" y="346710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Notes</a:t>
            </a:r>
          </a:p>
        </p:txBody>
      </p:sp>
      <p:sp>
        <p:nvSpPr>
          <p:cNvPr id="41" name="">
            <a:extLst xmlns:a="http://schemas.openxmlformats.org/drawingml/2006/main">
              <a:ext uri="{FF2B5EF4-FFF2-40B4-BE49-F238E27FC236}">
                <a16:creationId xmlns:a16="http://schemas.microsoft.com/office/drawing/2014/main" id="{E4DEBC9E-A390-4B24-B036-A7B4C1F6FC7D}"/>
              </a:ext>
            </a:extLst>
          </p:cNvPr>
          <p:cNvSpPr>
            <a:spLocks xmlns:a="http://schemas.openxmlformats.org/drawingml/2006/main" noGrp="1"/>
          </p:cNvSpPr>
          <p:nvPr/>
        </p:nvSpPr>
        <p:spPr>
          <a:xfrm xmlns:a="http://schemas.openxmlformats.org/drawingml/2006/main">
            <a:off x="1504950" y="3752850"/>
            <a:ext cx="2857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42" name="">
            <a:extLst xmlns:a="http://schemas.openxmlformats.org/drawingml/2006/main">
              <a:ext uri="{FF2B5EF4-FFF2-40B4-BE49-F238E27FC236}">
                <a16:creationId xmlns:a16="http://schemas.microsoft.com/office/drawing/2014/main" id="{2EACD4A1-A95F-4758-AD9C-47F79CB36744}"/>
              </a:ext>
            </a:extLst>
          </p:cNvPr>
          <p:cNvSpPr>
            <a:spLocks xmlns:a="http://schemas.openxmlformats.org/drawingml/2006/main" noGrp="1"/>
          </p:cNvSpPr>
          <p:nvPr/>
        </p:nvSpPr>
        <p:spPr>
          <a:xfrm xmlns:a="http://schemas.openxmlformats.org/drawingml/2006/main">
            <a:off x="1581150" y="3800475"/>
            <a:ext cx="2705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033"/>
                </a:solidFill>
                <a:latin typeface="Aptos"/>
                <a:ea typeface="Aptos"/>
                <a:cs typeface="Aptos"/>
              </a:defRPr>
            </a:pPr>
            <a:r>
              <a:rPr sz="975" b="1">
                <a:solidFill>
                  <a:srgbClr val="172033"/>
                </a:solidFill>
                <a:latin typeface="Aptos"/>
                <a:ea typeface="Aptos"/>
                <a:cs typeface="Aptos"/>
              </a:rPr>
              <a:t>SQL_FIRST_API_VERIFY</a:t>
            </a:r>
          </a:p>
        </p:txBody>
      </p:sp>
      <p:sp>
        <p:nvSpPr>
          <p:cNvPr id="43" name="">
            <a:extLst xmlns:a="http://schemas.openxmlformats.org/drawingml/2006/main">
              <a:ext uri="{FF2B5EF4-FFF2-40B4-BE49-F238E27FC236}">
                <a16:creationId xmlns:a16="http://schemas.microsoft.com/office/drawing/2014/main" id="{48E7F59D-ACC2-473D-8C9C-70F2341DFD26}"/>
              </a:ext>
            </a:extLst>
          </p:cNvPr>
          <p:cNvSpPr>
            <a:spLocks xmlns:a="http://schemas.openxmlformats.org/drawingml/2006/main" noGrp="1"/>
          </p:cNvSpPr>
          <p:nvPr/>
        </p:nvSpPr>
        <p:spPr>
          <a:xfrm xmlns:a="http://schemas.openxmlformats.org/drawingml/2006/main">
            <a:off x="4362450" y="3752850"/>
            <a:ext cx="1714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44" name="">
            <a:extLst xmlns:a="http://schemas.openxmlformats.org/drawingml/2006/main">
              <a:ext uri="{FF2B5EF4-FFF2-40B4-BE49-F238E27FC236}">
                <a16:creationId xmlns:a16="http://schemas.microsoft.com/office/drawing/2014/main" id="{B625706D-3EC2-45D4-9B13-EF2FA43C0E37}"/>
              </a:ext>
            </a:extLst>
          </p:cNvPr>
          <p:cNvSpPr>
            <a:spLocks xmlns:a="http://schemas.openxmlformats.org/drawingml/2006/main" noGrp="1"/>
          </p:cNvSpPr>
          <p:nvPr/>
        </p:nvSpPr>
        <p:spPr>
          <a:xfrm xmlns:a="http://schemas.openxmlformats.org/drawingml/2006/main">
            <a:off x="4438650" y="3800475"/>
            <a:ext cx="1562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0.8407</a:t>
            </a:r>
          </a:p>
        </p:txBody>
      </p:sp>
      <p:sp>
        <p:nvSpPr>
          <p:cNvPr id="45" name="">
            <a:extLst xmlns:a="http://schemas.openxmlformats.org/drawingml/2006/main">
              <a:ext uri="{FF2B5EF4-FFF2-40B4-BE49-F238E27FC236}">
                <a16:creationId xmlns:a16="http://schemas.microsoft.com/office/drawing/2014/main" id="{179F3761-AD2B-4C07-A8E9-3A6ABB1EC376}"/>
              </a:ext>
            </a:extLst>
          </p:cNvPr>
          <p:cNvSpPr>
            <a:spLocks xmlns:a="http://schemas.openxmlformats.org/drawingml/2006/main" noGrp="1"/>
          </p:cNvSpPr>
          <p:nvPr/>
        </p:nvSpPr>
        <p:spPr>
          <a:xfrm xmlns:a="http://schemas.openxmlformats.org/drawingml/2006/main">
            <a:off x="6076950" y="3752850"/>
            <a:ext cx="1714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46" name="">
            <a:extLst xmlns:a="http://schemas.openxmlformats.org/drawingml/2006/main">
              <a:ext uri="{FF2B5EF4-FFF2-40B4-BE49-F238E27FC236}">
                <a16:creationId xmlns:a16="http://schemas.microsoft.com/office/drawing/2014/main" id="{5A39795B-405D-44EC-B30B-D8BE333A8243}"/>
              </a:ext>
            </a:extLst>
          </p:cNvPr>
          <p:cNvSpPr>
            <a:spLocks xmlns:a="http://schemas.openxmlformats.org/drawingml/2006/main" noGrp="1"/>
          </p:cNvSpPr>
          <p:nvPr/>
        </p:nvSpPr>
        <p:spPr>
          <a:xfrm xmlns:a="http://schemas.openxmlformats.org/drawingml/2006/main">
            <a:off x="6153150" y="3800475"/>
            <a:ext cx="1562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0.8154</a:t>
            </a:r>
          </a:p>
        </p:txBody>
      </p:sp>
      <p:sp>
        <p:nvSpPr>
          <p:cNvPr id="47" name="">
            <a:extLst xmlns:a="http://schemas.openxmlformats.org/drawingml/2006/main">
              <a:ext uri="{FF2B5EF4-FFF2-40B4-BE49-F238E27FC236}">
                <a16:creationId xmlns:a16="http://schemas.microsoft.com/office/drawing/2014/main" id="{20F2402E-A95F-4D73-959E-29A2E65944D0}"/>
              </a:ext>
            </a:extLst>
          </p:cNvPr>
          <p:cNvSpPr>
            <a:spLocks xmlns:a="http://schemas.openxmlformats.org/drawingml/2006/main" noGrp="1"/>
          </p:cNvSpPr>
          <p:nvPr/>
        </p:nvSpPr>
        <p:spPr>
          <a:xfrm xmlns:a="http://schemas.openxmlformats.org/drawingml/2006/main">
            <a:off x="7791450" y="3752850"/>
            <a:ext cx="4381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48" name="">
            <a:extLst xmlns:a="http://schemas.openxmlformats.org/drawingml/2006/main">
              <a:ext uri="{FF2B5EF4-FFF2-40B4-BE49-F238E27FC236}">
                <a16:creationId xmlns:a16="http://schemas.microsoft.com/office/drawing/2014/main" id="{82F12147-A4A9-4D31-A856-7572F762CB44}"/>
              </a:ext>
            </a:extLst>
          </p:cNvPr>
          <p:cNvSpPr>
            <a:spLocks xmlns:a="http://schemas.openxmlformats.org/drawingml/2006/main" noGrp="1"/>
          </p:cNvSpPr>
          <p:nvPr/>
        </p:nvSpPr>
        <p:spPr>
          <a:xfrm xmlns:a="http://schemas.openxmlformats.org/drawingml/2006/main">
            <a:off x="7867650" y="3800475"/>
            <a:ext cx="4229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Default final-submission strategy</a:t>
            </a:r>
          </a:p>
        </p:txBody>
      </p:sp>
      <p:sp>
        <p:nvSpPr>
          <p:cNvPr id="49" name="">
            <a:extLst xmlns:a="http://schemas.openxmlformats.org/drawingml/2006/main">
              <a:ext uri="{FF2B5EF4-FFF2-40B4-BE49-F238E27FC236}">
                <a16:creationId xmlns:a16="http://schemas.microsoft.com/office/drawing/2014/main" id="{659398F2-C503-40F3-AEDA-17B87D45F5B0}"/>
              </a:ext>
            </a:extLst>
          </p:cNvPr>
          <p:cNvSpPr>
            <a:spLocks xmlns:a="http://schemas.openxmlformats.org/drawingml/2006/main" noGrp="1"/>
          </p:cNvSpPr>
          <p:nvPr/>
        </p:nvSpPr>
        <p:spPr>
          <a:xfrm xmlns:a="http://schemas.openxmlformats.org/drawingml/2006/main">
            <a:off x="1504950" y="4191000"/>
            <a:ext cx="2857500" cy="43815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50" name="">
            <a:extLst xmlns:a="http://schemas.openxmlformats.org/drawingml/2006/main">
              <a:ext uri="{FF2B5EF4-FFF2-40B4-BE49-F238E27FC236}">
                <a16:creationId xmlns:a16="http://schemas.microsoft.com/office/drawing/2014/main" id="{98614318-4DD7-4F86-A059-71F250EB835A}"/>
              </a:ext>
            </a:extLst>
          </p:cNvPr>
          <p:cNvSpPr>
            <a:spLocks xmlns:a="http://schemas.openxmlformats.org/drawingml/2006/main" noGrp="1"/>
          </p:cNvSpPr>
          <p:nvPr/>
        </p:nvSpPr>
        <p:spPr>
          <a:xfrm xmlns:a="http://schemas.openxmlformats.org/drawingml/2006/main">
            <a:off x="1581150" y="4238625"/>
            <a:ext cx="2705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033"/>
                </a:solidFill>
                <a:latin typeface="Aptos"/>
                <a:ea typeface="Aptos"/>
                <a:cs typeface="Aptos"/>
              </a:defRPr>
            </a:pPr>
            <a:r>
              <a:rPr sz="975" b="1">
                <a:solidFill>
                  <a:srgbClr val="172033"/>
                </a:solidFill>
                <a:latin typeface="Aptos"/>
                <a:ea typeface="Aptos"/>
                <a:cs typeface="Aptos"/>
              </a:rPr>
              <a:t>TEMPLATE_FIRST</a:t>
            </a:r>
          </a:p>
        </p:txBody>
      </p:sp>
      <p:sp>
        <p:nvSpPr>
          <p:cNvPr id="51" name="">
            <a:extLst xmlns:a="http://schemas.openxmlformats.org/drawingml/2006/main">
              <a:ext uri="{FF2B5EF4-FFF2-40B4-BE49-F238E27FC236}">
                <a16:creationId xmlns:a16="http://schemas.microsoft.com/office/drawing/2014/main" id="{5F4AB5A7-3D81-475B-A185-F96DF1747ABC}"/>
              </a:ext>
            </a:extLst>
          </p:cNvPr>
          <p:cNvSpPr>
            <a:spLocks xmlns:a="http://schemas.openxmlformats.org/drawingml/2006/main" noGrp="1"/>
          </p:cNvSpPr>
          <p:nvPr/>
        </p:nvSpPr>
        <p:spPr>
          <a:xfrm xmlns:a="http://schemas.openxmlformats.org/drawingml/2006/main">
            <a:off x="4362450" y="4191000"/>
            <a:ext cx="1714500" cy="43815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52" name="">
            <a:extLst xmlns:a="http://schemas.openxmlformats.org/drawingml/2006/main">
              <a:ext uri="{FF2B5EF4-FFF2-40B4-BE49-F238E27FC236}">
                <a16:creationId xmlns:a16="http://schemas.microsoft.com/office/drawing/2014/main" id="{A4ED60C0-3918-4CF4-B9D8-29143E416022}"/>
              </a:ext>
            </a:extLst>
          </p:cNvPr>
          <p:cNvSpPr>
            <a:spLocks xmlns:a="http://schemas.openxmlformats.org/drawingml/2006/main" noGrp="1"/>
          </p:cNvSpPr>
          <p:nvPr/>
        </p:nvSpPr>
        <p:spPr>
          <a:xfrm xmlns:a="http://schemas.openxmlformats.org/drawingml/2006/main">
            <a:off x="4438650" y="4238625"/>
            <a:ext cx="1562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competitive</a:t>
            </a:r>
          </a:p>
        </p:txBody>
      </p:sp>
      <p:sp>
        <p:nvSpPr>
          <p:cNvPr id="53" name="">
            <a:extLst xmlns:a="http://schemas.openxmlformats.org/drawingml/2006/main">
              <a:ext uri="{FF2B5EF4-FFF2-40B4-BE49-F238E27FC236}">
                <a16:creationId xmlns:a16="http://schemas.microsoft.com/office/drawing/2014/main" id="{7EE6BF2B-623B-4B76-A4F7-F2438253AE3B}"/>
              </a:ext>
            </a:extLst>
          </p:cNvPr>
          <p:cNvSpPr>
            <a:spLocks xmlns:a="http://schemas.openxmlformats.org/drawingml/2006/main" noGrp="1"/>
          </p:cNvSpPr>
          <p:nvPr/>
        </p:nvSpPr>
        <p:spPr>
          <a:xfrm xmlns:a="http://schemas.openxmlformats.org/drawingml/2006/main">
            <a:off x="6076950" y="4191000"/>
            <a:ext cx="1714500" cy="43815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54" name="">
            <a:extLst xmlns:a="http://schemas.openxmlformats.org/drawingml/2006/main">
              <a:ext uri="{FF2B5EF4-FFF2-40B4-BE49-F238E27FC236}">
                <a16:creationId xmlns:a16="http://schemas.microsoft.com/office/drawing/2014/main" id="{39ED6C47-B20A-4DF4-ACAC-63FEA6400ECB}"/>
              </a:ext>
            </a:extLst>
          </p:cNvPr>
          <p:cNvSpPr>
            <a:spLocks xmlns:a="http://schemas.openxmlformats.org/drawingml/2006/main" noGrp="1"/>
          </p:cNvSpPr>
          <p:nvPr/>
        </p:nvSpPr>
        <p:spPr>
          <a:xfrm xmlns:a="http://schemas.openxmlformats.org/drawingml/2006/main">
            <a:off x="6153150" y="4238625"/>
            <a:ext cx="1562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lower/riskier</a:t>
            </a:r>
          </a:p>
        </p:txBody>
      </p:sp>
      <p:sp>
        <p:nvSpPr>
          <p:cNvPr id="55" name="">
            <a:extLst xmlns:a="http://schemas.openxmlformats.org/drawingml/2006/main">
              <a:ext uri="{FF2B5EF4-FFF2-40B4-BE49-F238E27FC236}">
                <a16:creationId xmlns:a16="http://schemas.microsoft.com/office/drawing/2014/main" id="{0A997042-5EE0-4C9B-918C-0CA549BAE733}"/>
              </a:ext>
            </a:extLst>
          </p:cNvPr>
          <p:cNvSpPr>
            <a:spLocks xmlns:a="http://schemas.openxmlformats.org/drawingml/2006/main" noGrp="1"/>
          </p:cNvSpPr>
          <p:nvPr/>
        </p:nvSpPr>
        <p:spPr>
          <a:xfrm xmlns:a="http://schemas.openxmlformats.org/drawingml/2006/main">
            <a:off x="7791450" y="4191000"/>
            <a:ext cx="4381500" cy="438150"/>
          </a:xfrm>
          <a:prstGeom xmlns:a="http://schemas.openxmlformats.org/drawingml/2006/main" prst="rect">
            <a:avLst/>
          </a:prstGeom>
          <a:solidFill xmlns:a="http://schemas.openxmlformats.org/drawingml/2006/main">
            <a:srgbClr val="F7FAFC"/>
          </a:solidFill>
          <a:ln xmlns:a="http://schemas.openxmlformats.org/drawingml/2006/main" w="7620">
            <a:solidFill>
              <a:srgbClr val="D8E2EA"/>
            </a:solidFill>
            <a:prstDash val="solid"/>
          </a:ln>
        </p:spPr>
      </p:sp>
      <p:sp>
        <p:nvSpPr>
          <p:cNvPr id="56" name="">
            <a:extLst xmlns:a="http://schemas.openxmlformats.org/drawingml/2006/main">
              <a:ext uri="{FF2B5EF4-FFF2-40B4-BE49-F238E27FC236}">
                <a16:creationId xmlns:a16="http://schemas.microsoft.com/office/drawing/2014/main" id="{8AD8D38E-35C3-4184-AA25-898A0F2494DE}"/>
              </a:ext>
            </a:extLst>
          </p:cNvPr>
          <p:cNvSpPr>
            <a:spLocks xmlns:a="http://schemas.openxmlformats.org/drawingml/2006/main" noGrp="1"/>
          </p:cNvSpPr>
          <p:nvPr/>
        </p:nvSpPr>
        <p:spPr>
          <a:xfrm xmlns:a="http://schemas.openxmlformats.org/drawingml/2006/main">
            <a:off x="7867650" y="4238625"/>
            <a:ext cx="4229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Higher overfitting risk</a:t>
            </a:r>
          </a:p>
        </p:txBody>
      </p:sp>
      <p:sp>
        <p:nvSpPr>
          <p:cNvPr id="57" name="">
            <a:extLst xmlns:a="http://schemas.openxmlformats.org/drawingml/2006/main">
              <a:ext uri="{FF2B5EF4-FFF2-40B4-BE49-F238E27FC236}">
                <a16:creationId xmlns:a16="http://schemas.microsoft.com/office/drawing/2014/main" id="{A312D4A4-4B19-4366-8A10-6569D94B8BD7}"/>
              </a:ext>
            </a:extLst>
          </p:cNvPr>
          <p:cNvSpPr>
            <a:spLocks xmlns:a="http://schemas.openxmlformats.org/drawingml/2006/main" noGrp="1"/>
          </p:cNvSpPr>
          <p:nvPr/>
        </p:nvSpPr>
        <p:spPr>
          <a:xfrm xmlns:a="http://schemas.openxmlformats.org/drawingml/2006/main">
            <a:off x="1504950" y="4629150"/>
            <a:ext cx="2857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58" name="">
            <a:extLst xmlns:a="http://schemas.openxmlformats.org/drawingml/2006/main">
              <a:ext uri="{FF2B5EF4-FFF2-40B4-BE49-F238E27FC236}">
                <a16:creationId xmlns:a16="http://schemas.microsoft.com/office/drawing/2014/main" id="{52901943-536D-4C43-9FA5-63B41FD3E588}"/>
              </a:ext>
            </a:extLst>
          </p:cNvPr>
          <p:cNvSpPr>
            <a:spLocks xmlns:a="http://schemas.openxmlformats.org/drawingml/2006/main" noGrp="1"/>
          </p:cNvSpPr>
          <p:nvPr/>
        </p:nvSpPr>
        <p:spPr>
          <a:xfrm xmlns:a="http://schemas.openxmlformats.org/drawingml/2006/main">
            <a:off x="1581150" y="4676775"/>
            <a:ext cx="2705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033"/>
                </a:solidFill>
                <a:latin typeface="Aptos"/>
                <a:ea typeface="Aptos"/>
                <a:cs typeface="Aptos"/>
              </a:defRPr>
            </a:pPr>
            <a:r>
              <a:rPr sz="975" b="1">
                <a:solidFill>
                  <a:srgbClr val="172033"/>
                </a:solidFill>
                <a:latin typeface="Aptos"/>
                <a:ea typeface="Aptos"/>
                <a:cs typeface="Aptos"/>
              </a:rPr>
              <a:t>SQL_ONLY_BASELINE</a:t>
            </a:r>
          </a:p>
        </p:txBody>
      </p:sp>
      <p:sp>
        <p:nvSpPr>
          <p:cNvPr id="59" name="">
            <a:extLst xmlns:a="http://schemas.openxmlformats.org/drawingml/2006/main">
              <a:ext uri="{FF2B5EF4-FFF2-40B4-BE49-F238E27FC236}">
                <a16:creationId xmlns:a16="http://schemas.microsoft.com/office/drawing/2014/main" id="{2A5F4841-2359-4A11-B4AF-F562E196092F}"/>
              </a:ext>
            </a:extLst>
          </p:cNvPr>
          <p:cNvSpPr>
            <a:spLocks xmlns:a="http://schemas.openxmlformats.org/drawingml/2006/main" noGrp="1"/>
          </p:cNvSpPr>
          <p:nvPr/>
        </p:nvSpPr>
        <p:spPr>
          <a:xfrm xmlns:a="http://schemas.openxmlformats.org/drawingml/2006/main">
            <a:off x="4362450" y="4629150"/>
            <a:ext cx="1714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60" name="">
            <a:extLst xmlns:a="http://schemas.openxmlformats.org/drawingml/2006/main">
              <a:ext uri="{FF2B5EF4-FFF2-40B4-BE49-F238E27FC236}">
                <a16:creationId xmlns:a16="http://schemas.microsoft.com/office/drawing/2014/main" id="{447F536B-5DAC-4F10-A734-AE2FD015E797}"/>
              </a:ext>
            </a:extLst>
          </p:cNvPr>
          <p:cNvSpPr>
            <a:spLocks xmlns:a="http://schemas.openxmlformats.org/drawingml/2006/main" noGrp="1"/>
          </p:cNvSpPr>
          <p:nvPr/>
        </p:nvSpPr>
        <p:spPr>
          <a:xfrm xmlns:a="http://schemas.openxmlformats.org/drawingml/2006/main">
            <a:off x="4438650" y="4676775"/>
            <a:ext cx="1562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lower</a:t>
            </a:r>
          </a:p>
        </p:txBody>
      </p:sp>
      <p:sp>
        <p:nvSpPr>
          <p:cNvPr id="61" name="">
            <a:extLst xmlns:a="http://schemas.openxmlformats.org/drawingml/2006/main">
              <a:ext uri="{FF2B5EF4-FFF2-40B4-BE49-F238E27FC236}">
                <a16:creationId xmlns:a16="http://schemas.microsoft.com/office/drawing/2014/main" id="{58A9EE34-232B-4EA1-B445-E4800F4937B7}"/>
              </a:ext>
            </a:extLst>
          </p:cNvPr>
          <p:cNvSpPr>
            <a:spLocks xmlns:a="http://schemas.openxmlformats.org/drawingml/2006/main" noGrp="1"/>
          </p:cNvSpPr>
          <p:nvPr/>
        </p:nvSpPr>
        <p:spPr>
          <a:xfrm xmlns:a="http://schemas.openxmlformats.org/drawingml/2006/main">
            <a:off x="6076950" y="4629150"/>
            <a:ext cx="1714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62" name="">
            <a:extLst xmlns:a="http://schemas.openxmlformats.org/drawingml/2006/main">
              <a:ext uri="{FF2B5EF4-FFF2-40B4-BE49-F238E27FC236}">
                <a16:creationId xmlns:a16="http://schemas.microsoft.com/office/drawing/2014/main" id="{31F13E56-CF09-4E56-B7A8-1D91208E66BA}"/>
              </a:ext>
            </a:extLst>
          </p:cNvPr>
          <p:cNvSpPr>
            <a:spLocks xmlns:a="http://schemas.openxmlformats.org/drawingml/2006/main" noGrp="1"/>
          </p:cNvSpPr>
          <p:nvPr/>
        </p:nvSpPr>
        <p:spPr>
          <a:xfrm xmlns:a="http://schemas.openxmlformats.org/drawingml/2006/main">
            <a:off x="6153150" y="4676775"/>
            <a:ext cx="1562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efficient only</a:t>
            </a:r>
          </a:p>
        </p:txBody>
      </p:sp>
      <p:sp>
        <p:nvSpPr>
          <p:cNvPr id="63" name="">
            <a:extLst xmlns:a="http://schemas.openxmlformats.org/drawingml/2006/main">
              <a:ext uri="{FF2B5EF4-FFF2-40B4-BE49-F238E27FC236}">
                <a16:creationId xmlns:a16="http://schemas.microsoft.com/office/drawing/2014/main" id="{424C2A11-CAB1-4C3D-9F5A-0758B0D91774}"/>
              </a:ext>
            </a:extLst>
          </p:cNvPr>
          <p:cNvSpPr>
            <a:spLocks xmlns:a="http://schemas.openxmlformats.org/drawingml/2006/main" noGrp="1"/>
          </p:cNvSpPr>
          <p:nvPr/>
        </p:nvSpPr>
        <p:spPr>
          <a:xfrm xmlns:a="http://schemas.openxmlformats.org/drawingml/2006/main">
            <a:off x="7791450" y="4629150"/>
            <a:ext cx="4381500" cy="438150"/>
          </a:xfrm>
          <a:prstGeom xmlns:a="http://schemas.openxmlformats.org/drawingml/2006/main" prst="rect">
            <a:avLst/>
          </a:prstGeom>
          <a:solidFill xmlns:a="http://schemas.openxmlformats.org/drawingml/2006/main">
            <a:srgbClr val="FFFFFF"/>
          </a:solidFill>
          <a:ln xmlns:a="http://schemas.openxmlformats.org/drawingml/2006/main" w="7620">
            <a:solidFill>
              <a:srgbClr val="D8E2EA"/>
            </a:solidFill>
            <a:prstDash val="solid"/>
          </a:ln>
        </p:spPr>
      </p:sp>
      <p:sp>
        <p:nvSpPr>
          <p:cNvPr id="64" name="">
            <a:extLst xmlns:a="http://schemas.openxmlformats.org/drawingml/2006/main">
              <a:ext uri="{FF2B5EF4-FFF2-40B4-BE49-F238E27FC236}">
                <a16:creationId xmlns:a16="http://schemas.microsoft.com/office/drawing/2014/main" id="{58657B62-7097-43E4-959E-45060764AC67}"/>
              </a:ext>
            </a:extLst>
          </p:cNvPr>
          <p:cNvSpPr>
            <a:spLocks xmlns:a="http://schemas.openxmlformats.org/drawingml/2006/main" noGrp="1"/>
          </p:cNvSpPr>
          <p:nvPr/>
        </p:nvSpPr>
        <p:spPr>
          <a:xfrm xmlns:a="http://schemas.openxmlformats.org/drawingml/2006/main">
            <a:off x="7867650" y="4676775"/>
            <a:ext cx="422910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F6B7A"/>
                </a:solidFill>
                <a:latin typeface="Aptos"/>
                <a:ea typeface="Aptos"/>
                <a:cs typeface="Aptos"/>
              </a:defRPr>
            </a:pPr>
            <a:r>
              <a:rPr sz="975" b="0">
                <a:solidFill>
                  <a:srgbClr val="5F6B7A"/>
                </a:solidFill>
                <a:latin typeface="Aptos"/>
                <a:ea typeface="Aptos"/>
                <a:cs typeface="Aptos"/>
              </a:rPr>
              <a:t>Misses API-required families</a:t>
            </a:r>
          </a:p>
        </p:txBody>
      </p:sp>
      <p:sp>
        <p:nvSpPr>
          <p:cNvPr id="65" name="">
            <a:extLst xmlns:a="http://schemas.openxmlformats.org/drawingml/2006/main">
              <a:ext uri="{FF2B5EF4-FFF2-40B4-BE49-F238E27FC236}">
                <a16:creationId xmlns:a16="http://schemas.microsoft.com/office/drawing/2014/main" id="{0639B049-C9DE-49F3-B0D3-5D4BAC7C0BC2}"/>
              </a:ext>
            </a:extLst>
          </p:cNvPr>
          <p:cNvSpPr>
            <a:spLocks xmlns:a="http://schemas.openxmlformats.org/drawingml/2006/main" noGrp="1"/>
          </p:cNvSpPr>
          <p:nvPr/>
        </p:nvSpPr>
        <p:spPr>
          <a:xfrm xmlns:a="http://schemas.openxmlformats.org/drawingml/2006/main">
            <a:off x="1123950" y="5353050"/>
            <a:ext cx="99441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13" b="1">
                <a:solidFill>
                  <a:srgbClr val="0E2A47"/>
                </a:solidFill>
                <a:latin typeface="Aptos"/>
                <a:ea typeface="Aptos"/>
                <a:cs typeface="Aptos"/>
              </a:defRPr>
            </a:pPr>
            <a:r>
              <a:rPr sz="1313" b="1">
                <a:solidFill>
                  <a:srgbClr val="0E2A47"/>
                </a:solidFill>
                <a:latin typeface="Aptos"/>
                <a:ea typeface="Aptos"/>
                <a:cs typeface="Aptos"/>
              </a:rPr>
              <a:t>The current best strategy is SQL_FIRST_API_VERIFY. It gives the best balance between correctness and efficiency. Answer correctness still has room to improve, but the system is compact, tested, and package-ready.</a:t>
            </a:r>
          </a:p>
        </p:txBody>
      </p:sp>
      <p:sp>
        <p:nvSpPr>
          <p:cNvPr id="66" name="">
            <a:extLst xmlns:a="http://schemas.openxmlformats.org/drawingml/2006/main">
              <a:ext uri="{FF2B5EF4-FFF2-40B4-BE49-F238E27FC236}">
                <a16:creationId xmlns:a16="http://schemas.microsoft.com/office/drawing/2014/main" id="{D1F08C6F-B4D1-49F6-8B2A-0D8BDCCD1809}"/>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31</a:t>
            </a:r>
          </a:p>
        </p:txBody>
      </p:sp>
    </p:spTree>
    <p:extLst>
      <p:ext uri="{BB962C8B-B14F-4D97-AF65-F5344CB8AC3E}">
        <p14:creationId xmlns:p14="http://schemas.microsoft.com/office/powerpoint/2010/main" val="1978541678"/>
      </p:ext>
    </p:extLst>
  </p:cSld>
</p:sld>
</file>

<file path=ppt/slides/slide3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62EA97-6E83-41F3-9F6C-A130EC79A2C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CFA6200-D04D-4196-8E45-A86940C8706B}"/>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ADC2872F-CD05-40FA-900E-5D27B405FFC9}"/>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System strengths</a:t>
            </a:r>
          </a:p>
        </p:txBody>
      </p:sp>
      <p:sp>
        <p:nvSpPr>
          <p:cNvPr id="4" name="">
            <a:extLst xmlns:a="http://schemas.openxmlformats.org/drawingml/2006/main">
              <a:ext uri="{FF2B5EF4-FFF2-40B4-BE49-F238E27FC236}">
                <a16:creationId xmlns:a16="http://schemas.microsoft.com/office/drawing/2014/main" id="{6E401A09-645A-427D-9116-173907E6A5C4}"/>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4B4CB3B-67BC-4F55-8AA3-452DD0EE7B66}"/>
              </a:ext>
            </a:extLst>
          </p:cNvPr>
          <p:cNvSpPr>
            <a:spLocks xmlns:a="http://schemas.openxmlformats.org/drawingml/2006/main" noGrp="1"/>
          </p:cNvSpPr>
          <p:nvPr/>
        </p:nvSpPr>
        <p:spPr>
          <a:xfrm xmlns:a="http://schemas.openxmlformats.org/drawingml/2006/main">
            <a:off x="781050" y="1295400"/>
            <a:ext cx="10629900" cy="4381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E8B9CF33-408D-4A47-A566-C2C387E676B8}"/>
              </a:ext>
            </a:extLst>
          </p:cNvPr>
          <p:cNvSpPr>
            <a:spLocks xmlns:a="http://schemas.openxmlformats.org/drawingml/2006/main" noGrp="1"/>
          </p:cNvSpPr>
          <p:nvPr/>
        </p:nvSpPr>
        <p:spPr>
          <a:xfrm xmlns:a="http://schemas.openxmlformats.org/drawingml/2006/main">
            <a:off x="781050" y="1295400"/>
            <a:ext cx="57150" cy="4381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B490C99-A7D7-4A4C-BB06-4B3235A25F06}"/>
              </a:ext>
            </a:extLst>
          </p:cNvPr>
          <p:cNvSpPr>
            <a:spLocks xmlns:a="http://schemas.openxmlformats.org/drawingml/2006/main" noGrp="1"/>
          </p:cNvSpPr>
          <p:nvPr/>
        </p:nvSpPr>
        <p:spPr>
          <a:xfrm xmlns:a="http://schemas.openxmlformats.org/drawingml/2006/main">
            <a:off x="914400" y="13716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7649B3CF-AA66-4053-A5E8-4C9BE2D66BF1}"/>
              </a:ext>
            </a:extLst>
          </p:cNvPr>
          <p:cNvSpPr>
            <a:spLocks xmlns:a="http://schemas.openxmlformats.org/drawingml/2006/main" noGrp="1"/>
          </p:cNvSpPr>
          <p:nvPr/>
        </p:nvSpPr>
        <p:spPr>
          <a:xfrm xmlns:a="http://schemas.openxmlformats.org/drawingml/2006/main">
            <a:off x="1943100" y="1352550"/>
            <a:ext cx="93154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172033"/>
                </a:solidFill>
                <a:latin typeface="Aptos"/>
                <a:ea typeface="Aptos"/>
                <a:cs typeface="Aptos"/>
              </a:defRPr>
            </a:pPr>
            <a:r>
              <a:rPr sz="885" b="0">
                <a:solidFill>
                  <a:srgbClr val="172033"/>
                </a:solidFill>
                <a:latin typeface="Aptos"/>
                <a:ea typeface="Aptos"/>
                <a:cs typeface="Aptos"/>
              </a:rPr>
              <a:t>The system is strong because it does not freely guess. It uses templates, validation, budgets, evidence forwarding, and answer checking.</a:t>
            </a:r>
          </a:p>
        </p:txBody>
      </p:sp>
      <p:sp>
        <p:nvSpPr>
          <p:cNvPr id="9" name="">
            <a:extLst xmlns:a="http://schemas.openxmlformats.org/drawingml/2006/main">
              <a:ext uri="{FF2B5EF4-FFF2-40B4-BE49-F238E27FC236}">
                <a16:creationId xmlns:a16="http://schemas.microsoft.com/office/drawing/2014/main" id="{064818AD-F603-499C-9250-C015760CD93F}"/>
              </a:ext>
            </a:extLst>
          </p:cNvPr>
          <p:cNvSpPr>
            <a:spLocks xmlns:a="http://schemas.openxmlformats.org/drawingml/2006/main" noGrp="1"/>
          </p:cNvSpPr>
          <p:nvPr/>
        </p:nvSpPr>
        <p:spPr>
          <a:xfrm xmlns:a="http://schemas.openxmlformats.org/drawingml/2006/main">
            <a:off x="876300" y="22479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8421923-185A-4560-8DC2-5114B166DF43}"/>
              </a:ext>
            </a:extLst>
          </p:cNvPr>
          <p:cNvSpPr>
            <a:spLocks xmlns:a="http://schemas.openxmlformats.org/drawingml/2006/main" noGrp="1"/>
          </p:cNvSpPr>
          <p:nvPr/>
        </p:nvSpPr>
        <p:spPr>
          <a:xfrm xmlns:a="http://schemas.openxmlformats.org/drawingml/2006/main">
            <a:off x="1066800" y="2171700"/>
            <a:ext cx="9715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Uses SQL/API templates instead of free-form guessing.</a:t>
            </a:r>
          </a:p>
        </p:txBody>
      </p:sp>
      <p:sp>
        <p:nvSpPr>
          <p:cNvPr id="11" name="">
            <a:extLst xmlns:a="http://schemas.openxmlformats.org/drawingml/2006/main">
              <a:ext uri="{FF2B5EF4-FFF2-40B4-BE49-F238E27FC236}">
                <a16:creationId xmlns:a16="http://schemas.microsoft.com/office/drawing/2014/main" id="{BD9E3BBC-43D3-49E7-8E58-2081B57739D2}"/>
              </a:ext>
            </a:extLst>
          </p:cNvPr>
          <p:cNvSpPr>
            <a:spLocks xmlns:a="http://schemas.openxmlformats.org/drawingml/2006/main" noGrp="1"/>
          </p:cNvSpPr>
          <p:nvPr/>
        </p:nvSpPr>
        <p:spPr>
          <a:xfrm xmlns:a="http://schemas.openxmlformats.org/drawingml/2006/main">
            <a:off x="876300" y="27051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73D2141-9598-43AA-8B42-014EC6DC6B99}"/>
              </a:ext>
            </a:extLst>
          </p:cNvPr>
          <p:cNvSpPr>
            <a:spLocks xmlns:a="http://schemas.openxmlformats.org/drawingml/2006/main" noGrp="1"/>
          </p:cNvSpPr>
          <p:nvPr/>
        </p:nvSpPr>
        <p:spPr>
          <a:xfrm xmlns:a="http://schemas.openxmlformats.org/drawingml/2006/main">
            <a:off x="1066800" y="2628900"/>
            <a:ext cx="9715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Validates tables, columns, endpoints, and parameters before execution.</a:t>
            </a:r>
          </a:p>
        </p:txBody>
      </p:sp>
      <p:sp>
        <p:nvSpPr>
          <p:cNvPr id="13" name="">
            <a:extLst xmlns:a="http://schemas.openxmlformats.org/drawingml/2006/main">
              <a:ext uri="{FF2B5EF4-FFF2-40B4-BE49-F238E27FC236}">
                <a16:creationId xmlns:a16="http://schemas.microsoft.com/office/drawing/2014/main" id="{25641C15-8B67-4805-9583-F179C12E7F60}"/>
              </a:ext>
            </a:extLst>
          </p:cNvPr>
          <p:cNvSpPr>
            <a:spLocks xmlns:a="http://schemas.openxmlformats.org/drawingml/2006/main" noGrp="1"/>
          </p:cNvSpPr>
          <p:nvPr/>
        </p:nvSpPr>
        <p:spPr>
          <a:xfrm xmlns:a="http://schemas.openxmlformats.org/drawingml/2006/main">
            <a:off x="876300" y="31623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C37F2A6-CA43-4997-BC99-3768B07920D2}"/>
              </a:ext>
            </a:extLst>
          </p:cNvPr>
          <p:cNvSpPr>
            <a:spLocks xmlns:a="http://schemas.openxmlformats.org/drawingml/2006/main" noGrp="1"/>
          </p:cNvSpPr>
          <p:nvPr/>
        </p:nvSpPr>
        <p:spPr>
          <a:xfrm xmlns:a="http://schemas.openxmlformats.org/drawingml/2006/main">
            <a:off x="1066800" y="3086100"/>
            <a:ext cx="9715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Keeps tool calls low with evidence_policy and call_budget.</a:t>
            </a:r>
          </a:p>
        </p:txBody>
      </p:sp>
      <p:sp>
        <p:nvSpPr>
          <p:cNvPr id="15" name="">
            <a:extLst xmlns:a="http://schemas.openxmlformats.org/drawingml/2006/main">
              <a:ext uri="{FF2B5EF4-FFF2-40B4-BE49-F238E27FC236}">
                <a16:creationId xmlns:a16="http://schemas.microsoft.com/office/drawing/2014/main" id="{A1DF3C6F-BEC6-4293-8B86-17D25136A331}"/>
              </a:ext>
            </a:extLst>
          </p:cNvPr>
          <p:cNvSpPr>
            <a:spLocks xmlns:a="http://schemas.openxmlformats.org/drawingml/2006/main" noGrp="1"/>
          </p:cNvSpPr>
          <p:nvPr/>
        </p:nvSpPr>
        <p:spPr>
          <a:xfrm xmlns:a="http://schemas.openxmlformats.org/drawingml/2006/main">
            <a:off x="876300" y="36195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29A94E1-D362-4554-B18F-174291BF9965}"/>
              </a:ext>
            </a:extLst>
          </p:cNvPr>
          <p:cNvSpPr>
            <a:spLocks xmlns:a="http://schemas.openxmlformats.org/drawingml/2006/main" noGrp="1"/>
          </p:cNvSpPr>
          <p:nvPr/>
        </p:nvSpPr>
        <p:spPr>
          <a:xfrm xmlns:a="http://schemas.openxmlformats.org/drawingml/2006/main">
            <a:off x="1066800" y="3543300"/>
            <a:ext cx="9715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Passes exact facts forward with EvidenceBus.</a:t>
            </a:r>
          </a:p>
        </p:txBody>
      </p:sp>
      <p:sp>
        <p:nvSpPr>
          <p:cNvPr id="17" name="">
            <a:extLst xmlns:a="http://schemas.openxmlformats.org/drawingml/2006/main">
              <a:ext uri="{FF2B5EF4-FFF2-40B4-BE49-F238E27FC236}">
                <a16:creationId xmlns:a16="http://schemas.microsoft.com/office/drawing/2014/main" id="{EDB8237B-41F6-41D4-B93B-A4043CF8F858}"/>
              </a:ext>
            </a:extLst>
          </p:cNvPr>
          <p:cNvSpPr>
            <a:spLocks xmlns:a="http://schemas.openxmlformats.org/drawingml/2006/main" noGrp="1"/>
          </p:cNvSpPr>
          <p:nvPr/>
        </p:nvSpPr>
        <p:spPr>
          <a:xfrm xmlns:a="http://schemas.openxmlformats.org/drawingml/2006/main">
            <a:off x="876300" y="40767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D0722DB-9E23-47CB-982B-23DE0349F217}"/>
              </a:ext>
            </a:extLst>
          </p:cNvPr>
          <p:cNvSpPr>
            <a:spLocks xmlns:a="http://schemas.openxmlformats.org/drawingml/2006/main" noGrp="1"/>
          </p:cNvSpPr>
          <p:nvPr/>
        </p:nvSpPr>
        <p:spPr>
          <a:xfrm xmlns:a="http://schemas.openxmlformats.org/drawingml/2006/main">
            <a:off x="1066800" y="4000500"/>
            <a:ext cx="9715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Checks answer claims with answer_verifier and answer_reranker.</a:t>
            </a:r>
          </a:p>
        </p:txBody>
      </p:sp>
      <p:sp>
        <p:nvSpPr>
          <p:cNvPr id="19" name="">
            <a:extLst xmlns:a="http://schemas.openxmlformats.org/drawingml/2006/main">
              <a:ext uri="{FF2B5EF4-FFF2-40B4-BE49-F238E27FC236}">
                <a16:creationId xmlns:a16="http://schemas.microsoft.com/office/drawing/2014/main" id="{55D875B0-FFFC-41A2-90F7-547F04187994}"/>
              </a:ext>
            </a:extLst>
          </p:cNvPr>
          <p:cNvSpPr>
            <a:spLocks xmlns:a="http://schemas.openxmlformats.org/drawingml/2006/main" noGrp="1"/>
          </p:cNvSpPr>
          <p:nvPr/>
        </p:nvSpPr>
        <p:spPr>
          <a:xfrm xmlns:a="http://schemas.openxmlformats.org/drawingml/2006/main">
            <a:off x="876300" y="45339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98F1EE1-A6D7-45E1-920E-255A63B0E8BF}"/>
              </a:ext>
            </a:extLst>
          </p:cNvPr>
          <p:cNvSpPr>
            <a:spLocks xmlns:a="http://schemas.openxmlformats.org/drawingml/2006/main" noGrp="1"/>
          </p:cNvSpPr>
          <p:nvPr/>
        </p:nvSpPr>
        <p:spPr>
          <a:xfrm xmlns:a="http://schemas.openxmlformats.org/drawingml/2006/main">
            <a:off x="1066800" y="4457700"/>
            <a:ext cx="9715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Writes trajectory.json so failures can be inspected later.</a:t>
            </a:r>
          </a:p>
        </p:txBody>
      </p:sp>
      <p:sp>
        <p:nvSpPr>
          <p:cNvPr id="21" name="">
            <a:extLst xmlns:a="http://schemas.openxmlformats.org/drawingml/2006/main">
              <a:ext uri="{FF2B5EF4-FFF2-40B4-BE49-F238E27FC236}">
                <a16:creationId xmlns:a16="http://schemas.microsoft.com/office/drawing/2014/main" id="{1457D426-72A0-439F-8284-797DB8E179F9}"/>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32</a:t>
            </a:r>
          </a:p>
        </p:txBody>
      </p:sp>
    </p:spTree>
    <p:extLst>
      <p:ext uri="{BB962C8B-B14F-4D97-AF65-F5344CB8AC3E}">
        <p14:creationId xmlns:p14="http://schemas.microsoft.com/office/powerpoint/2010/main" val="671438267"/>
      </p:ext>
    </p:extLst>
  </p:cSld>
</p:sld>
</file>

<file path=ppt/slides/slide3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990721-2E5A-4AFC-AE12-DD1CEC0E4A4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6960027-D578-4DBE-B032-8199687D601C}"/>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4AF6EC94-2E98-46F6-8EFE-C5DE5EF3B7DA}"/>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Remaining risks before final submission</a:t>
            </a:r>
          </a:p>
        </p:txBody>
      </p:sp>
      <p:sp>
        <p:nvSpPr>
          <p:cNvPr id="4" name="">
            <a:extLst xmlns:a="http://schemas.openxmlformats.org/drawingml/2006/main">
              <a:ext uri="{FF2B5EF4-FFF2-40B4-BE49-F238E27FC236}">
                <a16:creationId xmlns:a16="http://schemas.microsoft.com/office/drawing/2014/main" id="{7CED11E4-96B5-4632-8430-EBC5C5DDCB50}"/>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D43D8E6-E0D0-4DB7-BB9E-D9785C174772}"/>
              </a:ext>
            </a:extLst>
          </p:cNvPr>
          <p:cNvSpPr>
            <a:spLocks xmlns:a="http://schemas.openxmlformats.org/drawingml/2006/main" noGrp="1"/>
          </p:cNvSpPr>
          <p:nvPr/>
        </p:nvSpPr>
        <p:spPr>
          <a:xfrm xmlns:a="http://schemas.openxmlformats.org/drawingml/2006/main">
            <a:off x="781050" y="1295400"/>
            <a:ext cx="10629900" cy="400050"/>
          </a:xfrm>
          <a:prstGeom xmlns:a="http://schemas.openxmlformats.org/drawingml/2006/main" prst="rect">
            <a:avLst/>
          </a:prstGeom>
          <a:solidFill xmlns:a="http://schemas.openxmlformats.org/drawingml/2006/main">
            <a:srgbClr val="FFF7ED"/>
          </a:solidFill>
          <a:ln xmlns:a="http://schemas.openxmlformats.org/drawingml/2006/main" w="9525">
            <a:solidFill>
              <a:srgbClr val="FED7AA"/>
            </a:solidFill>
            <a:prstDash val="solid"/>
          </a:ln>
        </p:spPr>
      </p:sp>
      <p:sp>
        <p:nvSpPr>
          <p:cNvPr id="6" name="">
            <a:extLst xmlns:a="http://schemas.openxmlformats.org/drawingml/2006/main">
              <a:ext uri="{FF2B5EF4-FFF2-40B4-BE49-F238E27FC236}">
                <a16:creationId xmlns:a16="http://schemas.microsoft.com/office/drawing/2014/main" id="{DB8BE253-3DAC-4B74-9FA3-BF4B5D1D5C18}"/>
              </a:ext>
            </a:extLst>
          </p:cNvPr>
          <p:cNvSpPr>
            <a:spLocks xmlns:a="http://schemas.openxmlformats.org/drawingml/2006/main" noGrp="1"/>
          </p:cNvSpPr>
          <p:nvPr/>
        </p:nvSpPr>
        <p:spPr>
          <a:xfrm xmlns:a="http://schemas.openxmlformats.org/drawingml/2006/main">
            <a:off x="781050" y="1295400"/>
            <a:ext cx="57150" cy="4000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AE834A6-3385-4F94-906C-BEDDB27D161C}"/>
              </a:ext>
            </a:extLst>
          </p:cNvPr>
          <p:cNvSpPr>
            <a:spLocks xmlns:a="http://schemas.openxmlformats.org/drawingml/2006/main" noGrp="1"/>
          </p:cNvSpPr>
          <p:nvPr/>
        </p:nvSpPr>
        <p:spPr>
          <a:xfrm xmlns:a="http://schemas.openxmlformats.org/drawingml/2006/main">
            <a:off x="914400" y="13716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D97706"/>
                </a:solidFill>
                <a:latin typeface="Aptos"/>
                <a:ea typeface="Aptos"/>
                <a:cs typeface="Aptos"/>
              </a:defRPr>
            </a:pPr>
            <a:r>
              <a:rPr sz="735" b="1">
                <a:solidFill>
                  <a:srgbClr val="D97706"/>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D9961696-30BE-45C9-B296-821ACFBC36F5}"/>
              </a:ext>
            </a:extLst>
          </p:cNvPr>
          <p:cNvSpPr>
            <a:spLocks xmlns:a="http://schemas.openxmlformats.org/drawingml/2006/main" noGrp="1"/>
          </p:cNvSpPr>
          <p:nvPr/>
        </p:nvSpPr>
        <p:spPr>
          <a:xfrm xmlns:a="http://schemas.openxmlformats.org/drawingml/2006/main">
            <a:off x="1943100" y="1352550"/>
            <a:ext cx="93154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172033"/>
                </a:solidFill>
                <a:latin typeface="Aptos"/>
                <a:ea typeface="Aptos"/>
                <a:cs typeface="Aptos"/>
              </a:defRPr>
            </a:pPr>
            <a:r>
              <a:rPr sz="885" b="0">
                <a:solidFill>
                  <a:srgbClr val="172033"/>
                </a:solidFill>
                <a:latin typeface="Aptos"/>
                <a:ea typeface="Aptos"/>
                <a:cs typeface="Aptos"/>
              </a:rPr>
              <a:t>The main risk is live Adobe API testing. Right now, API calls are mostly evaluated by dry-run planning.</a:t>
            </a:r>
          </a:p>
        </p:txBody>
      </p:sp>
      <p:sp>
        <p:nvSpPr>
          <p:cNvPr id="9" name="">
            <a:extLst xmlns:a="http://schemas.openxmlformats.org/drawingml/2006/main">
              <a:ext uri="{FF2B5EF4-FFF2-40B4-BE49-F238E27FC236}">
                <a16:creationId xmlns:a16="http://schemas.microsoft.com/office/drawing/2014/main" id="{5202A628-4E5C-4E76-9D80-292C8E7D4F79}"/>
              </a:ext>
            </a:extLst>
          </p:cNvPr>
          <p:cNvSpPr>
            <a:spLocks xmlns:a="http://schemas.openxmlformats.org/drawingml/2006/main" noGrp="1"/>
          </p:cNvSpPr>
          <p:nvPr/>
        </p:nvSpPr>
        <p:spPr>
          <a:xfrm xmlns:a="http://schemas.openxmlformats.org/drawingml/2006/main">
            <a:off x="742950" y="2076450"/>
            <a:ext cx="48196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0" name="">
            <a:extLst xmlns:a="http://schemas.openxmlformats.org/drawingml/2006/main">
              <a:ext uri="{FF2B5EF4-FFF2-40B4-BE49-F238E27FC236}">
                <a16:creationId xmlns:a16="http://schemas.microsoft.com/office/drawing/2014/main" id="{19933E75-679D-4FD8-9A61-79E9635DEA66}"/>
              </a:ext>
            </a:extLst>
          </p:cNvPr>
          <p:cNvSpPr>
            <a:spLocks xmlns:a="http://schemas.openxmlformats.org/drawingml/2006/main" noGrp="1"/>
          </p:cNvSpPr>
          <p:nvPr/>
        </p:nvSpPr>
        <p:spPr>
          <a:xfrm xmlns:a="http://schemas.openxmlformats.org/drawingml/2006/main">
            <a:off x="742950" y="2076450"/>
            <a:ext cx="66675" cy="10287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F5EA4C1-55B4-4B6E-A554-1EAFEE4F06D7}"/>
              </a:ext>
            </a:extLst>
          </p:cNvPr>
          <p:cNvSpPr>
            <a:spLocks xmlns:a="http://schemas.openxmlformats.org/drawingml/2006/main" noGrp="1"/>
          </p:cNvSpPr>
          <p:nvPr/>
        </p:nvSpPr>
        <p:spPr>
          <a:xfrm xmlns:a="http://schemas.openxmlformats.org/drawingml/2006/main">
            <a:off x="914400" y="220980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Live API not tested</a:t>
            </a:r>
          </a:p>
        </p:txBody>
      </p:sp>
      <p:sp>
        <p:nvSpPr>
          <p:cNvPr id="12" name="">
            <a:extLst xmlns:a="http://schemas.openxmlformats.org/drawingml/2006/main">
              <a:ext uri="{FF2B5EF4-FFF2-40B4-BE49-F238E27FC236}">
                <a16:creationId xmlns:a16="http://schemas.microsoft.com/office/drawing/2014/main" id="{1CBF1E88-0040-4756-AFB6-CC2A6B565934}"/>
              </a:ext>
            </a:extLst>
          </p:cNvPr>
          <p:cNvSpPr>
            <a:spLocks xmlns:a="http://schemas.openxmlformats.org/drawingml/2006/main" noGrp="1"/>
          </p:cNvSpPr>
          <p:nvPr/>
        </p:nvSpPr>
        <p:spPr>
          <a:xfrm xmlns:a="http://schemas.openxmlformats.org/drawingml/2006/main">
            <a:off x="914400" y="251460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B7A"/>
                </a:solidFill>
                <a:latin typeface="Aptos"/>
                <a:ea typeface="Aptos"/>
                <a:cs typeface="Aptos"/>
              </a:defRPr>
            </a:pPr>
            <a:r>
              <a:rPr sz="1200" b="0">
                <a:solidFill>
                  <a:srgbClr val="5F6B7A"/>
                </a:solidFill>
                <a:latin typeface="Aptos"/>
                <a:ea typeface="Aptos"/>
                <a:cs typeface="Aptos"/>
              </a:rPr>
              <a:t>Adobe credentials are needed to test real payloads, latency, and error cases.</a:t>
            </a:r>
          </a:p>
        </p:txBody>
      </p:sp>
      <p:sp>
        <p:nvSpPr>
          <p:cNvPr id="13" name="">
            <a:extLst xmlns:a="http://schemas.openxmlformats.org/drawingml/2006/main">
              <a:ext uri="{FF2B5EF4-FFF2-40B4-BE49-F238E27FC236}">
                <a16:creationId xmlns:a16="http://schemas.microsoft.com/office/drawing/2014/main" id="{D9DA11C5-C407-4E91-BF03-E4B7CDC6B16B}"/>
              </a:ext>
            </a:extLst>
          </p:cNvPr>
          <p:cNvSpPr>
            <a:spLocks xmlns:a="http://schemas.openxmlformats.org/drawingml/2006/main" noGrp="1"/>
          </p:cNvSpPr>
          <p:nvPr/>
        </p:nvSpPr>
        <p:spPr>
          <a:xfrm xmlns:a="http://schemas.openxmlformats.org/drawingml/2006/main">
            <a:off x="6629400" y="2076450"/>
            <a:ext cx="48196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4" name="">
            <a:extLst xmlns:a="http://schemas.openxmlformats.org/drawingml/2006/main">
              <a:ext uri="{FF2B5EF4-FFF2-40B4-BE49-F238E27FC236}">
                <a16:creationId xmlns:a16="http://schemas.microsoft.com/office/drawing/2014/main" id="{DD5D83A7-EA18-4713-BF16-D18341405BAC}"/>
              </a:ext>
            </a:extLst>
          </p:cNvPr>
          <p:cNvSpPr>
            <a:spLocks xmlns:a="http://schemas.openxmlformats.org/drawingml/2006/main" noGrp="1"/>
          </p:cNvSpPr>
          <p:nvPr/>
        </p:nvSpPr>
        <p:spPr>
          <a:xfrm xmlns:a="http://schemas.openxmlformats.org/drawingml/2006/main">
            <a:off x="6629400" y="2076450"/>
            <a:ext cx="66675" cy="10287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50FBD4D-F597-4430-89C9-3972A0AF6C88}"/>
              </a:ext>
            </a:extLst>
          </p:cNvPr>
          <p:cNvSpPr>
            <a:spLocks xmlns:a="http://schemas.openxmlformats.org/drawingml/2006/main" noGrp="1"/>
          </p:cNvSpPr>
          <p:nvPr/>
        </p:nvSpPr>
        <p:spPr>
          <a:xfrm xmlns:a="http://schemas.openxmlformats.org/drawingml/2006/main">
            <a:off x="6800850" y="220980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API-only dry-run families</a:t>
            </a:r>
          </a:p>
        </p:txBody>
      </p:sp>
      <p:sp>
        <p:nvSpPr>
          <p:cNvPr id="16" name="">
            <a:extLst xmlns:a="http://schemas.openxmlformats.org/drawingml/2006/main">
              <a:ext uri="{FF2B5EF4-FFF2-40B4-BE49-F238E27FC236}">
                <a16:creationId xmlns:a16="http://schemas.microsoft.com/office/drawing/2014/main" id="{B455841B-77EE-41CB-9B2A-CD7FC11405AE}"/>
              </a:ext>
            </a:extLst>
          </p:cNvPr>
          <p:cNvSpPr>
            <a:spLocks xmlns:a="http://schemas.openxmlformats.org/drawingml/2006/main" noGrp="1"/>
          </p:cNvSpPr>
          <p:nvPr/>
        </p:nvSpPr>
        <p:spPr>
          <a:xfrm xmlns:a="http://schemas.openxmlformats.org/drawingml/2006/main">
            <a:off x="6800850" y="251460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B7A"/>
                </a:solidFill>
                <a:latin typeface="Aptos"/>
                <a:ea typeface="Aptos"/>
                <a:cs typeface="Aptos"/>
              </a:defRPr>
            </a:pPr>
            <a:r>
              <a:rPr sz="1200" b="0">
                <a:solidFill>
                  <a:srgbClr val="5F6B7A"/>
                </a:solidFill>
                <a:latin typeface="Aptos"/>
                <a:ea typeface="Aptos"/>
                <a:cs typeface="Aptos"/>
              </a:rPr>
              <a:t>Batches, tags, merge policies, segment jobs, and observability are still harder without live responses.</a:t>
            </a:r>
          </a:p>
        </p:txBody>
      </p:sp>
      <p:sp>
        <p:nvSpPr>
          <p:cNvPr id="17" name="">
            <a:extLst xmlns:a="http://schemas.openxmlformats.org/drawingml/2006/main">
              <a:ext uri="{FF2B5EF4-FFF2-40B4-BE49-F238E27FC236}">
                <a16:creationId xmlns:a16="http://schemas.microsoft.com/office/drawing/2014/main" id="{3E44F10F-90E8-43C5-BE41-8B73AC456981}"/>
              </a:ext>
            </a:extLst>
          </p:cNvPr>
          <p:cNvSpPr>
            <a:spLocks xmlns:a="http://schemas.openxmlformats.org/drawingml/2006/main" noGrp="1"/>
          </p:cNvSpPr>
          <p:nvPr/>
        </p:nvSpPr>
        <p:spPr>
          <a:xfrm xmlns:a="http://schemas.openxmlformats.org/drawingml/2006/main">
            <a:off x="742950" y="3619500"/>
            <a:ext cx="48196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8" name="">
            <a:extLst xmlns:a="http://schemas.openxmlformats.org/drawingml/2006/main">
              <a:ext uri="{FF2B5EF4-FFF2-40B4-BE49-F238E27FC236}">
                <a16:creationId xmlns:a16="http://schemas.microsoft.com/office/drawing/2014/main" id="{F59E95B2-C1B8-48FD-8583-659892DA465B}"/>
              </a:ext>
            </a:extLst>
          </p:cNvPr>
          <p:cNvSpPr>
            <a:spLocks xmlns:a="http://schemas.openxmlformats.org/drawingml/2006/main" noGrp="1"/>
          </p:cNvSpPr>
          <p:nvPr/>
        </p:nvSpPr>
        <p:spPr>
          <a:xfrm xmlns:a="http://schemas.openxmlformats.org/drawingml/2006/main">
            <a:off x="742950" y="3619500"/>
            <a:ext cx="66675" cy="1028700"/>
          </a:xfrm>
          <a:prstGeom xmlns:a="http://schemas.openxmlformats.org/drawingml/2006/main" prst="rect">
            <a:avLst/>
          </a:prstGeom>
          <a:solidFill xmlns:a="http://schemas.openxmlformats.org/drawingml/2006/main">
            <a:srgbClr val="1A7F5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EDA9FEB-0EB2-446B-B4C8-A96317DEF811}"/>
              </a:ext>
            </a:extLst>
          </p:cNvPr>
          <p:cNvSpPr>
            <a:spLocks xmlns:a="http://schemas.openxmlformats.org/drawingml/2006/main" noGrp="1"/>
          </p:cNvSpPr>
          <p:nvPr/>
        </p:nvSpPr>
        <p:spPr>
          <a:xfrm xmlns:a="http://schemas.openxmlformats.org/drawingml/2006/main">
            <a:off x="914400" y="375285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Answer correctness moderate</a:t>
            </a:r>
          </a:p>
        </p:txBody>
      </p:sp>
      <p:sp>
        <p:nvSpPr>
          <p:cNvPr id="20" name="">
            <a:extLst xmlns:a="http://schemas.openxmlformats.org/drawingml/2006/main">
              <a:ext uri="{FF2B5EF4-FFF2-40B4-BE49-F238E27FC236}">
                <a16:creationId xmlns:a16="http://schemas.microsoft.com/office/drawing/2014/main" id="{A9BF02D2-7B86-42B2-AD2B-FC02901A2505}"/>
              </a:ext>
            </a:extLst>
          </p:cNvPr>
          <p:cNvSpPr>
            <a:spLocks xmlns:a="http://schemas.openxmlformats.org/drawingml/2006/main" noGrp="1"/>
          </p:cNvSpPr>
          <p:nvPr/>
        </p:nvSpPr>
        <p:spPr>
          <a:xfrm xmlns:a="http://schemas.openxmlformats.org/drawingml/2006/main">
            <a:off x="914400" y="405765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B7A"/>
                </a:solidFill>
                <a:latin typeface="Aptos"/>
                <a:ea typeface="Aptos"/>
                <a:cs typeface="Aptos"/>
              </a:defRPr>
            </a:pPr>
            <a:r>
              <a:rPr sz="1200" b="0">
                <a:solidFill>
                  <a:srgbClr val="5F6B7A"/>
                </a:solidFill>
                <a:latin typeface="Aptos"/>
                <a:ea typeface="Aptos"/>
                <a:cs typeface="Aptos"/>
              </a:rPr>
              <a:t>The verifier prevents unsupported facts, but unavailable dry-run answers still score lower.</a:t>
            </a:r>
          </a:p>
        </p:txBody>
      </p:sp>
      <p:sp>
        <p:nvSpPr>
          <p:cNvPr id="21" name="">
            <a:extLst xmlns:a="http://schemas.openxmlformats.org/drawingml/2006/main">
              <a:ext uri="{FF2B5EF4-FFF2-40B4-BE49-F238E27FC236}">
                <a16:creationId xmlns:a16="http://schemas.microsoft.com/office/drawing/2014/main" id="{E16E9C7B-37F5-45F0-849F-2533AF49FB81}"/>
              </a:ext>
            </a:extLst>
          </p:cNvPr>
          <p:cNvSpPr>
            <a:spLocks xmlns:a="http://schemas.openxmlformats.org/drawingml/2006/main" noGrp="1"/>
          </p:cNvSpPr>
          <p:nvPr/>
        </p:nvSpPr>
        <p:spPr>
          <a:xfrm xmlns:a="http://schemas.openxmlformats.org/drawingml/2006/main">
            <a:off x="6629400" y="3619500"/>
            <a:ext cx="48196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22" name="">
            <a:extLst xmlns:a="http://schemas.openxmlformats.org/drawingml/2006/main">
              <a:ext uri="{FF2B5EF4-FFF2-40B4-BE49-F238E27FC236}">
                <a16:creationId xmlns:a16="http://schemas.microsoft.com/office/drawing/2014/main" id="{B636FC17-31E2-40C1-A2D5-5150C77C80CB}"/>
              </a:ext>
            </a:extLst>
          </p:cNvPr>
          <p:cNvSpPr>
            <a:spLocks xmlns:a="http://schemas.openxmlformats.org/drawingml/2006/main" noGrp="1"/>
          </p:cNvSpPr>
          <p:nvPr/>
        </p:nvSpPr>
        <p:spPr>
          <a:xfrm xmlns:a="http://schemas.openxmlformats.org/drawingml/2006/main">
            <a:off x="6629400" y="3619500"/>
            <a:ext cx="66675" cy="1028700"/>
          </a:xfrm>
          <a:prstGeom xmlns:a="http://schemas.openxmlformats.org/drawingml/2006/main" prst="rect">
            <a:avLst/>
          </a:prstGeom>
          <a:solidFill xmlns:a="http://schemas.openxmlformats.org/drawingml/2006/main">
            <a:srgbClr val="6D5BD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3D3AA13-A41C-42C8-9058-71140BDC90A0}"/>
              </a:ext>
            </a:extLst>
          </p:cNvPr>
          <p:cNvSpPr>
            <a:spLocks xmlns:a="http://schemas.openxmlformats.org/drawingml/2006/main" noGrp="1"/>
          </p:cNvSpPr>
          <p:nvPr/>
        </p:nvSpPr>
        <p:spPr>
          <a:xfrm xmlns:a="http://schemas.openxmlformats.org/drawingml/2006/main">
            <a:off x="6800850" y="375285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Hidden wording risk</a:t>
            </a:r>
          </a:p>
        </p:txBody>
      </p:sp>
      <p:sp>
        <p:nvSpPr>
          <p:cNvPr id="24" name="">
            <a:extLst xmlns:a="http://schemas.openxmlformats.org/drawingml/2006/main">
              <a:ext uri="{FF2B5EF4-FFF2-40B4-BE49-F238E27FC236}">
                <a16:creationId xmlns:a16="http://schemas.microsoft.com/office/drawing/2014/main" id="{299DE25D-AEE5-4332-9425-3225B3FEE3B1}"/>
              </a:ext>
            </a:extLst>
          </p:cNvPr>
          <p:cNvSpPr>
            <a:spLocks xmlns:a="http://schemas.openxmlformats.org/drawingml/2006/main" noGrp="1"/>
          </p:cNvSpPr>
          <p:nvPr/>
        </p:nvSpPr>
        <p:spPr>
          <a:xfrm xmlns:a="http://schemas.openxmlformats.org/drawingml/2006/main">
            <a:off x="6800850" y="405765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B7A"/>
                </a:solidFill>
                <a:latin typeface="Aptos"/>
                <a:ea typeface="Aptos"/>
                <a:cs typeface="Aptos"/>
              </a:defRPr>
            </a:pPr>
            <a:r>
              <a:rPr sz="1200" b="0">
                <a:solidFill>
                  <a:srgbClr val="5F6B7A"/>
                </a:solidFill>
                <a:latin typeface="Aptos"/>
                <a:ea typeface="Aptos"/>
                <a:cs typeface="Aptos"/>
              </a:rPr>
              <a:t>Hidden tests may use different wording, names, or entity references.</a:t>
            </a:r>
          </a:p>
        </p:txBody>
      </p:sp>
      <p:sp>
        <p:nvSpPr>
          <p:cNvPr id="25" name="">
            <a:extLst xmlns:a="http://schemas.openxmlformats.org/drawingml/2006/main">
              <a:ext uri="{FF2B5EF4-FFF2-40B4-BE49-F238E27FC236}">
                <a16:creationId xmlns:a16="http://schemas.microsoft.com/office/drawing/2014/main" id="{2BEF2F5A-5330-488B-B3E3-9DB4469E9B0F}"/>
              </a:ext>
            </a:extLst>
          </p:cNvPr>
          <p:cNvSpPr>
            <a:spLocks xmlns:a="http://schemas.openxmlformats.org/drawingml/2006/main" noGrp="1"/>
          </p:cNvSpPr>
          <p:nvPr/>
        </p:nvSpPr>
        <p:spPr>
          <a:xfrm xmlns:a="http://schemas.openxmlformats.org/drawingml/2006/main">
            <a:off x="1066800" y="5600700"/>
            <a:ext cx="10058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E2A47"/>
                </a:solidFill>
                <a:latin typeface="Aptos"/>
                <a:ea typeface="Aptos"/>
                <a:cs typeface="Aptos"/>
              </a:defRPr>
            </a:pPr>
            <a:r>
              <a:rPr sz="1575" b="1">
                <a:solidFill>
                  <a:srgbClr val="0E2A47"/>
                </a:solidFill>
                <a:latin typeface="Aptos"/>
                <a:ea typeface="Aptos"/>
                <a:cs typeface="Aptos"/>
              </a:rPr>
              <a:t>Main blocker: live Adobe API validation.</a:t>
            </a:r>
          </a:p>
        </p:txBody>
      </p:sp>
      <p:sp>
        <p:nvSpPr>
          <p:cNvPr id="26" name="">
            <a:extLst xmlns:a="http://schemas.openxmlformats.org/drawingml/2006/main">
              <a:ext uri="{FF2B5EF4-FFF2-40B4-BE49-F238E27FC236}">
                <a16:creationId xmlns:a16="http://schemas.microsoft.com/office/drawing/2014/main" id="{27F709E5-14D4-4188-9A78-97FF000CC613}"/>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33</a:t>
            </a:r>
          </a:p>
        </p:txBody>
      </p:sp>
    </p:spTree>
    <p:extLst>
      <p:ext uri="{BB962C8B-B14F-4D97-AF65-F5344CB8AC3E}">
        <p14:creationId xmlns:p14="http://schemas.microsoft.com/office/powerpoint/2010/main" val="2032591944"/>
      </p:ext>
    </p:extLst>
  </p:cSld>
</p:sld>
</file>

<file path=ppt/slides/slide3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CAED73-167D-43A1-86E7-03BD30F0FDC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1FD8D0E-68BF-400A-BA0F-52C89DC886D7}"/>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026D8B76-F67A-43B0-8FE0-D6326F067EB7}"/>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Next steps</a:t>
            </a:r>
          </a:p>
        </p:txBody>
      </p:sp>
      <p:sp>
        <p:nvSpPr>
          <p:cNvPr id="4" name="">
            <a:extLst xmlns:a="http://schemas.openxmlformats.org/drawingml/2006/main">
              <a:ext uri="{FF2B5EF4-FFF2-40B4-BE49-F238E27FC236}">
                <a16:creationId xmlns:a16="http://schemas.microsoft.com/office/drawing/2014/main" id="{7EE25338-57D3-48E0-9BE7-CBE2D913D709}"/>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C7E234D-2131-4F98-86C5-539B655924C5}"/>
              </a:ext>
            </a:extLst>
          </p:cNvPr>
          <p:cNvSpPr>
            <a:spLocks xmlns:a="http://schemas.openxmlformats.org/drawingml/2006/main" noGrp="1"/>
          </p:cNvSpPr>
          <p:nvPr/>
        </p:nvSpPr>
        <p:spPr>
          <a:xfrm xmlns:a="http://schemas.openxmlformats.org/drawingml/2006/main">
            <a:off x="781050" y="1295400"/>
            <a:ext cx="10629900" cy="400050"/>
          </a:xfrm>
          <a:prstGeom xmlns:a="http://schemas.openxmlformats.org/drawingml/2006/main" prst="rect">
            <a:avLst/>
          </a:prstGeom>
          <a:solidFill xmlns:a="http://schemas.openxmlformats.org/drawingml/2006/main">
            <a:srgbClr val="EEF8FA"/>
          </a:solidFill>
          <a:ln xmlns:a="http://schemas.openxmlformats.org/drawingml/2006/main" w="9525">
            <a:solidFill>
              <a:srgbClr val="BDE7E5"/>
            </a:solidFill>
            <a:prstDash val="solid"/>
          </a:ln>
        </p:spPr>
      </p:sp>
      <p:sp>
        <p:nvSpPr>
          <p:cNvPr id="6" name="">
            <a:extLst xmlns:a="http://schemas.openxmlformats.org/drawingml/2006/main">
              <a:ext uri="{FF2B5EF4-FFF2-40B4-BE49-F238E27FC236}">
                <a16:creationId xmlns:a16="http://schemas.microsoft.com/office/drawing/2014/main" id="{E3A9FF1C-5267-4724-BFCD-30DCFD3E95CD}"/>
              </a:ext>
            </a:extLst>
          </p:cNvPr>
          <p:cNvSpPr>
            <a:spLocks xmlns:a="http://schemas.openxmlformats.org/drawingml/2006/main" noGrp="1"/>
          </p:cNvSpPr>
          <p:nvPr/>
        </p:nvSpPr>
        <p:spPr>
          <a:xfrm xmlns:a="http://schemas.openxmlformats.org/drawingml/2006/main">
            <a:off x="781050" y="1295400"/>
            <a:ext cx="57150" cy="4000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7AECDC1-F061-481B-BAD5-7DCC825102BD}"/>
              </a:ext>
            </a:extLst>
          </p:cNvPr>
          <p:cNvSpPr>
            <a:spLocks xmlns:a="http://schemas.openxmlformats.org/drawingml/2006/main" noGrp="1"/>
          </p:cNvSpPr>
          <p:nvPr/>
        </p:nvSpPr>
        <p:spPr>
          <a:xfrm xmlns:a="http://schemas.openxmlformats.org/drawingml/2006/main">
            <a:off x="914400" y="1371600"/>
            <a:ext cx="9906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B8F8A"/>
                </a:solidFill>
                <a:latin typeface="Aptos"/>
                <a:ea typeface="Aptos"/>
                <a:cs typeface="Aptos"/>
              </a:defRPr>
            </a:pPr>
            <a:r>
              <a:rPr sz="735" b="1">
                <a:solidFill>
                  <a:srgbClr val="0B8F8A"/>
                </a:solidFill>
                <a:latin typeface="Aptos"/>
                <a:ea typeface="Aptos"/>
                <a:cs typeface="Aptos"/>
              </a:rPr>
              <a:t>Speaking cue</a:t>
            </a:r>
          </a:p>
        </p:txBody>
      </p:sp>
      <p:sp>
        <p:nvSpPr>
          <p:cNvPr id="8" name="">
            <a:extLst xmlns:a="http://schemas.openxmlformats.org/drawingml/2006/main">
              <a:ext uri="{FF2B5EF4-FFF2-40B4-BE49-F238E27FC236}">
                <a16:creationId xmlns:a16="http://schemas.microsoft.com/office/drawing/2014/main" id="{BC989F77-44D4-4BD0-9428-FC0D94FC6406}"/>
              </a:ext>
            </a:extLst>
          </p:cNvPr>
          <p:cNvSpPr>
            <a:spLocks xmlns:a="http://schemas.openxmlformats.org/drawingml/2006/main" noGrp="1"/>
          </p:cNvSpPr>
          <p:nvPr/>
        </p:nvSpPr>
        <p:spPr>
          <a:xfrm xmlns:a="http://schemas.openxmlformats.org/drawingml/2006/main">
            <a:off x="1943100" y="1352550"/>
            <a:ext cx="93154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172033"/>
                </a:solidFill>
                <a:latin typeface="Aptos"/>
                <a:ea typeface="Aptos"/>
                <a:cs typeface="Aptos"/>
              </a:defRPr>
            </a:pPr>
            <a:r>
              <a:rPr sz="885" b="0">
                <a:solidFill>
                  <a:srgbClr val="172033"/>
                </a:solidFill>
                <a:latin typeface="Aptos"/>
                <a:ea typeface="Aptos"/>
                <a:cs typeface="Aptos"/>
              </a:rPr>
              <a:t>Next: get Adobe credentials, run live API evaluation, inspect failures, improve parsers, and finalize the paper and package.</a:t>
            </a:r>
          </a:p>
        </p:txBody>
      </p:sp>
      <p:sp>
        <p:nvSpPr>
          <p:cNvPr id="9" name="">
            <a:extLst xmlns:a="http://schemas.openxmlformats.org/drawingml/2006/main">
              <a:ext uri="{FF2B5EF4-FFF2-40B4-BE49-F238E27FC236}">
                <a16:creationId xmlns:a16="http://schemas.microsoft.com/office/drawing/2014/main" id="{F4900A14-1A6D-42C5-9B91-5010001EE78D}"/>
              </a:ext>
            </a:extLst>
          </p:cNvPr>
          <p:cNvSpPr>
            <a:spLocks xmlns:a="http://schemas.openxmlformats.org/drawingml/2006/main" noGrp="1"/>
          </p:cNvSpPr>
          <p:nvPr/>
        </p:nvSpPr>
        <p:spPr>
          <a:xfrm xmlns:a="http://schemas.openxmlformats.org/drawingml/2006/main">
            <a:off x="1066800" y="215265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4176DD3-21FE-4119-8F52-DCF21CA433A4}"/>
              </a:ext>
            </a:extLst>
          </p:cNvPr>
          <p:cNvSpPr>
            <a:spLocks xmlns:a="http://schemas.openxmlformats.org/drawingml/2006/main" noGrp="1"/>
          </p:cNvSpPr>
          <p:nvPr/>
        </p:nvSpPr>
        <p:spPr>
          <a:xfrm xmlns:a="http://schemas.openxmlformats.org/drawingml/2006/main">
            <a:off x="1257300" y="2076450"/>
            <a:ext cx="9144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72033"/>
                </a:solidFill>
                <a:latin typeface="Aptos"/>
                <a:ea typeface="Aptos"/>
                <a:cs typeface="Aptos"/>
              </a:defRPr>
            </a:pPr>
            <a:r>
              <a:rPr sz="1425" b="0">
                <a:solidFill>
                  <a:srgbClr val="172033"/>
                </a:solidFill>
                <a:latin typeface="Aptos"/>
                <a:ea typeface="Aptos"/>
                <a:cs typeface="Aptos"/>
              </a:rPr>
              <a:t>Obtain Adobe API credentials and run live API evaluation.</a:t>
            </a:r>
          </a:p>
        </p:txBody>
      </p:sp>
      <p:sp>
        <p:nvSpPr>
          <p:cNvPr id="11" name="">
            <a:extLst xmlns:a="http://schemas.openxmlformats.org/drawingml/2006/main">
              <a:ext uri="{FF2B5EF4-FFF2-40B4-BE49-F238E27FC236}">
                <a16:creationId xmlns:a16="http://schemas.microsoft.com/office/drawing/2014/main" id="{56727C25-7781-41BA-9B28-D389AD4F507A}"/>
              </a:ext>
            </a:extLst>
          </p:cNvPr>
          <p:cNvSpPr>
            <a:spLocks xmlns:a="http://schemas.openxmlformats.org/drawingml/2006/main" noGrp="1"/>
          </p:cNvSpPr>
          <p:nvPr/>
        </p:nvSpPr>
        <p:spPr>
          <a:xfrm xmlns:a="http://schemas.openxmlformats.org/drawingml/2006/main">
            <a:off x="1066800" y="27051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1276BB0-829E-4277-A8C6-FDD3482B3A7A}"/>
              </a:ext>
            </a:extLst>
          </p:cNvPr>
          <p:cNvSpPr>
            <a:spLocks xmlns:a="http://schemas.openxmlformats.org/drawingml/2006/main" noGrp="1"/>
          </p:cNvSpPr>
          <p:nvPr/>
        </p:nvSpPr>
        <p:spPr>
          <a:xfrm xmlns:a="http://schemas.openxmlformats.org/drawingml/2006/main">
            <a:off x="1257300" y="2628900"/>
            <a:ext cx="9144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72033"/>
                </a:solidFill>
                <a:latin typeface="Aptos"/>
                <a:ea typeface="Aptos"/>
                <a:cs typeface="Aptos"/>
              </a:defRPr>
            </a:pPr>
            <a:r>
              <a:rPr sz="1425" b="0">
                <a:solidFill>
                  <a:srgbClr val="172033"/>
                </a:solidFill>
                <a:latin typeface="Aptos"/>
                <a:ea typeface="Aptos"/>
                <a:cs typeface="Aptos"/>
              </a:rPr>
              <a:t>Inspect live failures and extend live_response_parsers.py for weak families.</a:t>
            </a:r>
          </a:p>
        </p:txBody>
      </p:sp>
      <p:sp>
        <p:nvSpPr>
          <p:cNvPr id="13" name="">
            <a:extLst xmlns:a="http://schemas.openxmlformats.org/drawingml/2006/main">
              <a:ext uri="{FF2B5EF4-FFF2-40B4-BE49-F238E27FC236}">
                <a16:creationId xmlns:a16="http://schemas.microsoft.com/office/drawing/2014/main" id="{FDBFD896-668D-4E69-8809-16E1EA23B22F}"/>
              </a:ext>
            </a:extLst>
          </p:cNvPr>
          <p:cNvSpPr>
            <a:spLocks xmlns:a="http://schemas.openxmlformats.org/drawingml/2006/main" noGrp="1"/>
          </p:cNvSpPr>
          <p:nvPr/>
        </p:nvSpPr>
        <p:spPr>
          <a:xfrm xmlns:a="http://schemas.openxmlformats.org/drawingml/2006/main">
            <a:off x="1066800" y="325755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FE005DB-BB15-4D0C-809C-EB9D885BE98C}"/>
              </a:ext>
            </a:extLst>
          </p:cNvPr>
          <p:cNvSpPr>
            <a:spLocks xmlns:a="http://schemas.openxmlformats.org/drawingml/2006/main" noGrp="1"/>
          </p:cNvSpPr>
          <p:nvPr/>
        </p:nvSpPr>
        <p:spPr>
          <a:xfrm xmlns:a="http://schemas.openxmlformats.org/drawingml/2006/main">
            <a:off x="1257300" y="3181350"/>
            <a:ext cx="9144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72033"/>
                </a:solidFill>
                <a:latin typeface="Aptos"/>
                <a:ea typeface="Aptos"/>
                <a:cs typeface="Aptos"/>
              </a:defRPr>
            </a:pPr>
            <a:r>
              <a:rPr sz="1425" b="0">
                <a:solidFill>
                  <a:srgbClr val="172033"/>
                </a:solidFill>
                <a:latin typeface="Aptos"/>
                <a:ea typeface="Aptos"/>
                <a:cs typeface="Aptos"/>
              </a:rPr>
              <a:t>Finalize the 4-page VLDB-style system paper around the SQL-first/API-verifying design.</a:t>
            </a:r>
          </a:p>
        </p:txBody>
      </p:sp>
      <p:sp>
        <p:nvSpPr>
          <p:cNvPr id="15" name="">
            <a:extLst xmlns:a="http://schemas.openxmlformats.org/drawingml/2006/main">
              <a:ext uri="{FF2B5EF4-FFF2-40B4-BE49-F238E27FC236}">
                <a16:creationId xmlns:a16="http://schemas.microsoft.com/office/drawing/2014/main" id="{1C16C5A8-999C-425E-AAC0-240B75600E5B}"/>
              </a:ext>
            </a:extLst>
          </p:cNvPr>
          <p:cNvSpPr>
            <a:spLocks xmlns:a="http://schemas.openxmlformats.org/drawingml/2006/main" noGrp="1"/>
          </p:cNvSpPr>
          <p:nvPr/>
        </p:nvSpPr>
        <p:spPr>
          <a:xfrm xmlns:a="http://schemas.openxmlformats.org/drawingml/2006/main">
            <a:off x="1066800" y="38100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4203B47-3C41-434C-A306-5E3C5119D2D3}"/>
              </a:ext>
            </a:extLst>
          </p:cNvPr>
          <p:cNvSpPr>
            <a:spLocks xmlns:a="http://schemas.openxmlformats.org/drawingml/2006/main" noGrp="1"/>
          </p:cNvSpPr>
          <p:nvPr/>
        </p:nvSpPr>
        <p:spPr>
          <a:xfrm xmlns:a="http://schemas.openxmlformats.org/drawingml/2006/main">
            <a:off x="1257300" y="3733800"/>
            <a:ext cx="9144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72033"/>
                </a:solidFill>
                <a:latin typeface="Aptos"/>
                <a:ea typeface="Aptos"/>
                <a:cs typeface="Aptos"/>
              </a:defRPr>
            </a:pPr>
            <a:r>
              <a:rPr sz="1425" b="0">
                <a:solidFill>
                  <a:srgbClr val="172033"/>
                </a:solidFill>
                <a:latin typeface="Aptos"/>
                <a:ea typeface="Aptos"/>
                <a:cs typeface="Aptos"/>
              </a:rPr>
              <a:t>Prepare final source_code.zip and per-query output package.</a:t>
            </a:r>
          </a:p>
        </p:txBody>
      </p:sp>
      <p:sp>
        <p:nvSpPr>
          <p:cNvPr id="17" name="">
            <a:extLst xmlns:a="http://schemas.openxmlformats.org/drawingml/2006/main">
              <a:ext uri="{FF2B5EF4-FFF2-40B4-BE49-F238E27FC236}">
                <a16:creationId xmlns:a16="http://schemas.microsoft.com/office/drawing/2014/main" id="{8E5B3448-E7ED-44AD-B383-03754A47A239}"/>
              </a:ext>
            </a:extLst>
          </p:cNvPr>
          <p:cNvSpPr>
            <a:spLocks xmlns:a="http://schemas.openxmlformats.org/drawingml/2006/main" noGrp="1"/>
          </p:cNvSpPr>
          <p:nvPr/>
        </p:nvSpPr>
        <p:spPr>
          <a:xfrm xmlns:a="http://schemas.openxmlformats.org/drawingml/2006/main">
            <a:off x="1066800" y="436245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60105C4-1B47-4EE7-951A-600F8AF2DFA1}"/>
              </a:ext>
            </a:extLst>
          </p:cNvPr>
          <p:cNvSpPr>
            <a:spLocks xmlns:a="http://schemas.openxmlformats.org/drawingml/2006/main" noGrp="1"/>
          </p:cNvSpPr>
          <p:nvPr/>
        </p:nvSpPr>
        <p:spPr>
          <a:xfrm xmlns:a="http://schemas.openxmlformats.org/drawingml/2006/main">
            <a:off x="1257300" y="4286250"/>
            <a:ext cx="9144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72033"/>
                </a:solidFill>
                <a:latin typeface="Aptos"/>
                <a:ea typeface="Aptos"/>
                <a:cs typeface="Aptos"/>
              </a:defRPr>
            </a:pPr>
            <a:r>
              <a:rPr sz="1425" b="0">
                <a:solidFill>
                  <a:srgbClr val="172033"/>
                </a:solidFill>
                <a:latin typeface="Aptos"/>
                <a:ea typeface="Aptos"/>
                <a:cs typeface="Aptos"/>
              </a:rPr>
              <a:t>Use professor feedback to prioritize paper framing and live-eval remediation.</a:t>
            </a:r>
          </a:p>
        </p:txBody>
      </p:sp>
      <p:sp>
        <p:nvSpPr>
          <p:cNvPr id="19" name="">
            <a:extLst xmlns:a="http://schemas.openxmlformats.org/drawingml/2006/main">
              <a:ext uri="{FF2B5EF4-FFF2-40B4-BE49-F238E27FC236}">
                <a16:creationId xmlns:a16="http://schemas.microsoft.com/office/drawing/2014/main" id="{B18D8565-FE39-4E17-99BE-7C0888C073FB}"/>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34</a:t>
            </a:r>
          </a:p>
        </p:txBody>
      </p:sp>
    </p:spTree>
    <p:extLst>
      <p:ext uri="{BB962C8B-B14F-4D97-AF65-F5344CB8AC3E}">
        <p14:creationId xmlns:p14="http://schemas.microsoft.com/office/powerpoint/2010/main" val="1469984268"/>
      </p:ext>
    </p:extLst>
  </p:cSld>
</p:sld>
</file>

<file path=ppt/slides/slide3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9908DA-EBA7-473E-A8B4-0F1955AD5A0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CB52BAC-7A2A-44E0-86F5-AF72F3E11943}"/>
              </a:ext>
            </a:extLst>
          </p:cNvPr>
          <p:cNvSpPr>
            <a:spLocks xmlns:a="http://schemas.openxmlformats.org/drawingml/2006/main" noGrp="1"/>
          </p:cNvSpPr>
          <p:nvPr/>
        </p:nvSpPr>
        <p:spPr>
          <a:xfrm xmlns:a="http://schemas.openxmlformats.org/drawingml/2006/main">
            <a:off x="552450" y="304800"/>
            <a:ext cx="476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B8F8A"/>
                </a:solidFill>
                <a:latin typeface="Aptos"/>
                <a:ea typeface="Aptos"/>
                <a:cs typeface="Aptos"/>
              </a:defRPr>
            </a:pPr>
            <a:r>
              <a:rPr sz="975" b="1">
                <a:solidFill>
                  <a:srgbClr val="0B8F8A"/>
                </a:solidFill>
                <a:latin typeface="Aptos"/>
                <a:ea typeface="Aptos"/>
                <a:cs typeface="Aptos"/>
              </a:rPr>
              <a:t>DASHSys Systems Track</a:t>
            </a:r>
          </a:p>
        </p:txBody>
      </p:sp>
      <p:sp>
        <p:nvSpPr>
          <p:cNvPr id="3" name="">
            <a:extLst xmlns:a="http://schemas.openxmlformats.org/drawingml/2006/main">
              <a:ext uri="{FF2B5EF4-FFF2-40B4-BE49-F238E27FC236}">
                <a16:creationId xmlns:a16="http://schemas.microsoft.com/office/drawing/2014/main" id="{006C42BC-EAC3-4D98-99D2-BE78FD768BCE}"/>
              </a:ext>
            </a:extLst>
          </p:cNvPr>
          <p:cNvSpPr>
            <a:spLocks xmlns:a="http://schemas.openxmlformats.org/drawingml/2006/main" noGrp="1"/>
          </p:cNvSpPr>
          <p:nvPr/>
        </p:nvSpPr>
        <p:spPr>
          <a:xfrm xmlns:a="http://schemas.openxmlformats.org/drawingml/2006/main">
            <a:off x="552450" y="552450"/>
            <a:ext cx="10572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72033"/>
                </a:solidFill>
                <a:latin typeface="Aptos Display"/>
                <a:ea typeface="Aptos Display"/>
                <a:cs typeface="Aptos Display"/>
              </a:defRPr>
            </a:pPr>
            <a:r>
              <a:rPr sz="2175" b="1">
                <a:solidFill>
                  <a:srgbClr val="172033"/>
                </a:solidFill>
                <a:latin typeface="Aptos Display"/>
                <a:ea typeface="Aptos Display"/>
                <a:cs typeface="Aptos Display"/>
              </a:rPr>
              <a:t>Paper contribution story</a:t>
            </a:r>
          </a:p>
        </p:txBody>
      </p:sp>
      <p:sp>
        <p:nvSpPr>
          <p:cNvPr id="4" name="">
            <a:extLst xmlns:a="http://schemas.openxmlformats.org/drawingml/2006/main">
              <a:ext uri="{FF2B5EF4-FFF2-40B4-BE49-F238E27FC236}">
                <a16:creationId xmlns:a16="http://schemas.microsoft.com/office/drawing/2014/main" id="{57F591F7-8AA3-4432-9EA4-CFCC33E9CA80}"/>
              </a:ext>
            </a:extLst>
          </p:cNvPr>
          <p:cNvSpPr>
            <a:spLocks xmlns:a="http://schemas.openxmlformats.org/drawingml/2006/main" noGrp="1"/>
          </p:cNvSpPr>
          <p:nvPr/>
        </p:nvSpPr>
        <p:spPr>
          <a:xfrm xmlns:a="http://schemas.openxmlformats.org/drawingml/2006/main">
            <a:off x="552450" y="1181100"/>
            <a:ext cx="11087100" cy="14288"/>
          </a:xfrm>
          <a:prstGeom xmlns:a="http://schemas.openxmlformats.org/drawingml/2006/main" prst="rect">
            <a:avLst/>
          </a:prstGeom>
          <a:solidFill xmlns:a="http://schemas.openxmlformats.org/drawingml/2006/main">
            <a:srgbClr val="D8E2E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C54908D-BC86-4F91-A8DC-7B91315DCB58}"/>
              </a:ext>
            </a:extLst>
          </p:cNvPr>
          <p:cNvSpPr>
            <a:spLocks xmlns:a="http://schemas.openxmlformats.org/drawingml/2006/main" noGrp="1"/>
          </p:cNvSpPr>
          <p:nvPr/>
        </p:nvSpPr>
        <p:spPr>
          <a:xfrm xmlns:a="http://schemas.openxmlformats.org/drawingml/2006/main">
            <a:off x="1047750" y="1447800"/>
            <a:ext cx="10096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6" name="">
            <a:extLst xmlns:a="http://schemas.openxmlformats.org/drawingml/2006/main">
              <a:ext uri="{FF2B5EF4-FFF2-40B4-BE49-F238E27FC236}">
                <a16:creationId xmlns:a16="http://schemas.microsoft.com/office/drawing/2014/main" id="{99FEA7EB-AEFC-4843-B312-9A39EB6CCBA0}"/>
              </a:ext>
            </a:extLst>
          </p:cNvPr>
          <p:cNvSpPr>
            <a:spLocks xmlns:a="http://schemas.openxmlformats.org/drawingml/2006/main" noGrp="1"/>
          </p:cNvSpPr>
          <p:nvPr/>
        </p:nvSpPr>
        <p:spPr>
          <a:xfrm xmlns:a="http://schemas.openxmlformats.org/drawingml/2006/main">
            <a:off x="1047750" y="1447800"/>
            <a:ext cx="66675" cy="819150"/>
          </a:xfrm>
          <a:prstGeom xmlns:a="http://schemas.openxmlformats.org/drawingml/2006/main" prst="rect">
            <a:avLst/>
          </a:prstGeom>
          <a:solidFill xmlns:a="http://schemas.openxmlformats.org/drawingml/2006/main">
            <a:srgbClr val="6D5BD0"/>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597EDE2-584F-4B2B-BB25-026E396274D1}"/>
              </a:ext>
            </a:extLst>
          </p:cNvPr>
          <p:cNvSpPr>
            <a:spLocks xmlns:a="http://schemas.openxmlformats.org/drawingml/2006/main" noGrp="1"/>
          </p:cNvSpPr>
          <p:nvPr/>
        </p:nvSpPr>
        <p:spPr>
          <a:xfrm xmlns:a="http://schemas.openxmlformats.org/drawingml/2006/main">
            <a:off x="1219200" y="1581150"/>
            <a:ext cx="9753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Core thesis</a:t>
            </a:r>
          </a:p>
        </p:txBody>
      </p:sp>
      <p:sp>
        <p:nvSpPr>
          <p:cNvPr id="8" name="">
            <a:extLst xmlns:a="http://schemas.openxmlformats.org/drawingml/2006/main">
              <a:ext uri="{FF2B5EF4-FFF2-40B4-BE49-F238E27FC236}">
                <a16:creationId xmlns:a16="http://schemas.microsoft.com/office/drawing/2014/main" id="{0C4725FC-EB15-4F0D-B475-B38A885517E3}"/>
              </a:ext>
            </a:extLst>
          </p:cNvPr>
          <p:cNvSpPr>
            <a:spLocks xmlns:a="http://schemas.openxmlformats.org/drawingml/2006/main" noGrp="1"/>
          </p:cNvSpPr>
          <p:nvPr/>
        </p:nvSpPr>
        <p:spPr>
          <a:xfrm xmlns:a="http://schemas.openxmlformats.org/drawingml/2006/main">
            <a:off x="1219200" y="1885950"/>
            <a:ext cx="975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F6B7A"/>
                </a:solidFill>
                <a:latin typeface="Aptos"/>
                <a:ea typeface="Aptos"/>
                <a:cs typeface="Aptos"/>
              </a:defRPr>
            </a:pPr>
            <a:r>
              <a:rPr sz="1350" b="0">
                <a:solidFill>
                  <a:srgbClr val="5F6B7A"/>
                </a:solidFill>
                <a:latin typeface="Aptos"/>
                <a:ea typeface="Aptos"/>
                <a:cs typeface="Aptos"/>
              </a:rPr>
              <a:t>We built a controlled SQL-first/API-verifying agent for data-centric natural-language QA.</a:t>
            </a:r>
          </a:p>
        </p:txBody>
      </p:sp>
      <p:sp>
        <p:nvSpPr>
          <p:cNvPr id="9" name="">
            <a:extLst xmlns:a="http://schemas.openxmlformats.org/drawingml/2006/main">
              <a:ext uri="{FF2B5EF4-FFF2-40B4-BE49-F238E27FC236}">
                <a16:creationId xmlns:a16="http://schemas.microsoft.com/office/drawing/2014/main" id="{180DB3EE-98E9-4936-9E2A-DBFD76F22C91}"/>
              </a:ext>
            </a:extLst>
          </p:cNvPr>
          <p:cNvSpPr>
            <a:spLocks xmlns:a="http://schemas.openxmlformats.org/drawingml/2006/main" noGrp="1"/>
          </p:cNvSpPr>
          <p:nvPr/>
        </p:nvSpPr>
        <p:spPr>
          <a:xfrm xmlns:a="http://schemas.openxmlformats.org/drawingml/2006/main">
            <a:off x="1047750" y="2533650"/>
            <a:ext cx="10096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0" name="">
            <a:extLst xmlns:a="http://schemas.openxmlformats.org/drawingml/2006/main">
              <a:ext uri="{FF2B5EF4-FFF2-40B4-BE49-F238E27FC236}">
                <a16:creationId xmlns:a16="http://schemas.microsoft.com/office/drawing/2014/main" id="{FF5462DE-3516-4631-8D50-463ABB7186DA}"/>
              </a:ext>
            </a:extLst>
          </p:cNvPr>
          <p:cNvSpPr>
            <a:spLocks xmlns:a="http://schemas.openxmlformats.org/drawingml/2006/main" noGrp="1"/>
          </p:cNvSpPr>
          <p:nvPr/>
        </p:nvSpPr>
        <p:spPr>
          <a:xfrm xmlns:a="http://schemas.openxmlformats.org/drawingml/2006/main">
            <a:off x="1047750" y="2533650"/>
            <a:ext cx="66675" cy="819150"/>
          </a:xfrm>
          <a:prstGeom xmlns:a="http://schemas.openxmlformats.org/drawingml/2006/main" prst="rect">
            <a:avLst/>
          </a:prstGeom>
          <a:solidFill xmlns:a="http://schemas.openxmlformats.org/drawingml/2006/main">
            <a:srgbClr val="1769A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7AA2E2D-8BB3-4BA0-9430-AAFF2BAA8298}"/>
              </a:ext>
            </a:extLst>
          </p:cNvPr>
          <p:cNvSpPr>
            <a:spLocks xmlns:a="http://schemas.openxmlformats.org/drawingml/2006/main" noGrp="1"/>
          </p:cNvSpPr>
          <p:nvPr/>
        </p:nvSpPr>
        <p:spPr>
          <a:xfrm xmlns:a="http://schemas.openxmlformats.org/drawingml/2006/main">
            <a:off x="1219200" y="2667000"/>
            <a:ext cx="9753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How it works</a:t>
            </a:r>
          </a:p>
        </p:txBody>
      </p:sp>
      <p:sp>
        <p:nvSpPr>
          <p:cNvPr id="12" name="">
            <a:extLst xmlns:a="http://schemas.openxmlformats.org/drawingml/2006/main">
              <a:ext uri="{FF2B5EF4-FFF2-40B4-BE49-F238E27FC236}">
                <a16:creationId xmlns:a16="http://schemas.microsoft.com/office/drawing/2014/main" id="{D38DC702-08DB-434D-BE8D-6A64B1ED04C5}"/>
              </a:ext>
            </a:extLst>
          </p:cNvPr>
          <p:cNvSpPr>
            <a:spLocks xmlns:a="http://schemas.openxmlformats.org/drawingml/2006/main" noGrp="1"/>
          </p:cNvSpPr>
          <p:nvPr/>
        </p:nvSpPr>
        <p:spPr>
          <a:xfrm xmlns:a="http://schemas.openxmlformats.org/drawingml/2006/main">
            <a:off x="1219200" y="2971800"/>
            <a:ext cx="975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The system uses safe templates, validation, compact context, EvidenceBus forwarding, and answer_verifier checks.</a:t>
            </a:r>
          </a:p>
        </p:txBody>
      </p:sp>
      <p:sp>
        <p:nvSpPr>
          <p:cNvPr id="13" name="">
            <a:extLst xmlns:a="http://schemas.openxmlformats.org/drawingml/2006/main">
              <a:ext uri="{FF2B5EF4-FFF2-40B4-BE49-F238E27FC236}">
                <a16:creationId xmlns:a16="http://schemas.microsoft.com/office/drawing/2014/main" id="{7A325EDA-4CF0-48E4-850C-4614B2D23420}"/>
              </a:ext>
            </a:extLst>
          </p:cNvPr>
          <p:cNvSpPr>
            <a:spLocks xmlns:a="http://schemas.openxmlformats.org/drawingml/2006/main" noGrp="1"/>
          </p:cNvSpPr>
          <p:nvPr/>
        </p:nvSpPr>
        <p:spPr>
          <a:xfrm xmlns:a="http://schemas.openxmlformats.org/drawingml/2006/main">
            <a:off x="1047750" y="3619500"/>
            <a:ext cx="10096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A"/>
            </a:solidFill>
            <a:prstDash val="solid"/>
          </a:ln>
        </p:spPr>
      </p:sp>
      <p:sp>
        <p:nvSpPr>
          <p:cNvPr id="14" name="">
            <a:extLst xmlns:a="http://schemas.openxmlformats.org/drawingml/2006/main">
              <a:ext uri="{FF2B5EF4-FFF2-40B4-BE49-F238E27FC236}">
                <a16:creationId xmlns:a16="http://schemas.microsoft.com/office/drawing/2014/main" id="{DC08DC40-1135-4B79-A60C-B7B7C0118A5F}"/>
              </a:ext>
            </a:extLst>
          </p:cNvPr>
          <p:cNvSpPr>
            <a:spLocks xmlns:a="http://schemas.openxmlformats.org/drawingml/2006/main" noGrp="1"/>
          </p:cNvSpPr>
          <p:nvPr/>
        </p:nvSpPr>
        <p:spPr>
          <a:xfrm xmlns:a="http://schemas.openxmlformats.org/drawingml/2006/main">
            <a:off x="1047750" y="3619500"/>
            <a:ext cx="66675" cy="819150"/>
          </a:xfrm>
          <a:prstGeom xmlns:a="http://schemas.openxmlformats.org/drawingml/2006/main" prst="rect">
            <a:avLst/>
          </a:prstGeom>
          <a:solidFill xmlns:a="http://schemas.openxmlformats.org/drawingml/2006/main">
            <a:srgbClr val="1A7F5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6F5B3A0-F1EC-4D6E-BABB-9E21675C80D6}"/>
              </a:ext>
            </a:extLst>
          </p:cNvPr>
          <p:cNvSpPr>
            <a:spLocks xmlns:a="http://schemas.openxmlformats.org/drawingml/2006/main" noGrp="1"/>
          </p:cNvSpPr>
          <p:nvPr/>
        </p:nvSpPr>
        <p:spPr>
          <a:xfrm xmlns:a="http://schemas.openxmlformats.org/drawingml/2006/main">
            <a:off x="1219200" y="3752850"/>
            <a:ext cx="9753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33"/>
                </a:solidFill>
                <a:latin typeface="Aptos"/>
                <a:ea typeface="Aptos"/>
                <a:cs typeface="Aptos"/>
              </a:defRPr>
            </a:pPr>
            <a:r>
              <a:rPr sz="1200" b="1">
                <a:solidFill>
                  <a:srgbClr val="172033"/>
                </a:solidFill>
                <a:latin typeface="Aptos"/>
                <a:ea typeface="Aptos"/>
                <a:cs typeface="Aptos"/>
              </a:rPr>
              <a:t>Why it matters</a:t>
            </a:r>
          </a:p>
        </p:txBody>
      </p:sp>
      <p:sp>
        <p:nvSpPr>
          <p:cNvPr id="16" name="">
            <a:extLst xmlns:a="http://schemas.openxmlformats.org/drawingml/2006/main">
              <a:ext uri="{FF2B5EF4-FFF2-40B4-BE49-F238E27FC236}">
                <a16:creationId xmlns:a16="http://schemas.microsoft.com/office/drawing/2014/main" id="{A314803C-E43D-4442-8C47-6FA0D030C479}"/>
              </a:ext>
            </a:extLst>
          </p:cNvPr>
          <p:cNvSpPr>
            <a:spLocks xmlns:a="http://schemas.openxmlformats.org/drawingml/2006/main" noGrp="1"/>
          </p:cNvSpPr>
          <p:nvPr/>
        </p:nvSpPr>
        <p:spPr>
          <a:xfrm xmlns:a="http://schemas.openxmlformats.org/drawingml/2006/main">
            <a:off x="1219200" y="4057650"/>
            <a:ext cx="975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B7A"/>
                </a:solidFill>
                <a:latin typeface="Aptos"/>
                <a:ea typeface="Aptos"/>
                <a:cs typeface="Aptos"/>
              </a:defRPr>
            </a:pPr>
            <a:r>
              <a:rPr sz="1275" b="0">
                <a:solidFill>
                  <a:srgbClr val="5F6B7A"/>
                </a:solidFill>
                <a:latin typeface="Aptos"/>
                <a:ea typeface="Aptos"/>
                <a:cs typeface="Aptos"/>
              </a:rPr>
              <a:t>It improves correctness and efficiency while keeping one selected plan per query and a reproducible trajectory.</a:t>
            </a:r>
          </a:p>
        </p:txBody>
      </p:sp>
      <p:sp>
        <p:nvSpPr>
          <p:cNvPr id="17" name="">
            <a:extLst xmlns:a="http://schemas.openxmlformats.org/drawingml/2006/main">
              <a:ext uri="{FF2B5EF4-FFF2-40B4-BE49-F238E27FC236}">
                <a16:creationId xmlns:a16="http://schemas.microsoft.com/office/drawing/2014/main" id="{6D336E8F-772F-443A-B3E5-B19B292C5116}"/>
              </a:ext>
            </a:extLst>
          </p:cNvPr>
          <p:cNvSpPr>
            <a:spLocks xmlns:a="http://schemas.openxmlformats.org/drawingml/2006/main" noGrp="1"/>
          </p:cNvSpPr>
          <p:nvPr/>
        </p:nvSpPr>
        <p:spPr>
          <a:xfrm xmlns:a="http://schemas.openxmlformats.org/drawingml/2006/main">
            <a:off x="1143000" y="5619750"/>
            <a:ext cx="9906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E2A47"/>
                </a:solidFill>
                <a:latin typeface="Aptos"/>
                <a:ea typeface="Aptos"/>
                <a:cs typeface="Aptos"/>
              </a:defRPr>
            </a:pPr>
            <a:r>
              <a:rPr sz="1575" b="1">
                <a:solidFill>
                  <a:srgbClr val="0E2A47"/>
                </a:solidFill>
                <a:latin typeface="Aptos"/>
                <a:ea typeface="Aptos"/>
                <a:cs typeface="Aptos"/>
              </a:rPr>
              <a:t>Paper story: a simple, explainable agent that avoids guessing and records every step.</a:t>
            </a:r>
          </a:p>
        </p:txBody>
      </p:sp>
      <p:sp>
        <p:nvSpPr>
          <p:cNvPr id="18" name="">
            <a:extLst xmlns:a="http://schemas.openxmlformats.org/drawingml/2006/main">
              <a:ext uri="{FF2B5EF4-FFF2-40B4-BE49-F238E27FC236}">
                <a16:creationId xmlns:a16="http://schemas.microsoft.com/office/drawing/2014/main" id="{660FFEB0-EC46-41E9-A348-D9900D928837}"/>
              </a:ext>
            </a:extLst>
          </p:cNvPr>
          <p:cNvSpPr>
            <a:spLocks xmlns:a="http://schemas.openxmlformats.org/drawingml/2006/main" noGrp="1"/>
          </p:cNvSpPr>
          <p:nvPr/>
        </p:nvSpPr>
        <p:spPr>
          <a:xfrm xmlns:a="http://schemas.openxmlformats.org/drawingml/2006/main">
            <a:off x="552450" y="65341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B7A"/>
                </a:solidFill>
                <a:latin typeface="Aptos"/>
                <a:ea typeface="Aptos"/>
                <a:cs typeface="Aptos"/>
              </a:defRPr>
            </a:pPr>
            <a:r>
              <a:rPr sz="750" b="0">
                <a:solidFill>
                  <a:srgbClr val="5F6B7A"/>
                </a:solidFill>
                <a:latin typeface="Aptos"/>
                <a:ea typeface="Aptos"/>
                <a:cs typeface="Aptos"/>
              </a:rPr>
              <a:t>DASHSys progress report | 35</a:t>
            </a:r>
          </a:p>
        </p:txBody>
      </p:sp>
    </p:spTree>
    <p:extLst>
      <p:ext uri="{BB962C8B-B14F-4D97-AF65-F5344CB8AC3E}">
        <p14:creationId xmlns:p14="http://schemas.microsoft.com/office/powerpoint/2010/main" val="1824519555"/>
      </p:ext>
    </p:extLst>
  </p:cSld>
</p:sld>
</file>

<file path=ppt/slides/slide36.xml><?xml version="1.0" encoding="utf-8"?>
<p:sld xmlns:p="http://schemas.openxmlformats.org/presentationml/2006/main">
  <p:cSld>
    <p:bg>
      <p:bgPr>
        <a:solidFill xmlns:a="http://schemas.openxmlformats.org/drawingml/2006/main">
          <a:srgbClr val="0E2A4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1971F8-532E-4814-A5B8-AC1E531D5E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E2A4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5047DE2-717E-425A-BDA2-6D8557C9E8C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0B95086-5068-4925-BA37-680FB82CF205}"/>
              </a:ext>
            </a:extLst>
          </p:cNvPr>
          <p:cNvSpPr>
            <a:spLocks xmlns:a="http://schemas.openxmlformats.org/drawingml/2006/main" noGrp="1"/>
          </p:cNvSpPr>
          <p:nvPr/>
        </p:nvSpPr>
        <p:spPr>
          <a:xfrm xmlns:a="http://schemas.openxmlformats.org/drawingml/2006/main">
            <a:off x="857250" y="1104900"/>
            <a:ext cx="876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Closing: ready for professor feedback</a:t>
            </a:r>
          </a:p>
        </p:txBody>
      </p:sp>
      <p:sp>
        <p:nvSpPr>
          <p:cNvPr id="4" name="">
            <a:extLst xmlns:a="http://schemas.openxmlformats.org/drawingml/2006/main">
              <a:ext uri="{FF2B5EF4-FFF2-40B4-BE49-F238E27FC236}">
                <a16:creationId xmlns:a16="http://schemas.microsoft.com/office/drawing/2014/main" id="{55F7AF9D-67CF-420F-BEB0-0D0032FA08F6}"/>
              </a:ext>
            </a:extLst>
          </p:cNvPr>
          <p:cNvSpPr>
            <a:spLocks xmlns:a="http://schemas.openxmlformats.org/drawingml/2006/main" noGrp="1"/>
          </p:cNvSpPr>
          <p:nvPr/>
        </p:nvSpPr>
        <p:spPr>
          <a:xfrm xmlns:a="http://schemas.openxmlformats.org/drawingml/2006/main">
            <a:off x="1047750" y="23622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C7F9F2A-5933-4AB6-A576-06CCE71A95A6}"/>
              </a:ext>
            </a:extLst>
          </p:cNvPr>
          <p:cNvSpPr>
            <a:spLocks xmlns:a="http://schemas.openxmlformats.org/drawingml/2006/main" noGrp="1"/>
          </p:cNvSpPr>
          <p:nvPr/>
        </p:nvSpPr>
        <p:spPr>
          <a:xfrm xmlns:a="http://schemas.openxmlformats.org/drawingml/2006/main">
            <a:off x="1238250" y="2286000"/>
            <a:ext cx="8572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FFFFFF"/>
                </a:solidFill>
                <a:latin typeface="Aptos"/>
                <a:ea typeface="Aptos"/>
                <a:cs typeface="Aptos"/>
              </a:defRPr>
            </a:pPr>
            <a:r>
              <a:rPr sz="1725" b="0">
                <a:solidFill>
                  <a:srgbClr val="FFFFFF"/>
                </a:solidFill>
                <a:latin typeface="Aptos"/>
                <a:ea typeface="Aptos"/>
                <a:cs typeface="Aptos"/>
              </a:rPr>
              <a:t>The pipeline is complete and reproducible.</a:t>
            </a:r>
          </a:p>
        </p:txBody>
      </p:sp>
      <p:sp>
        <p:nvSpPr>
          <p:cNvPr id="6" name="">
            <a:extLst xmlns:a="http://schemas.openxmlformats.org/drawingml/2006/main">
              <a:ext uri="{FF2B5EF4-FFF2-40B4-BE49-F238E27FC236}">
                <a16:creationId xmlns:a16="http://schemas.microsoft.com/office/drawing/2014/main" id="{3A413457-79F7-47AE-BF73-8E194F2CD49B}"/>
              </a:ext>
            </a:extLst>
          </p:cNvPr>
          <p:cNvSpPr>
            <a:spLocks xmlns:a="http://schemas.openxmlformats.org/drawingml/2006/main" noGrp="1"/>
          </p:cNvSpPr>
          <p:nvPr/>
        </p:nvSpPr>
        <p:spPr>
          <a:xfrm xmlns:a="http://schemas.openxmlformats.org/drawingml/2006/main">
            <a:off x="1047750" y="287655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713FD17-E53F-422B-9509-B13B53EAB043}"/>
              </a:ext>
            </a:extLst>
          </p:cNvPr>
          <p:cNvSpPr>
            <a:spLocks xmlns:a="http://schemas.openxmlformats.org/drawingml/2006/main" noGrp="1"/>
          </p:cNvSpPr>
          <p:nvPr/>
        </p:nvSpPr>
        <p:spPr>
          <a:xfrm xmlns:a="http://schemas.openxmlformats.org/drawingml/2006/main">
            <a:off x="1238250" y="2800350"/>
            <a:ext cx="8572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FFFFFF"/>
                </a:solidFill>
                <a:latin typeface="Aptos"/>
                <a:ea typeface="Aptos"/>
                <a:cs typeface="Aptos"/>
              </a:defRPr>
            </a:pPr>
            <a:r>
              <a:rPr sz="1725" b="0">
                <a:solidFill>
                  <a:srgbClr val="FFFFFF"/>
                </a:solidFill>
                <a:latin typeface="Aptos"/>
                <a:ea typeface="Aptos"/>
                <a:cs typeface="Aptos"/>
              </a:rPr>
              <a:t>The system explanation is now simpler and easier to present.</a:t>
            </a:r>
          </a:p>
        </p:txBody>
      </p:sp>
      <p:sp>
        <p:nvSpPr>
          <p:cNvPr id="8" name="">
            <a:extLst xmlns:a="http://schemas.openxmlformats.org/drawingml/2006/main">
              <a:ext uri="{FF2B5EF4-FFF2-40B4-BE49-F238E27FC236}">
                <a16:creationId xmlns:a16="http://schemas.microsoft.com/office/drawing/2014/main" id="{0B66E0A6-2A7F-4D0E-8F74-653C4D97BF6F}"/>
              </a:ext>
            </a:extLst>
          </p:cNvPr>
          <p:cNvSpPr>
            <a:spLocks xmlns:a="http://schemas.openxmlformats.org/drawingml/2006/main" noGrp="1"/>
          </p:cNvSpPr>
          <p:nvPr/>
        </p:nvSpPr>
        <p:spPr>
          <a:xfrm xmlns:a="http://schemas.openxmlformats.org/drawingml/2006/main">
            <a:off x="1047750" y="339090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5201C1F-2B6C-41B4-8A4A-52824BC4D28A}"/>
              </a:ext>
            </a:extLst>
          </p:cNvPr>
          <p:cNvSpPr>
            <a:spLocks xmlns:a="http://schemas.openxmlformats.org/drawingml/2006/main" noGrp="1"/>
          </p:cNvSpPr>
          <p:nvPr/>
        </p:nvSpPr>
        <p:spPr>
          <a:xfrm xmlns:a="http://schemas.openxmlformats.org/drawingml/2006/main">
            <a:off x="1238250" y="3314700"/>
            <a:ext cx="8572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FFFFFF"/>
                </a:solidFill>
                <a:latin typeface="Aptos"/>
                <a:ea typeface="Aptos"/>
                <a:cs typeface="Aptos"/>
              </a:defRPr>
            </a:pPr>
            <a:r>
              <a:rPr sz="1725" b="0">
                <a:solidFill>
                  <a:srgbClr val="FFFFFF"/>
                </a:solidFill>
                <a:latin typeface="Aptos"/>
                <a:ea typeface="Aptos"/>
                <a:cs typeface="Aptos"/>
              </a:rPr>
              <a:t>The main blocker is live API validation.</a:t>
            </a:r>
          </a:p>
        </p:txBody>
      </p:sp>
      <p:sp>
        <p:nvSpPr>
          <p:cNvPr id="10" name="">
            <a:extLst xmlns:a="http://schemas.openxmlformats.org/drawingml/2006/main">
              <a:ext uri="{FF2B5EF4-FFF2-40B4-BE49-F238E27FC236}">
                <a16:creationId xmlns:a16="http://schemas.microsoft.com/office/drawing/2014/main" id="{BB77973E-5E4E-4B59-86CB-98757DE8E005}"/>
              </a:ext>
            </a:extLst>
          </p:cNvPr>
          <p:cNvSpPr>
            <a:spLocks xmlns:a="http://schemas.openxmlformats.org/drawingml/2006/main" noGrp="1"/>
          </p:cNvSpPr>
          <p:nvPr/>
        </p:nvSpPr>
        <p:spPr>
          <a:xfrm xmlns:a="http://schemas.openxmlformats.org/drawingml/2006/main">
            <a:off x="1047750" y="3905250"/>
            <a:ext cx="66675" cy="66675"/>
          </a:xfrm>
          <a:prstGeom xmlns:a="http://schemas.openxmlformats.org/drawingml/2006/main" prst="rect">
            <a:avLst/>
          </a:prstGeom>
          <a:solidFill xmlns:a="http://schemas.openxmlformats.org/drawingml/2006/main">
            <a:srgbClr val="0B8F8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38352AF-F2ED-441D-AE54-B524FCC25427}"/>
              </a:ext>
            </a:extLst>
          </p:cNvPr>
          <p:cNvSpPr>
            <a:spLocks xmlns:a="http://schemas.openxmlformats.org/drawingml/2006/main" noGrp="1"/>
          </p:cNvSpPr>
          <p:nvPr/>
        </p:nvSpPr>
        <p:spPr>
          <a:xfrm xmlns:a="http://schemas.openxmlformats.org/drawingml/2006/main">
            <a:off x="1238250" y="3829050"/>
            <a:ext cx="8572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FFFFFF"/>
                </a:solidFill>
                <a:latin typeface="Aptos"/>
                <a:ea typeface="Aptos"/>
                <a:cs typeface="Aptos"/>
              </a:defRPr>
            </a:pPr>
            <a:r>
              <a:rPr sz="1725" b="0">
                <a:solidFill>
                  <a:srgbClr val="FFFFFF"/>
                </a:solidFill>
                <a:latin typeface="Aptos"/>
                <a:ea typeface="Aptos"/>
                <a:cs typeface="Aptos"/>
              </a:rPr>
              <a:t>Feedback needed: paper framing, live-eval priority, and clarity.</a:t>
            </a:r>
          </a:p>
        </p:txBody>
      </p:sp>
      <p:sp>
        <p:nvSpPr>
          <p:cNvPr id="12" name="">
            <a:extLst xmlns:a="http://schemas.openxmlformats.org/drawingml/2006/main">
              <a:ext uri="{FF2B5EF4-FFF2-40B4-BE49-F238E27FC236}">
                <a16:creationId xmlns:a16="http://schemas.microsoft.com/office/drawing/2014/main" id="{5DCB7CE0-ECE7-4958-961A-3005223EC2E9}"/>
              </a:ext>
            </a:extLst>
          </p:cNvPr>
          <p:cNvSpPr>
            <a:spLocks xmlns:a="http://schemas.openxmlformats.org/drawingml/2006/main" noGrp="1"/>
          </p:cNvSpPr>
          <p:nvPr/>
        </p:nvSpPr>
        <p:spPr>
          <a:xfrm xmlns:a="http://schemas.openxmlformats.org/drawingml/2006/main">
            <a:off x="1047750" y="5981700"/>
            <a:ext cx="7429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CFE8F3"/>
                </a:solidFill>
                <a:latin typeface="Aptos"/>
                <a:ea typeface="Aptos"/>
                <a:cs typeface="Aptos"/>
              </a:defRPr>
            </a:pPr>
            <a:r>
              <a:rPr sz="1650" b="1">
                <a:solidFill>
                  <a:srgbClr val="CFE8F3"/>
                </a:solidFill>
                <a:latin typeface="Aptos"/>
                <a:ea typeface="Aptos"/>
                <a:cs typeface="Aptos"/>
              </a:rPr>
              <a:t>SQL_FIRST_API_VERIFY remains the default.</a:t>
            </a:r>
          </a:p>
        </p:txBody>
      </p:sp>
    </p:spTree>
    <p:extLst>
      <p:ext uri="{BB962C8B-B14F-4D97-AF65-F5344CB8AC3E}">
        <p14:creationId xmlns:p14="http://schemas.microsoft.com/office/powerpoint/2010/main" val="12414013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2026-05-02T18:14:24.9010000Z</dcterms:created>
  <dcterms:modified xsi:type="dcterms:W3CDTF">2026-05-02T18:14:24.9020000Z</dcterms:modified>
</coreProperties>
</file>